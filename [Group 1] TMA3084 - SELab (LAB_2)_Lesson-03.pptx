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6" r:id="rId22"/>
    <p:sldId id="289" r:id="rId23"/>
    <p:sldId id="287" r:id="rId24"/>
    <p:sldId id="288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6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064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24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749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344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980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youtu.be/o8AF0GSfTj4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https://docs.flutter.dev/install/manua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E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mond"/>
          <p:cNvSpPr/>
          <p:nvPr/>
        </p:nvSpPr>
        <p:spPr>
          <a:xfrm rot="2700000">
            <a:off x="4937760" y="1097280"/>
            <a:ext cx="2926080" cy="2926080"/>
          </a:xfrm>
          <a:prstGeom prst="roundRect">
            <a:avLst>
              <a:gd name="adj" fmla="val 14063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Diamond outline"/>
          <p:cNvSpPr/>
          <p:nvPr/>
        </p:nvSpPr>
        <p:spPr>
          <a:xfrm rot="2700000">
            <a:off x="5212080" y="1371600"/>
            <a:ext cx="2377440" cy="2377440"/>
          </a:xfrm>
          <a:prstGeom prst="roundRect">
            <a:avLst>
              <a:gd name="adj" fmla="val 13462"/>
            </a:avLst>
          </a:prstGeom>
          <a:solidFill>
            <a:srgbClr val="2C2E48"/>
          </a:solidFill>
          <a:ln w="15875">
            <a:solidFill>
              <a:srgbClr val="5BD6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29768"/>
            <a:ext cx="1362456" cy="2990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325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TMA3084  SOFTWARE ENGINEERING LABORATORY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0574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Functions &amp; Object-Oriented Programming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5661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Demo: </a:t>
            </a:r>
            <a:r>
              <a:rPr lang="en-US" sz="14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MD. Aminul Islam Rakib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C9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</a:t>
            </a:r>
            <a:r>
              <a:rPr lang="en-US" sz="1400" dirty="0">
                <a:solidFill>
                  <a:srgbClr val="C9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Madam Nurfauza Binti Jali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95221" y="4626246"/>
            <a:ext cx="2573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Created By: </a:t>
            </a:r>
            <a:r>
              <a:rPr lang="en-US" sz="12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</a:t>
            </a: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2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Raynold</a:t>
            </a: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Anak</a:t>
            </a: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Kabai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1508760"/>
            <a:ext cx="347472" cy="347472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41732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141732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return types, void, expression body, scope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05740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148840"/>
            <a:ext cx="347472" cy="347472"/>
          </a:xfrm>
          <a:prstGeom prst="ellipse">
            <a:avLst/>
          </a:prstGeom>
          <a:solidFill>
            <a:srgbClr val="2C2E48"/>
          </a:solidFill>
          <a:ln w="12700">
            <a:solidFill>
              <a:srgbClr val="2C2E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05740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 Programming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20574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Object, class, methods, getters and setters, inheritance, abstract class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69748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" y="2788920"/>
            <a:ext cx="347472" cy="347472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269748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Project Structure and Libraries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526280" y="269748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folders, pubspec.yaml, importing libraries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33756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4360" y="3429000"/>
            <a:ext cx="347472" cy="347472"/>
          </a:xfrm>
          <a:prstGeom prst="ellipse">
            <a:avLst/>
          </a:prstGeom>
          <a:solidFill>
            <a:srgbClr val="2C2E48"/>
          </a:solidFill>
          <a:ln w="12700">
            <a:solidFill>
              <a:srgbClr val="2C2E4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436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333756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Safety in Dart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526280" y="333756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Nullable types, ?, !, late, required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397764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94360" y="4069080"/>
            <a:ext cx="347472" cy="347472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436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97280" y="397764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Exercise 2.1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526280" y="397764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Small Overtime Payment Program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and Function Structure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2004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92608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is a named block of code that does one specific task or returns a value.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stops us repeating code, so programs stay organised and easy to change.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also ships built-in functions inside its libraries.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931920" y="1417320"/>
            <a:ext cx="4754880" cy="996696"/>
          </a:xfrm>
          <a:prstGeom prst="roundRect">
            <a:avLst>
              <a:gd name="adj" fmla="val 7339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69080" y="149047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anatomy.dart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069080" y="174650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31920" y="2642616"/>
            <a:ext cx="2331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041648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041648" y="29900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type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55080" y="2642616"/>
            <a:ext cx="2331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464808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64808" y="29900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name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931920" y="3419856"/>
            <a:ext cx="2331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041648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a, int b)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041648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55080" y="3419856"/>
            <a:ext cx="2331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464808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 }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64808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body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Function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a function is not enough. It only runs when main() calls it.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783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but never called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1762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432304"/>
            <a:ext cx="370332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printSomething()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Function!'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'Welcome to Lab 3!'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93192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42428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(nothing is printed)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1783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inside main()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09160" y="2103120"/>
            <a:ext cx="3977640" cy="1865376"/>
          </a:xfrm>
          <a:prstGeom prst="roundRect">
            <a:avLst>
              <a:gd name="adj" fmla="val 3922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21762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432304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printSomething()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Function!'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'Welcome to Lab 3!'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printSomething();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4105656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46320" y="41788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44165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Function!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to Lab 3!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Return String Data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7432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 type String is written before the function name.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sends the text back to the place that called the function.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print() then displays the returned value.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42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Application Development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141732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4904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746504"/>
            <a:ext cx="47091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courseName()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'Flutter Application Development'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print(courseName());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Return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7432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x and y receive the values 3 and 5.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z hands the sum back to the caller.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return, the result would never reach main().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42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Result = 8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1417320"/>
            <a:ext cx="4983480" cy="2039112"/>
          </a:xfrm>
          <a:prstGeom prst="roundRect">
            <a:avLst>
              <a:gd name="adj" fmla="val 3587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4904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746504"/>
            <a:ext cx="470916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sumCalculator(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x,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 = x + 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 = sumCalculator(3, 5);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'Sum Result = $result'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Return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</a:t>
            </a: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bool function returns only true or false.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checks such as age or login rules.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if / else decides which value is returned.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1417320"/>
            <a:ext cx="4983480" cy="2560320"/>
          </a:xfrm>
          <a:prstGeom prst="roundRect">
            <a:avLst>
              <a:gd name="adj" fmla="val 2857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4904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746504"/>
            <a:ext cx="47091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isAdult(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(age &gt;= 18)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print(isAdult(20));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print(isAdult(15));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Void</a:t>
            </a: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void function does not return a value.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performs a task, such as printing or changing data through its parameters.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return type Dart assumes dynamic, so write void when nothing is returned.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Aina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Raynold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1417320"/>
            <a:ext cx="4983480" cy="1865376"/>
          </a:xfrm>
          <a:prstGeom prst="roundRect">
            <a:avLst>
              <a:gd name="adj" fmla="val 3922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4904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746504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greet(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'Hello, $name'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greet(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'Aina'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greet(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'Raynold'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Expression</a:t>
            </a:r>
            <a:endParaRPr lang="en-US" sz="2600" dirty="0">
              <a:solidFill>
                <a:srgbClr val="00B050"/>
              </a:solidFill>
            </a:endParaRPr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=&gt; (arrow) operator to return a value in a short way.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when the body is a single expression.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the same as writing a full body with return.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Dart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1417320"/>
            <a:ext cx="4983480" cy="1865376"/>
          </a:xfrm>
          <a:prstGeom prst="roundRect">
            <a:avLst>
              <a:gd name="adj" fmla="val 3922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4904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746504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multiply(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=&gt; a * b;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hello() =&gt;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Dart'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print(multiply(4, 5));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print(hello());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FUNCTIONS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and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Scope</a:t>
            </a:r>
            <a:endParaRPr lang="en-US" sz="2600" dirty="0">
              <a:solidFill>
                <a:srgbClr val="00B050"/>
              </a:solidFill>
            </a:endParaRPr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 variable is declared decides where it can be used.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variable is visible to every function.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variable only lives inside its own function.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UNIMAS - FCSIT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UNIMAS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1417320"/>
            <a:ext cx="4983480" cy="2560320"/>
          </a:xfrm>
          <a:prstGeom prst="roundRect">
            <a:avLst>
              <a:gd name="adj" fmla="val 2857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4904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746504"/>
            <a:ext cx="47091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company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'UNIMAS'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global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showInfo()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faculty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'FCSIT'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'$company - $faculty'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showInfo();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print(company);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print(faculty);  // error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1200" b="1" kern="0" spc="200" dirty="0" smtClean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Oriented Programming (OOP)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and Class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202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blueprint or template. It defines the properties (attributes) and behaviours (methods) of its objects.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09160" y="14173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89204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9202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instance of a class. It holds real values for the attributes and can perform the behaviours the class defines.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246120"/>
            <a:ext cx="2377440" cy="1234440"/>
          </a:xfrm>
          <a:prstGeom prst="roundRect">
            <a:avLst>
              <a:gd name="adj" fmla="val 7407"/>
            </a:avLst>
          </a:prstGeom>
          <a:solidFill>
            <a:srgbClr val="2C2E48"/>
          </a:solidFill>
          <a:ln w="12700">
            <a:solidFill>
              <a:srgbClr val="2C2E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2918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model, color, maxSpeed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288036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926080" y="3886200"/>
            <a:ext cx="822960" cy="274320"/>
          </a:xfrm>
          <a:prstGeom prst="rightArrow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31920" y="324612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23360" y="329184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perodua1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Bezza, Silver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55080" y="324612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46520" y="329184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perodua2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Axia, White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Object Oriented Programming (OOP)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2600" dirty="0">
              <a:solidFill>
                <a:srgbClr val="00B050"/>
              </a:solidFill>
            </a:endParaRPr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017520" cy="31546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74320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declare a class with the class keyword. Here it is called Car.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add properties inside the class. Each property is a variable that belongs to Car.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means the value is assigned after the object is created.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703320" y="1417320"/>
            <a:ext cx="4983480" cy="2386584"/>
          </a:xfrm>
          <a:prstGeom prst="roundRect">
            <a:avLst>
              <a:gd name="adj" fmla="val 3065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40480" y="14904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car.dart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1746504"/>
            <a:ext cx="470916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maxSpeed;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numOfSeats;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Object Oriented Programming (OOP)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an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2600" dirty="0">
              <a:solidFill>
                <a:srgbClr val="00B050"/>
              </a:solidFill>
            </a:endParaRPr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4688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create an instance of the class. Car is the blueprint, perodua is the object.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notation sets and reads each property.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3 lets you leave out the new keyword.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42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model name is Bezza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1417320"/>
            <a:ext cx="5257800" cy="3081528"/>
          </a:xfrm>
          <a:prstGeom prst="roundRect">
            <a:avLst>
              <a:gd name="adj" fmla="val 2374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149047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1746504"/>
            <a:ext cx="498348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maxSpeed;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numOfSeats;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perodua =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perodua.model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'Bezza'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perodua.color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'Silver'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perodua.maxSpeed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'120km/h'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perodua.numOfSeats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 model name is ${perodua.model}'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Object Oriented Programming (OOP)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Classes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4688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method is a function that lives inside a class.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describes what the object can do.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it with dot notation: object.method().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Bezza, max 120 km/h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Bezza is driving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1417320"/>
            <a:ext cx="5257800" cy="3255264"/>
          </a:xfrm>
          <a:prstGeom prst="roundRect">
            <a:avLst>
              <a:gd name="adj" fmla="val 2247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149047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1746504"/>
            <a:ext cx="49834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maxSpeed;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showInfo()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'$model, max $maxSpeed km/h'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drive() =&gt;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'$model is driving'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myCar =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myCar.model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'Bezza'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myCar.maxSpeed = 120;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myCar.showInfo();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myCar.drive();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Object Oriented Programming (OOP)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Classes: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Constructors</a:t>
            </a:r>
            <a:endParaRPr lang="en-US" sz="2600" dirty="0">
              <a:solidFill>
                <a:srgbClr val="00B050"/>
              </a:solidFill>
            </a:endParaRPr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6517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constructor runs automatically when an object is created.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the same name as the class and no return type, not even void.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sets the starting state of the object, so no more property-by-property assignment.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42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name Axia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11880" y="1417320"/>
            <a:ext cx="5074920" cy="2560320"/>
          </a:xfrm>
          <a:prstGeom prst="roundRect">
            <a:avLst>
              <a:gd name="adj" fmla="val 2857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149047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1746504"/>
            <a:ext cx="48006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constructor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.model,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.color);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perodua =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'Axia'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'Silver'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'Model name ${perodua.model}'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Object Oriented Programming (OOP)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Classes: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Constructor</a:t>
            </a:r>
            <a:endParaRPr lang="en-US" sz="2600" dirty="0">
              <a:solidFill>
                <a:srgbClr val="00B050"/>
              </a:solidFill>
            </a:endParaRPr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6517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constructor gives an object a ready-made set of values.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ClassName.name() and fill in the properties after the colon.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object with Car.axia().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42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11880" y="1417320"/>
            <a:ext cx="5074920" cy="2734056"/>
          </a:xfrm>
          <a:prstGeom prst="roundRect">
            <a:avLst>
              <a:gd name="adj" fmla="val 2676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149047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1746504"/>
            <a:ext cx="4800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.axia()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model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'Axia'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'White'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perodua =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.axia();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print(perodua.model);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Object Oriented Programming (OOP)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Getters</a:t>
            </a: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Setters</a:t>
            </a:r>
            <a:endParaRPr lang="en-US" sz="2600" dirty="0">
              <a:solidFill>
                <a:srgbClr val="00B050"/>
              </a:solidFill>
            </a:endParaRPr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9260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6517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setter (set) assigns a value to a private variable.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getter (get) reads the value back.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 starting with _ is private to its library.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42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Bezza 2025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11880" y="1417320"/>
            <a:ext cx="5074920" cy="2734056"/>
          </a:xfrm>
          <a:prstGeom prst="roundRect">
            <a:avLst>
              <a:gd name="adj" fmla="val 2676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149047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1746504"/>
            <a:ext cx="4800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_model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modelName(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name) =&gt; _model = name;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modelName =&gt; _model;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perodua =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perodua.modelName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'Bezza 2025'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print(perodua.modelName);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Object Oriented Programming (OOP)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</a:t>
            </a:r>
            <a:endParaRPr lang="en-US" sz="2600" dirty="0">
              <a:solidFill>
                <a:srgbClr val="00B050"/>
              </a:solidFill>
            </a:endParaRPr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65176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 lets a new class reuse an existing class (the parent or super class).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extends keyword.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gets all properties of Student without rewriting them.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am from Teacher class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Aina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11880" y="1417320"/>
            <a:ext cx="5074920" cy="3429000"/>
          </a:xfrm>
          <a:prstGeom prst="roundRect">
            <a:avLst>
              <a:gd name="adj" fmla="val 2133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149047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1746504"/>
            <a:ext cx="480060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message()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 am from Teacher class'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trainer =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trainer.name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'Aina'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trainer.message();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print(trainer.name);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Object Oriented Programming (OOP)</a:t>
            </a:r>
            <a:endParaRPr lang="en-US" sz="1200" b="1" kern="0" spc="200" dirty="0">
              <a:solidFill>
                <a:srgbClr val="2FA3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2004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92608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400" dirty="0"/>
              <a:t>An abstract class is a class that acts like a </a:t>
            </a:r>
            <a:r>
              <a:rPr lang="en-US" sz="1400" b="1" dirty="0"/>
              <a:t>template</a:t>
            </a:r>
            <a:r>
              <a:rPr lang="en-US" sz="1400" dirty="0"/>
              <a:t> or </a:t>
            </a:r>
            <a:r>
              <a:rPr lang="en-US" sz="1400" b="1" dirty="0"/>
              <a:t>blueprint for other classes</a:t>
            </a:r>
            <a:r>
              <a:rPr lang="en-US" sz="1400" b="1" dirty="0" smtClean="0"/>
              <a:t>.</a:t>
            </a:r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400" dirty="0"/>
              <a:t>An abstract class tells other classes </a:t>
            </a:r>
            <a:r>
              <a:rPr lang="en-US" sz="1400" b="1" dirty="0"/>
              <a:t>what they must do</a:t>
            </a:r>
            <a:r>
              <a:rPr lang="en-US" sz="1400" dirty="0"/>
              <a:t>, but it does not always explain </a:t>
            </a:r>
            <a:r>
              <a:rPr lang="en-US" sz="1400" b="1" dirty="0"/>
              <a:t>how to do it</a:t>
            </a:r>
            <a:r>
              <a:rPr lang="en-US" sz="1400" dirty="0"/>
              <a:t>.</a:t>
            </a:r>
            <a:endParaRPr lang="en-US" sz="1300" b="1" dirty="0" smtClean="0">
              <a:solidFill>
                <a:srgbClr val="2B2D3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with at least </a:t>
            </a:r>
            <a:r>
              <a:rPr lang="en-US" sz="13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method </a:t>
            </a: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has no body is abstract.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must carry the </a:t>
            </a:r>
            <a:r>
              <a:rPr lang="en-US" sz="13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keyword.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be instantiated. Its only purpose is to be inherited.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86200" y="1417320"/>
            <a:ext cx="4800600" cy="2039112"/>
          </a:xfrm>
          <a:prstGeom prst="roundRect">
            <a:avLst>
              <a:gd name="adj" fmla="val 3587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23360" y="149047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1746504"/>
            <a:ext cx="45262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contactInfo(); 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body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=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abstract classes can't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 instantiated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Object Oriented Programming (OOP)</a:t>
            </a:r>
            <a:endParaRPr lang="en-US" sz="1200" b="1" kern="0" spc="200" dirty="0">
              <a:solidFill>
                <a:srgbClr val="2FA3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Class: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Class</a:t>
            </a:r>
            <a:endParaRPr lang="en-US" sz="2600" b="1" dirty="0">
              <a:solidFill>
                <a:srgbClr val="00B050"/>
              </a:solidFill>
            </a:endParaRPr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4688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 class must implement every abstract method, marked </a:t>
            </a:r>
            <a:r>
              <a:rPr lang="en-US" sz="13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@override</a:t>
            </a: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abstract class may also contain normal methods with a body.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objects from the child class, not the abstract parent.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599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Contact: it@unimas.my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Course: TMA3084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1417320"/>
            <a:ext cx="5257800" cy="3081528"/>
          </a:xfrm>
          <a:prstGeom prst="roundRect">
            <a:avLst>
              <a:gd name="adj" fmla="val 2374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149047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1746504"/>
            <a:ext cx="498348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contactInfo();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courseInfo() =&gt;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'Course: TMA3084'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ITStudent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contactInfo() =&gt;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'Contact: it@unimas.my'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=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ITStudent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s.contactInfo();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s.courseInfo();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smtClean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Setup</a:t>
            </a:r>
            <a:endParaRPr lang="en-US" sz="2600" dirty="0">
              <a:solidFill>
                <a:srgbClr val="00B050"/>
              </a:solidFill>
            </a:endParaRPr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19"/>
            <a:ext cx="4000500" cy="2410401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" y="1581912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1581912"/>
            <a:ext cx="3223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project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2075687"/>
            <a:ext cx="3671316" cy="161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VS Code press Ctrl + Shift + P, then choose </a:t>
            </a:r>
            <a:r>
              <a:rPr lang="en-US" sz="1300" dirty="0" smtClean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</a:t>
            </a:r>
            <a:r>
              <a:rPr lang="en-US" sz="1300" dirty="0" smtClean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Create </a:t>
            </a:r>
            <a:r>
              <a:rPr lang="en-US" sz="130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Project</a:t>
            </a: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>
              <a:buNone/>
            </a:pPr>
            <a:endParaRPr lang="en-US" sz="1300" dirty="0">
              <a:solidFill>
                <a:srgbClr val="2B2D3E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cs typeface="Arial" pitchFamily="34" charset="-120"/>
              </a:rPr>
              <a:t>Run the </a:t>
            </a:r>
            <a:r>
              <a:rPr lang="en-US" sz="1300" dirty="0" err="1" smtClean="0">
                <a:solidFill>
                  <a:srgbClr val="2B2D3E"/>
                </a:solidFill>
                <a:latin typeface="Arial" pitchFamily="34" charset="0"/>
                <a:cs typeface="Arial" pitchFamily="34" charset="-120"/>
              </a:rPr>
              <a:t>main.dart</a:t>
            </a: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cs typeface="Arial" pitchFamily="34" charset="-120"/>
              </a:rPr>
              <a:t> file and activate the </a:t>
            </a:r>
            <a:r>
              <a:rPr lang="en-US" sz="1300" dirty="0" err="1" smtClean="0">
                <a:solidFill>
                  <a:srgbClr val="2B2D3E"/>
                </a:solidFill>
                <a:latin typeface="Arial" pitchFamily="34" charset="0"/>
                <a:cs typeface="Arial" pitchFamily="34" charset="-120"/>
              </a:rPr>
              <a:t>webdev</a:t>
            </a:r>
            <a:endParaRPr lang="en-US" sz="1300" dirty="0" smtClean="0">
              <a:solidFill>
                <a:srgbClr val="2B2D3E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2B2D3E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cs typeface="Arial" pitchFamily="34" charset="-120"/>
              </a:rPr>
              <a:t>Automatically open web browser</a:t>
            </a:r>
          </a:p>
          <a:p>
            <a:pPr marL="0" indent="0">
              <a:buNone/>
            </a:pPr>
            <a:endParaRPr lang="en-US" sz="1300" dirty="0">
              <a:solidFill>
                <a:srgbClr val="2B2D3E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cs typeface="Arial" pitchFamily="34" charset="-120"/>
              </a:rPr>
              <a:t>Video Tutorial: </a:t>
            </a: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cs typeface="Arial" pitchFamily="34" charset="-120"/>
                <a:hlinkClick r:id="rId4"/>
              </a:rPr>
              <a:t>Click Here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408" y="1075432"/>
            <a:ext cx="4296887" cy="13768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9259" y="2599170"/>
            <a:ext cx="4313183" cy="11304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5947" y="3927409"/>
            <a:ext cx="6948802" cy="11212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02494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PROJECT STRUCTURE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r>
              <a:rPr lang="en-US" sz="2600" b="1" dirty="0" smtClean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Setup</a:t>
            </a:r>
            <a:endParaRPr lang="en-US" sz="2600" dirty="0">
              <a:solidFill>
                <a:srgbClr val="00B050"/>
              </a:solidFill>
            </a:endParaRPr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40005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" y="1581912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1581912"/>
            <a:ext cx="3223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project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2075688"/>
            <a:ext cx="3671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VS Code press Ctrl + Shift + P, then choose </a:t>
            </a:r>
            <a:r>
              <a:rPr lang="en-US" sz="130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Flutter: New Project</a:t>
            </a: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pic>
        <p:nvPicPr>
          <p:cNvPr id="29" name="Google Shape;49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409" y="1447303"/>
            <a:ext cx="4381181" cy="14330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409" y="3271213"/>
            <a:ext cx="4428979" cy="10952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6" name="Shape 9"/>
          <p:cNvSpPr/>
          <p:nvPr/>
        </p:nvSpPr>
        <p:spPr>
          <a:xfrm>
            <a:off x="457200" y="3218688"/>
            <a:ext cx="40005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10"/>
          <p:cNvSpPr/>
          <p:nvPr/>
        </p:nvSpPr>
        <p:spPr>
          <a:xfrm>
            <a:off x="621792" y="3383280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8" name="Text 11"/>
          <p:cNvSpPr txBox="1"/>
          <p:nvPr/>
        </p:nvSpPr>
        <p:spPr>
          <a:xfrm>
            <a:off x="621792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12"/>
          <p:cNvSpPr txBox="1"/>
          <p:nvPr/>
        </p:nvSpPr>
        <p:spPr>
          <a:xfrm>
            <a:off x="1115568" y="3383280"/>
            <a:ext cx="3223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error</a:t>
            </a:r>
            <a:endParaRPr lang="en-US" sz="1500" dirty="0"/>
          </a:p>
        </p:txBody>
      </p:sp>
      <p:sp>
        <p:nvSpPr>
          <p:cNvPr id="40" name="Text 13"/>
          <p:cNvSpPr txBox="1"/>
          <p:nvPr/>
        </p:nvSpPr>
        <p:spPr>
          <a:xfrm>
            <a:off x="621792" y="3877056"/>
            <a:ext cx="3671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first use VS Code reports that the Flutter SDK is missing. Git must be installed first</a:t>
            </a: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We already setup </a:t>
            </a:r>
            <a:r>
              <a:rPr lang="en-US" sz="1300" dirty="0" err="1" smtClean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our first lab class.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643813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PROJECT STRUCTURE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Setup</a:t>
            </a:r>
            <a:endParaRPr lang="en-US" sz="2600" dirty="0">
              <a:solidFill>
                <a:srgbClr val="00B050"/>
              </a:solidFill>
            </a:endParaRPr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57199" y="1286894"/>
            <a:ext cx="5319824" cy="27038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21792" y="1451486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621792" y="14514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1115568" y="1451486"/>
            <a:ext cx="3223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SDK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21792" y="1945261"/>
            <a:ext cx="5013464" cy="1974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cs typeface="Arial" pitchFamily="34" charset="-120"/>
              </a:rPr>
              <a:t>We have two Options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cs typeface="Arial" pitchFamily="34" charset="-120"/>
              </a:rPr>
              <a:t>Option</a:t>
            </a: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cs typeface="Arial" pitchFamily="34" charset="-120"/>
              </a:rPr>
              <a:t> one Direct click Download SDK</a:t>
            </a:r>
            <a:endParaRPr lang="en-US" sz="1300" dirty="0" smtClean="0">
              <a:solidFill>
                <a:srgbClr val="2B2D3E"/>
              </a:solidFill>
              <a:latin typeface="Arial" pitchFamily="34" charset="0"/>
              <a:cs typeface="Arial" pitchFamily="34" charset="-12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cs typeface="Arial" pitchFamily="34" charset="-120"/>
              </a:rPr>
              <a:t>We can manually download from official website and install it.</a:t>
            </a:r>
          </a:p>
          <a:p>
            <a:pPr marL="342900" indent="-342900">
              <a:buFont typeface="+mj-lt"/>
              <a:buAutoNum type="arabicPeriod"/>
            </a:pPr>
            <a:endParaRPr lang="en-US" sz="1300" dirty="0">
              <a:solidFill>
                <a:srgbClr val="2B2D3E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cs typeface="Arial" pitchFamily="34" charset="-120"/>
              </a:rPr>
              <a:t>Option 2: </a:t>
            </a: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en-US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1: </a:t>
            </a:r>
            <a:r>
              <a:rPr lang="en-US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time install the flutter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sdk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Click here </a:t>
            </a:r>
            <a:r>
              <a:rPr lang="en-US" sz="1300" dirty="0" smtClean="0">
                <a:latin typeface="Arial" panose="020B0604020202020204" pitchFamily="34" charset="0"/>
                <a:cs typeface="Arial" panose="020B0604020202020204" pitchFamily="34" charset="0"/>
              </a:rPr>
              <a:t>=&gt; </a:t>
            </a:r>
            <a:r>
              <a:rPr lang="en-US" sz="1300" dirty="0" smtClean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://docs.flutter.dev/install/manual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en-US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2: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Extract the zip file</a:t>
            </a:r>
          </a:p>
          <a:p>
            <a:endParaRPr lang="en-US" sz="13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432" y="1530157"/>
            <a:ext cx="2986207" cy="8302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30343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PROJECT STRUCTURE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</a:t>
            </a:r>
            <a:r>
              <a:rPr lang="en-US" sz="2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Setup</a:t>
            </a:r>
            <a:endParaRPr lang="en-US" sz="2600" dirty="0">
              <a:solidFill>
                <a:srgbClr val="00B050"/>
              </a:solidFill>
            </a:endParaRPr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937" y="1836516"/>
            <a:ext cx="3643730" cy="10130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Shape 19"/>
          <p:cNvSpPr/>
          <p:nvPr/>
        </p:nvSpPr>
        <p:spPr>
          <a:xfrm>
            <a:off x="457199" y="1530156"/>
            <a:ext cx="4596809" cy="2056559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20"/>
          <p:cNvSpPr/>
          <p:nvPr/>
        </p:nvSpPr>
        <p:spPr>
          <a:xfrm>
            <a:off x="621792" y="1694749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8" name="Text 21"/>
          <p:cNvSpPr txBox="1"/>
          <p:nvPr/>
        </p:nvSpPr>
        <p:spPr>
          <a:xfrm>
            <a:off x="621792" y="16947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22"/>
          <p:cNvSpPr txBox="1"/>
          <p:nvPr/>
        </p:nvSpPr>
        <p:spPr>
          <a:xfrm>
            <a:off x="1115568" y="1694749"/>
            <a:ext cx="3223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SDK</a:t>
            </a:r>
            <a:endParaRPr lang="en-US" sz="1500" dirty="0"/>
          </a:p>
        </p:txBody>
      </p:sp>
      <p:sp>
        <p:nvSpPr>
          <p:cNvPr id="20" name="Text 23"/>
          <p:cNvSpPr txBox="1"/>
          <p:nvPr/>
        </p:nvSpPr>
        <p:spPr>
          <a:xfrm>
            <a:off x="621792" y="2188525"/>
            <a:ext cx="4262096" cy="133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VS Code click Locate SDK and select the flutter\bin folder, then pick your folder and project name</a:t>
            </a:r>
            <a:r>
              <a:rPr lang="en-US" sz="1300" dirty="0" smtClean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>
              <a:buNone/>
            </a:pPr>
            <a:endParaRPr lang="en-US" sz="1300" dirty="0">
              <a:solidFill>
                <a:srgbClr val="2B2D3E"/>
              </a:solidFill>
              <a:latin typeface="Arial" pitchFamily="34" charset="0"/>
              <a:cs typeface="Arial" pitchFamily="34" charset="-120"/>
            </a:endParaRPr>
          </a:p>
          <a:p>
            <a:pPr lvl="0"/>
            <a:r>
              <a:rPr lang="en-US" sz="1400" dirty="0">
                <a:ea typeface="Arial"/>
                <a:cs typeface="Arial"/>
                <a:sym typeface="Arial"/>
              </a:rPr>
              <a:t>select this path: </a:t>
            </a:r>
            <a:r>
              <a:rPr lang="en-US" sz="1400" b="1" i="1" dirty="0" err="1">
                <a:ea typeface="Arial"/>
                <a:cs typeface="Arial"/>
                <a:sym typeface="Arial"/>
              </a:rPr>
              <a:t>local_computer_disk</a:t>
            </a:r>
            <a:r>
              <a:rPr lang="en-US" sz="1400" b="1" i="1" dirty="0">
                <a:ea typeface="Arial"/>
                <a:cs typeface="Arial"/>
                <a:sym typeface="Arial"/>
              </a:rPr>
              <a:t>: </a:t>
            </a:r>
            <a:r>
              <a:rPr lang="en-US" sz="1400" b="1" i="1" dirty="0" err="1" smtClean="0">
                <a:ea typeface="Arial"/>
                <a:cs typeface="Arial"/>
                <a:sym typeface="Arial"/>
              </a:rPr>
              <a:t>flutter_windows_flutter</a:t>
            </a:r>
            <a:r>
              <a:rPr lang="en-US" sz="1400" b="1" i="1" dirty="0" smtClean="0">
                <a:ea typeface="Arial"/>
                <a:cs typeface="Arial"/>
                <a:sym typeface="Arial"/>
              </a:rPr>
              <a:t>-version-stable\flutters\bin</a:t>
            </a:r>
            <a:endParaRPr lang="en-US" sz="1400" b="1" i="1" dirty="0">
              <a:ea typeface="Arial"/>
              <a:cs typeface="Arial"/>
              <a:sym typeface="Arial"/>
            </a:endParaRPr>
          </a:p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54489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PROJECT STRUCTURE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Project Structure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554480"/>
            <a:ext cx="2590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" y="1719072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1719072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2212848"/>
            <a:ext cx="22616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your Dart library files and main code. Small projects may keep files at the root instead.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76600" y="1554480"/>
            <a:ext cx="2590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41192" y="1719072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4119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934968" y="1719072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test/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441192" y="2212848"/>
            <a:ext cx="22616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testing files, where you write and organise unit tests.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96000" y="1554480"/>
            <a:ext cx="2590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60592" y="1719072"/>
            <a:ext cx="384048" cy="384048"/>
          </a:xfrm>
          <a:prstGeom prst="ellipse">
            <a:avLst/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6059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754368" y="1719072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pubspec.yaml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260592" y="2212848"/>
            <a:ext cx="22616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configuration file: dependencies, environment settings, project name and version.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LIBRARIES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Libraries and pubspec.yaml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9260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external libraries under dependencies in pubspec.yaml.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r>
              <a:rPr lang="en-US" sz="1300" b="1" i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pub get </a:t>
            </a: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terminal to download them.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libraries use dart:, downloaded packages use package:.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65760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7307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968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31920" y="1417320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69080" y="149047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pubspec.yaml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069080" y="1746504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flutter: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sdk: flutter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 ^1.2.0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31920" y="2724912"/>
            <a:ext cx="4754880" cy="1517904"/>
          </a:xfrm>
          <a:prstGeom prst="roundRect">
            <a:avLst>
              <a:gd name="adj" fmla="val 4819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69080" y="279806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3054096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'dart:math'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'package:http/http.dart'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print(sqrt(16));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NULL SAFETY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Safety: Nullable Types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6517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default a Dart variable can never hold null.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? after the type to allow null.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?. and ?? to handle null safely, and ! only when you are sure the value exists.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56616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6393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87705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nickname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11880" y="1417320"/>
            <a:ext cx="5074920" cy="2212848"/>
          </a:xfrm>
          <a:prstGeom prst="roundRect">
            <a:avLst>
              <a:gd name="adj" fmla="val 3306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149047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1746504"/>
            <a:ext cx="48006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'Aina'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nickname; 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nullable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print(nickname?.length);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print(nickname ??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 nickname'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nickname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'Ain'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print(nickname!.length);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NULL SAFETY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Safety: late and required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4688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promises Dart the variable is assigned before it is read.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forces the caller to supply a named parameter.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avoid null values without making the type nullable.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005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42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Aina abc123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1417320"/>
            <a:ext cx="5257800" cy="3081528"/>
          </a:xfrm>
          <a:prstGeom prst="roundRect">
            <a:avLst>
              <a:gd name="adj" fmla="val 2374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149047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1746504"/>
            <a:ext cx="498348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token;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salary;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.salary});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 =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'abc123'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=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(name: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'Aina'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salary: 3000);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'${e.name} $token'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LAB EXERCISE 2.1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 Payment: Setup and Library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2004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92608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open VS Code, choose File &gt; Open Folder, create a folder named Lab3 and open it.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add a new file myLib.dart and define the Employee class.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86200" y="1417320"/>
            <a:ext cx="4800600" cy="2039112"/>
          </a:xfrm>
          <a:prstGeom prst="roundRect">
            <a:avLst>
              <a:gd name="adj" fmla="val 3587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23360" y="149047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myLib.dart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1746504"/>
            <a:ext cx="45262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jobTitle;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location;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salary;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overtimeHr;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.jobTitle,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.location,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.salary,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.overtimeHr);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LAB EXERCISE 2.1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 Payment: main.dart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2926080" cy="31546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65176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add main.dart in the Lab3 folder.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3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the library, create the employee, work out the overtime rate and print the total.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11880" y="1417320"/>
            <a:ext cx="5074920" cy="3081528"/>
          </a:xfrm>
          <a:prstGeom prst="roundRect">
            <a:avLst>
              <a:gd name="adj" fmla="val 2374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49040" y="149047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1746504"/>
            <a:ext cx="480060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'myLib.dart'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extraPayPerHr;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william = emp.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'Manager'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'Madrid'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5000, 7);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(william.salary &gt;= 4000)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extraPayPerHr = 10;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extraPayPerHr = 20;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= william.salary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(william.overtimeHr * extraPayPerHr);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r>
              <a:rPr lang="en-US" sz="1100" dirty="0">
                <a:solidFill>
                  <a:srgbClr val="F2D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'Total Salary = \$$total USD'</a:t>
            </a: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 rot="2700000">
            <a:off x="457200" y="384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320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LAB EXERCISE 2.1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 Payment: Run the Program</a:t>
            </a:r>
            <a:endParaRPr lang="en-US" sz="2600" dirty="0"/>
          </a:p>
        </p:txBody>
      </p:sp>
      <p:sp>
        <p:nvSpPr>
          <p:cNvPr id="5" name="Logo chip"/>
          <p:cNvSpPr/>
          <p:nvPr/>
        </p:nvSpPr>
        <p:spPr>
          <a:xfrm>
            <a:off x="7178040" y="320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</p:spPr>
      </p:sp>
      <p:pic>
        <p:nvPicPr>
          <p:cNvPr id="6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84048"/>
            <a:ext cx="1362456" cy="2990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2004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6350">
            <a:solidFill>
              <a:srgbClr val="E1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292608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4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in VS Code choose Terminal &gt; New Terminal.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4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the command and press Enter.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◆"/>
            </a:pPr>
            <a:r>
              <a:rPr lang="en-US" sz="1400" dirty="0">
                <a:solidFill>
                  <a:srgbClr val="2B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5000 is at least 4000, so extra pay is 10 per hour: 5000 + (7 x 10).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931920" y="1417320"/>
            <a:ext cx="4754880" cy="649224"/>
          </a:xfrm>
          <a:prstGeom prst="roundRect">
            <a:avLst>
              <a:gd name="adj" fmla="val 11268"/>
            </a:avLst>
          </a:prstGeom>
          <a:solidFill>
            <a:srgbClr val="1B1D2E"/>
          </a:solidFill>
          <a:ln w="12700">
            <a:solidFill>
              <a:srgbClr val="1B1D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69080" y="149047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069080" y="1746504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main.dart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31920" y="2249424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123D37"/>
          </a:solidFill>
          <a:ln w="9525">
            <a:solidFill>
              <a:srgbClr val="2FA3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69080" y="23225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069080" y="2560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Salary = $5070.0 USD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0060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00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C2E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0" y="960120"/>
            <a:ext cx="2743200" cy="2743200"/>
          </a:xfrm>
          <a:prstGeom prst="roundRect">
            <a:avLst>
              <a:gd name="adj" fmla="val 14000"/>
            </a:avLst>
          </a:prstGeom>
          <a:solidFill>
            <a:srgbClr val="2FA37F"/>
          </a:solidFill>
          <a:ln w="12700">
            <a:solidFill>
              <a:srgbClr val="2FA3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126480" y="16459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Dart Functions &amp; OOP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C2E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29768"/>
            <a:ext cx="1362456" cy="2990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Raynold Anak Kabai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9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Demo, TMA3084 Software Engineering Laboratory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2677</Words>
  <Application>Microsoft Office PowerPoint</Application>
  <PresentationFormat>On-screen Show (16:9)</PresentationFormat>
  <Paragraphs>606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3: Dart Functions &amp; OOP</dc:title>
  <dc:subject>PptxGenJS Presentation</dc:subject>
  <dc:creator>Mr. Raynold Anak Kabai</dc:creator>
  <cp:lastModifiedBy>Aminul Islam Rakib</cp:lastModifiedBy>
  <cp:revision>27</cp:revision>
  <dcterms:created xsi:type="dcterms:W3CDTF">2026-10-08T14:21:05Z</dcterms:created>
  <dcterms:modified xsi:type="dcterms:W3CDTF">2026-10-18T21:45:08Z</dcterms:modified>
</cp:coreProperties>
</file>