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mond"/>
          <p:cNvSpPr/>
          <p:nvPr/>
        </p:nvSpPr>
        <p:spPr>
          <a:xfrm rot="2700000">
            <a:off x="4937760" y="1097280"/>
            <a:ext cx="2926080" cy="2926080"/>
          </a:xfrm>
          <a:prstGeom prst="roundRect">
            <a:avLst>
              <a:gd name="adj" fmla="val 14063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Diamond outline"/>
          <p:cNvSpPr/>
          <p:nvPr/>
        </p:nvSpPr>
        <p:spPr>
          <a:xfrm rot="2700000">
            <a:off x="5212080" y="1371600"/>
            <a:ext cx="2377440" cy="2377440"/>
          </a:xfrm>
          <a:prstGeom prst="roundRect">
            <a:avLst>
              <a:gd name="adj" fmla="val 13462"/>
            </a:avLst>
          </a:prstGeom>
          <a:solidFill>
            <a:srgbClr val="2C2E48"/>
          </a:solidFill>
          <a:ln w="15875">
            <a:solidFill>
              <a:srgbClr val="5BD6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29768"/>
            <a:ext cx="1362456" cy="2990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325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TMA3084  SOFTWARE ENGINEERING LABORATORY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57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Functions &amp; Object-Oriented Programming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66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Demo: Mr. Raynold Anak Kabai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Lecturer: Madam Nurfauza Binti Jali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508760"/>
            <a:ext cx="347472" cy="347472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417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14173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return types, void, expression body, scope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5740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148840"/>
            <a:ext cx="347472" cy="347472"/>
          </a:xfrm>
          <a:prstGeom prst="ellipse">
            <a:avLst/>
          </a:prstGeom>
          <a:solidFill>
            <a:srgbClr val="2C2E48"/>
          </a:solidFill>
          <a:ln w="12700">
            <a:solidFill>
              <a:srgbClr val="2C2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0574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Programming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0574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Object, class, methods, getters and setters, inheritance, abstract class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69748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2788920"/>
            <a:ext cx="347472" cy="347472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269748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Project Structure and Libraries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26974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folders, pubspec.yaml, importing libraries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33756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4360" y="3429000"/>
            <a:ext cx="347472" cy="347472"/>
          </a:xfrm>
          <a:prstGeom prst="ellipse">
            <a:avLst/>
          </a:prstGeom>
          <a:solidFill>
            <a:srgbClr val="2C2E48"/>
          </a:solidFill>
          <a:ln w="12700">
            <a:solidFill>
              <a:srgbClr val="2C2E4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33375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Safety in Dart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526280" y="33375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 types, ?, !, late, required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97764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94360" y="4069080"/>
            <a:ext cx="347472" cy="347472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97280" y="39776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Exercise 2.1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526280" y="39776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Small Overtime Payment Program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and Function Structure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is a named block of code that does one specific task or returns a value.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us repeating code, so programs stay organised and easy to change.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also ships built-in functions inside its libraries.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4754880" cy="996696"/>
          </a:xfrm>
          <a:prstGeom prst="roundRect">
            <a:avLst>
              <a:gd name="adj" fmla="val 7339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4904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174650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2642616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04164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041648" y="2990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type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55080" y="2642616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6480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2990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name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31920" y="3419856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041648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a, int b)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041648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55080" y="3419856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64808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}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64808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body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Function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a function is not enough. It only runs when main() calls it.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but never called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1762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432304"/>
            <a:ext cx="370332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printSomething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Function!'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'Welcome to Lab 3!'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93192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2428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(nothing is printed)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inside main()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09160" y="2103120"/>
            <a:ext cx="3977640" cy="1865376"/>
          </a:xfrm>
          <a:prstGeom prst="roundRect">
            <a:avLst>
              <a:gd name="adj" fmla="val 3922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21762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432304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printSomething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Function!'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'Welcome to Lab 3!'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printSomething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4105656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41788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44165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Function!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Lab 3!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Return String Data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type String is written before the function name.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sends the text back to the place that called the function.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print() then displays the returned value.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Application Development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'Flutter Application Development'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Return int Data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x and y receive the values 3 and 5.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z hands the sum back to the caller.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return, the result would never reach main().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Result = 8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2039112"/>
          </a:xfrm>
          <a:prstGeom prst="roundRect">
            <a:avLst>
              <a:gd name="adj" fmla="val 358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sumCalculator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sumCalculator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 Result = $result'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Return bool Data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bool function returns only true or false.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checks such as age or login rules.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 / else decides which value is returned.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2560320"/>
          </a:xfrm>
          <a:prstGeom prst="roundRect">
            <a:avLst>
              <a:gd name="adj" fmla="val 285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isAdult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isAdult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isAdult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 Function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void function does not return a value.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performs a task, such as printing or changing data through its parameters.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return type Dart assumes dynamic, so write void when nothing is returned.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Aina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Raynold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1865376"/>
          </a:xfrm>
          <a:prstGeom prst="roundRect">
            <a:avLst>
              <a:gd name="adj" fmla="val 3922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'Hello, $name'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'Aina'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'Raynold'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Returning Expression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=&gt; (arrow) operator to return a value in a short way.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when the body is a single expression.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the same as writing a full body with return.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Dart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1865376"/>
          </a:xfrm>
          <a:prstGeom prst="roundRect">
            <a:avLst>
              <a:gd name="adj" fmla="val 3922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Dart'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and Variable Scope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variable is declared decides where it can be used.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variable is visible to every function.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variable only lives inside its own function.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UNIMAS - FCSIT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UNIMAS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2560320"/>
          </a:xfrm>
          <a:prstGeom prst="roundRect">
            <a:avLst>
              <a:gd name="adj" fmla="val 285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'UNIMAS'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global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'FCSIT'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'$company - $faculty'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print(faculty);  //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and Class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20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blueprint or template. It defines the properties (attributes) and behaviours (methods) of its objects.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920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920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instance of a class. It holds real values for the attributes and can perform the behaviours the class defines.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24612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2C2E48"/>
          </a:solidFill>
          <a:ln w="12700">
            <a:solidFill>
              <a:srgbClr val="2C2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918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model, color, maxSpeed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88036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926080" y="3886200"/>
            <a:ext cx="822960" cy="274320"/>
          </a:xfrm>
          <a:prstGeom prst="rightArrow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31920" y="324612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3360" y="3291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perodua1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Bezza, Silver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55080" y="324612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6520" y="3291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perodua2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Axia, White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Class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31546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declare a class with the class keyword. Here it is called Car.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add properties inside the class. Each property is a variable that belongs to Car.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means the value is assigned after the object is created.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03320" y="1417320"/>
            <a:ext cx="4983480" cy="2386584"/>
          </a:xfrm>
          <a:prstGeom prst="roundRect">
            <a:avLst>
              <a:gd name="adj" fmla="val 3065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746504"/>
            <a:ext cx="47091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maxSpeed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numOfSeats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 Object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468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create an instance of the class. Car is the blueprint, perodua is the object.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notation sets and reads each property.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3 lets you leave out the new keyword.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model name is Bezza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5257800" cy="3081528"/>
          </a:xfrm>
          <a:prstGeom prst="roundRect">
            <a:avLst>
              <a:gd name="adj" fmla="val 237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4904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746504"/>
            <a:ext cx="498348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maxSpeed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numOfSeats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'Bezza'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'Silver'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maxSpeed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'120km/h'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numOfSeats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 model name is ${perodua.model}'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Methods to Classes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4688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is a function that lives inside a class.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describes what the object can do.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it with dot notation: object.method().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Bezza, max 120 km/h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Bezza is driving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5257800" cy="3255264"/>
          </a:xfrm>
          <a:prstGeom prst="roundRect">
            <a:avLst>
              <a:gd name="adj" fmla="val 224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4904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746504"/>
            <a:ext cx="49834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maxSpeed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'$model, max $maxSpeed km/h'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'$model is driving'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'Bezza'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maxSpeed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Classes: Constructors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constructor runs automatically when an object is created.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the same name as the class and no return type, not even void.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sets the starting state of the object, so no more property-by-property assignment.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name Axia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2560320"/>
          </a:xfrm>
          <a:prstGeom prst="roundRect">
            <a:avLst>
              <a:gd name="adj" fmla="val 285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'Axia'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'Silver'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'Model name ${perodua.model}'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Classes: Named Constructor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constructor gives an object a ready-made set of values.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ClassName.name() and fill in the properties after the colon.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object with Car.axia().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2734056"/>
          </a:xfrm>
          <a:prstGeom prst="roundRect">
            <a:avLst>
              <a:gd name="adj" fmla="val 2676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'Axia'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'White'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Getters and Setters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setter (set) assigns a value to a private variable.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getter (get) reads the value back.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 starting with _ is private to its library.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Bezza 2025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2734056"/>
          </a:xfrm>
          <a:prstGeom prst="roundRect">
            <a:avLst>
              <a:gd name="adj" fmla="val 2676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_model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'Bezza 2025'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Inheritance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lets a new class reuse an existing class (the parent or super class).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extends keyword.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gets all properties of Student without rewriting them.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am from Teacher class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 am from Teacher class'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'Aina'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Class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with at least one method that has no body is abstract.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must carry the abstract keyword.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be instantiated. Its only purpose is to be inherited.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200" y="1417320"/>
            <a:ext cx="4800600" cy="2039112"/>
          </a:xfrm>
          <a:prstGeom prst="roundRect">
            <a:avLst>
              <a:gd name="adj" fmla="val 358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23360" y="149047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746504"/>
            <a:ext cx="45262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body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abstract classes can't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 instantiated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Class: Child Class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4688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class must implement every abstract method, marked @override.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abstract class may also contain normal methods with a body.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objects from the child class, not the abstract parent.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Contact: it@unimas.my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Course: TMA3084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5257800" cy="3081528"/>
          </a:xfrm>
          <a:prstGeom prst="roundRect">
            <a:avLst>
              <a:gd name="adj" fmla="val 237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4904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746504"/>
            <a:ext cx="498348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'Course: TMA3084'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ITStudent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'Contact: it@unimas.my'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ITStudent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courseInfo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PROJECT STRUCTURE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Project Setup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40005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58191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1581912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075688"/>
            <a:ext cx="3671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VS Code press Ctrl + Shift + P, then choose Flutter: New Project.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86300" y="1417320"/>
            <a:ext cx="40005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50892" y="158191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5089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44668" y="1581912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error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50892" y="2075688"/>
            <a:ext cx="3671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first use VS Code reports that the Flutter SDK is missing. Git must be installed first.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40005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" y="327355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15568" y="3273552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SDK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" y="3767328"/>
            <a:ext cx="3671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stable zip from docs.flutter.dev/install/manual and extract it.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86300" y="3108960"/>
            <a:ext cx="40005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50892" y="327355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50892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344668" y="3273552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SDK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850892" y="3767328"/>
            <a:ext cx="3671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VS Code click Locate SDK and select the flutter\bin folder, then pick your folder and project name.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PROJECT STRUCTURE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Project Structure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554480"/>
            <a:ext cx="2590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71907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1719072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212848"/>
            <a:ext cx="2261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your Dart library files and main code. Small projects may keep files at the root instead.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76600" y="1554480"/>
            <a:ext cx="2590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1192" y="171907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411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934968" y="1719072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test/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441192" y="2212848"/>
            <a:ext cx="2261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testing files, where you write and organise unit tests.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6000" y="1554480"/>
            <a:ext cx="2590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0592" y="171907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605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754368" y="1719072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pubspec.yaml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60592" y="2212848"/>
            <a:ext cx="2261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configuration file: dependencies, environment settings, project name and version.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LIBRARIES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Libraries and pubspec.yaml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external libraries under dependencies in pubspec.yaml.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flutter pub get in the terminal to download them.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libraries use dart:, downloaded packages use package:.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6576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730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1417320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69080" y="14904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pubspec.yaml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069080" y="1746504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31920" y="2724912"/>
            <a:ext cx="4754880" cy="1517904"/>
          </a:xfrm>
          <a:prstGeom prst="roundRect">
            <a:avLst>
              <a:gd name="adj" fmla="val 4819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69080" y="27980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3054096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'dart:math'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'package:http/http.dart'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NULL SAFETY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Safety: Nullable Types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default a Dart variable can never hold null.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? after the type to allow null.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?. and ?? to handle null safely, and ! only when you are sure the value exists.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5661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639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8770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nickname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2212848"/>
          </a:xfrm>
          <a:prstGeom prst="roundRect">
            <a:avLst>
              <a:gd name="adj" fmla="val 3306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'Aina'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 nickname'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NULL SAFETY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Safety: late and required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468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promises Dart the variable is assigned before it is read.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forces the caller to supply a named parameter.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avoid null values without making the type nullable.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Aina abc123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5257800" cy="3081528"/>
          </a:xfrm>
          <a:prstGeom prst="roundRect">
            <a:avLst>
              <a:gd name="adj" fmla="val 237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4904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746504"/>
            <a:ext cx="498348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'abc123'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'Aina'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'${e.name} $token'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LAB EXERCISE 2.1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Payment: Setup and Library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open VS Code, choose File &gt; Open Folder, create a folder named Lab3 and open it.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add a new file myLib.dart and define the Employee class.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200" y="1417320"/>
            <a:ext cx="4800600" cy="2039112"/>
          </a:xfrm>
          <a:prstGeom prst="roundRect">
            <a:avLst>
              <a:gd name="adj" fmla="val 358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23360" y="149047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myLib.dart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746504"/>
            <a:ext cx="45262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jobTitle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overtimeHr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jobTitle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overtimeHr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LAB EXERCISE 2.1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Payment: main.dart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31546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add main.dart in the Lab3 folder.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library, create the employee, work out the overtime rate and print the total.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11880" y="1417320"/>
            <a:ext cx="5074920" cy="3081528"/>
          </a:xfrm>
          <a:prstGeom prst="roundRect">
            <a:avLst>
              <a:gd name="adj" fmla="val 237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1746504"/>
            <a:ext cx="480060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'myLib.dart'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extraPayPerHr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william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'Manager'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'Madrid'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william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extraPayPerHr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extraPayPerHr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william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william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overtimeHr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extraPayPerHr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'Total Salary = \$$total USD'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LAB EXERCISE 2.1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Payment: Run the Program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in VS Code choose Terminal &gt; New Terminal.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command and press Enter.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5000 is at least 4000, so extra pay is 10 per hour: 5000 + (7 x 10).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4754880" cy="649224"/>
          </a:xfrm>
          <a:prstGeom prst="roundRect">
            <a:avLst>
              <a:gd name="adj" fmla="val 11268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4904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174650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2249424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69080" y="23225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069080" y="2560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Salary = $5070.0 USD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C2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0" y="960120"/>
            <a:ext cx="2743200" cy="2743200"/>
          </a:xfrm>
          <a:prstGeom prst="roundRect">
            <a:avLst>
              <a:gd name="adj" fmla="val 14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126480" y="16459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Dart Functions &amp; OOP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2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29768"/>
            <a:ext cx="1362456" cy="2990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Raynold Anak Kabai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Demo, TMA3084 Software Engineering Laboratory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3: Dart Functions &amp; OOP</dc:title>
  <dc:subject>PptxGenJS Presentation</dc:subject>
  <dc:creator>Mr. Raynold Anak Kabai</dc:creator>
  <cp:lastModifiedBy>Mr. Raynold Anak Kabai</cp:lastModifiedBy>
  <cp:revision>1</cp:revision>
  <dcterms:created xsi:type="dcterms:W3CDTF">2026-10-08T14:21:05Z</dcterms:created>
  <dcterms:modified xsi:type="dcterms:W3CDTF">2026-10-08T14:21:05Z</dcterms:modified>
</cp:coreProperties>
</file>