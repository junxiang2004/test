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embeddedFontLst>
    <p:embeddedFont>
      <p:font typeface="Commissioner" panose="020B0604020202020204" charset="0"/>
      <p:regular r:id="rId44"/>
      <p:bold r:id="rId45"/>
    </p:embeddedFont>
    <p:embeddedFont>
      <p:font typeface="Consolas" panose="020B0609020204030204" pitchFamily="49" charset="0"/>
      <p:regular r:id="rId46"/>
      <p:bold r:id="rId47"/>
      <p:italic r:id="rId48"/>
      <p:boldItalic r:id="rId49"/>
    </p:embeddedFont>
    <p:embeddedFont>
      <p:font typeface="Helvetica Neue" panose="020B0604020202020204" charset="0"/>
      <p:regular r:id="rId50"/>
      <p:bold r:id="rId51"/>
      <p:italic r:id="rId52"/>
      <p:boldItalic r:id="rId53"/>
    </p:embeddedFont>
    <p:embeddedFont>
      <p:font typeface="Raleway" pitchFamily="2" charset="0"/>
      <p:regular r:id="rId54"/>
      <p:bold r:id="rId55"/>
      <p:italic r:id="rId56"/>
      <p:boldItalic r:id="rId57"/>
    </p:embeddedFont>
    <p:embeddedFont>
      <p:font typeface="Roboto Mono" panose="00000009000000000000" pitchFamily="49" charset="0"/>
      <p:regular r:id="rId58"/>
      <p:bold r:id="rId59"/>
      <p:italic r:id="rId60"/>
      <p:boldItalic r:id="rId61"/>
    </p:embeddedFont>
    <p:embeddedFont>
      <p:font typeface="Tajawal" panose="020B0604020202020204" charset="-78"/>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4660"/>
  </p:normalViewPr>
  <p:slideViewPr>
    <p:cSldViewPr snapToGrid="0">
      <p:cViewPr>
        <p:scale>
          <a:sx n="100" d="100"/>
          <a:sy n="100" d="100"/>
        </p:scale>
        <p:origin x="79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ad6983855a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ad6983855a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0f9e629ec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d487f141b8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d487f141b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0ef22e10f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0ef22e10f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0ef22e10fe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0ef22e10f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0ef22e10fe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0ef22e10fe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0ef22e10f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0ef22e10f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0ef22e10f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0ef22e10f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0ef22e10fe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0ef22e10fe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0ef22e10fe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0ef22e10fe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ef22e10f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ef22e10fe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0ef22e10fe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0ef22e10fe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0ef22e10fe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0ef22e10fe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0ef22e10fe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0ef22e10fe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0ef22e10fe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0ef22e10fe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0ef22e10fe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0ef22e10fe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0f0839914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0f083991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0f0839914d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0f0839914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0f0839914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0f0839914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0f0839914d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0f0839914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0f0839914d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0f0839914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0f0839914d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0f0839914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0f0839914d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0f0839914d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0f0839914d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0f0839914d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0f0839914d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0f0839914d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0f0839914d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0f0839914d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0f0839914d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0f0839914d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0f0839914d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0f0839914d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0f0839914d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0f0839914d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0f0839914d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0f0839914d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0f0839914d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0f0839914d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0f0839914d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30f0839914d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0f0839914d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0f0839914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0f0839914d_0_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30f0839914d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0f0839914d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0f0839914d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0f0839914d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30f0839914d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0f0839914d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0f0839914d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0f0839914d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0f0839914d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0f0839914d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0f0839914d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21258269c9b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d487f141b8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d487f141b8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999950" y="996938"/>
            <a:ext cx="5144100" cy="24690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79850" y="3658463"/>
            <a:ext cx="4584300" cy="488100"/>
          </a:xfrm>
          <a:prstGeom prst="rect">
            <a:avLst/>
          </a:prstGeom>
          <a:ln w="9525" cap="flat" cmpd="sng">
            <a:solidFill>
              <a:srgbClr val="4C10B4"/>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069500" y="2359200"/>
            <a:ext cx="3734400" cy="1044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3069500" y="1425750"/>
            <a:ext cx="1117500" cy="8418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a:spLocks noGrp="1"/>
          </p:cNvSpPr>
          <p:nvPr>
            <p:ph type="pic" idx="3"/>
          </p:nvPr>
        </p:nvSpPr>
        <p:spPr>
          <a:xfrm>
            <a:off x="-25350" y="1100875"/>
            <a:ext cx="3893700" cy="4042800"/>
          </a:xfrm>
          <a:prstGeom prst="rtTriangle">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grpSp>
        <p:nvGrpSpPr>
          <p:cNvPr id="16" name="Google Shape;16;p4"/>
          <p:cNvGrpSpPr/>
          <p:nvPr/>
        </p:nvGrpSpPr>
        <p:grpSpPr>
          <a:xfrm>
            <a:off x="-76202" y="-76201"/>
            <a:ext cx="9372602" cy="5271991"/>
            <a:chOff x="-76202" y="-76201"/>
            <a:chExt cx="9372602" cy="5271991"/>
          </a:xfrm>
        </p:grpSpPr>
        <p:pic>
          <p:nvPicPr>
            <p:cNvPr id="17" name="Google Shape;17;p4"/>
            <p:cNvPicPr preferRelativeResize="0"/>
            <p:nvPr/>
          </p:nvPicPr>
          <p:blipFill rotWithShape="1">
            <a:blip r:embed="rId2">
              <a:alphaModFix/>
            </a:blip>
            <a:srcRect l="65341" t="44845"/>
            <a:stretch/>
          </p:blipFill>
          <p:spPr>
            <a:xfrm flipH="1">
              <a:off x="-76202" y="3559514"/>
              <a:ext cx="1542676" cy="1636277"/>
            </a:xfrm>
            <a:prstGeom prst="rect">
              <a:avLst/>
            </a:prstGeom>
            <a:noFill/>
            <a:ln>
              <a:noFill/>
            </a:ln>
          </p:spPr>
        </p:pic>
        <p:pic>
          <p:nvPicPr>
            <p:cNvPr id="18" name="Google Shape;18;p4"/>
            <p:cNvPicPr preferRelativeResize="0"/>
            <p:nvPr/>
          </p:nvPicPr>
          <p:blipFill rotWithShape="1">
            <a:blip r:embed="rId3">
              <a:alphaModFix/>
            </a:blip>
            <a:srcRect l="51093" t="47042"/>
            <a:stretch/>
          </p:blipFill>
          <p:spPr>
            <a:xfrm rot="10800000" flipH="1">
              <a:off x="7374824" y="-76201"/>
              <a:ext cx="1921577" cy="1386799"/>
            </a:xfrm>
            <a:prstGeom prst="rect">
              <a:avLst/>
            </a:prstGeom>
            <a:noFill/>
            <a:ln>
              <a:noFill/>
            </a:ln>
          </p:spPr>
        </p:pic>
      </p:grpSp>
      <p:sp>
        <p:nvSpPr>
          <p:cNvPr id="19" name="Google Shape;1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 name="Google Shape;20;p4"/>
          <p:cNvSpPr txBox="1">
            <a:spLocks noGrp="1"/>
          </p:cNvSpPr>
          <p:nvPr>
            <p:ph type="body" idx="1"/>
          </p:nvPr>
        </p:nvSpPr>
        <p:spPr>
          <a:xfrm>
            <a:off x="720000" y="1152475"/>
            <a:ext cx="7704000" cy="4260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Clr>
                <a:srgbClr val="434343"/>
              </a:buClr>
              <a:buSzPts val="1400"/>
              <a:buChar char="●"/>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grpSp>
        <p:nvGrpSpPr>
          <p:cNvPr id="22" name="Google Shape;22;p5"/>
          <p:cNvGrpSpPr/>
          <p:nvPr/>
        </p:nvGrpSpPr>
        <p:grpSpPr>
          <a:xfrm>
            <a:off x="-76202" y="-76201"/>
            <a:ext cx="9679777" cy="5423226"/>
            <a:chOff x="-76202" y="-76201"/>
            <a:chExt cx="9679777" cy="5423226"/>
          </a:xfrm>
        </p:grpSpPr>
        <p:pic>
          <p:nvPicPr>
            <p:cNvPr id="23" name="Google Shape;23;p5"/>
            <p:cNvPicPr preferRelativeResize="0"/>
            <p:nvPr/>
          </p:nvPicPr>
          <p:blipFill rotWithShape="1">
            <a:blip r:embed="rId2">
              <a:alphaModFix/>
            </a:blip>
            <a:srcRect l="65341" t="44845"/>
            <a:stretch/>
          </p:blipFill>
          <p:spPr>
            <a:xfrm rot="10800000">
              <a:off x="-76202" y="-76201"/>
              <a:ext cx="1542676" cy="1636277"/>
            </a:xfrm>
            <a:prstGeom prst="rect">
              <a:avLst/>
            </a:prstGeom>
            <a:noFill/>
            <a:ln>
              <a:noFill/>
            </a:ln>
          </p:spPr>
        </p:pic>
        <p:pic>
          <p:nvPicPr>
            <p:cNvPr id="24" name="Google Shape;24;p5"/>
            <p:cNvPicPr preferRelativeResize="0"/>
            <p:nvPr/>
          </p:nvPicPr>
          <p:blipFill rotWithShape="1">
            <a:blip r:embed="rId3">
              <a:alphaModFix/>
            </a:blip>
            <a:srcRect r="47761" b="19916"/>
            <a:stretch/>
          </p:blipFill>
          <p:spPr>
            <a:xfrm rot="5400000" flipH="1">
              <a:off x="7278325" y="3021775"/>
              <a:ext cx="2300175" cy="2350325"/>
            </a:xfrm>
            <a:prstGeom prst="rect">
              <a:avLst/>
            </a:prstGeom>
            <a:noFill/>
            <a:ln>
              <a:noFill/>
            </a:ln>
          </p:spPr>
        </p:pic>
      </p:grpSp>
      <p:sp>
        <p:nvSpPr>
          <p:cNvPr id="25" name="Google Shape;2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 name="Google Shape;26;p5"/>
          <p:cNvSpPr txBox="1">
            <a:spLocks noGrp="1"/>
          </p:cNvSpPr>
          <p:nvPr>
            <p:ph type="subTitle" idx="1"/>
          </p:nvPr>
        </p:nvSpPr>
        <p:spPr>
          <a:xfrm>
            <a:off x="4799123" y="2434001"/>
            <a:ext cx="2707800" cy="14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637075" y="2434001"/>
            <a:ext cx="2707800" cy="149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637075" y="1860350"/>
            <a:ext cx="27078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4799122" y="1860350"/>
            <a:ext cx="27078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2" name="Google Shape;32;p6"/>
          <p:cNvPicPr preferRelativeResize="0"/>
          <p:nvPr/>
        </p:nvPicPr>
        <p:blipFill rotWithShape="1">
          <a:blip r:embed="rId2">
            <a:alphaModFix/>
          </a:blip>
          <a:srcRect l="65341" t="44845"/>
          <a:stretch/>
        </p:blipFill>
        <p:spPr>
          <a:xfrm flipH="1">
            <a:off x="-76202" y="3559514"/>
            <a:ext cx="1542676" cy="163627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a:spLocks noGrp="1"/>
          </p:cNvSpPr>
          <p:nvPr>
            <p:ph type="pic" idx="2"/>
          </p:nvPr>
        </p:nvSpPr>
        <p:spPr>
          <a:xfrm>
            <a:off x="5250300" y="1074600"/>
            <a:ext cx="3893700" cy="4068900"/>
          </a:xfrm>
          <a:prstGeom prst="triangle">
            <a:avLst>
              <a:gd name="adj" fmla="val 100000"/>
            </a:avLst>
          </a:prstGeom>
          <a:noFill/>
          <a:ln>
            <a:noFill/>
          </a:ln>
        </p:spPr>
      </p:sp>
      <p:sp>
        <p:nvSpPr>
          <p:cNvPr id="35" name="Google Shape;35;p7"/>
          <p:cNvSpPr txBox="1">
            <a:spLocks noGrp="1"/>
          </p:cNvSpPr>
          <p:nvPr>
            <p:ph type="title"/>
          </p:nvPr>
        </p:nvSpPr>
        <p:spPr>
          <a:xfrm>
            <a:off x="715100" y="1274800"/>
            <a:ext cx="3982200" cy="1087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 name="Google Shape;36;p7"/>
          <p:cNvSpPr txBox="1">
            <a:spLocks noGrp="1"/>
          </p:cNvSpPr>
          <p:nvPr>
            <p:ph type="body" idx="1"/>
          </p:nvPr>
        </p:nvSpPr>
        <p:spPr>
          <a:xfrm>
            <a:off x="715100" y="2312675"/>
            <a:ext cx="5416200" cy="1851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pic>
        <p:nvPicPr>
          <p:cNvPr id="37" name="Google Shape;37;p7"/>
          <p:cNvPicPr preferRelativeResize="0"/>
          <p:nvPr/>
        </p:nvPicPr>
        <p:blipFill rotWithShape="1">
          <a:blip r:embed="rId2">
            <a:alphaModFix/>
          </a:blip>
          <a:srcRect r="47761" b="19916"/>
          <a:stretch/>
        </p:blipFill>
        <p:spPr>
          <a:xfrm>
            <a:off x="-76200" y="-533400"/>
            <a:ext cx="2300175" cy="23503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40" name="Google Shape;40;p8"/>
          <p:cNvGrpSpPr/>
          <p:nvPr/>
        </p:nvGrpSpPr>
        <p:grpSpPr>
          <a:xfrm>
            <a:off x="-76202" y="-76201"/>
            <a:ext cx="9220202" cy="5271991"/>
            <a:chOff x="-76202" y="-76201"/>
            <a:chExt cx="9220202" cy="5271991"/>
          </a:xfrm>
        </p:grpSpPr>
        <p:pic>
          <p:nvPicPr>
            <p:cNvPr id="41" name="Google Shape;41;p8"/>
            <p:cNvPicPr preferRelativeResize="0"/>
            <p:nvPr/>
          </p:nvPicPr>
          <p:blipFill rotWithShape="1">
            <a:blip r:embed="rId2">
              <a:alphaModFix/>
            </a:blip>
            <a:srcRect l="65341" t="44845"/>
            <a:stretch/>
          </p:blipFill>
          <p:spPr>
            <a:xfrm rot="10800000">
              <a:off x="-76202" y="-76201"/>
              <a:ext cx="1542676" cy="1636277"/>
            </a:xfrm>
            <a:prstGeom prst="rect">
              <a:avLst/>
            </a:prstGeom>
            <a:noFill/>
            <a:ln>
              <a:noFill/>
            </a:ln>
          </p:spPr>
        </p:pic>
        <p:pic>
          <p:nvPicPr>
            <p:cNvPr id="42" name="Google Shape;42;p8"/>
            <p:cNvPicPr preferRelativeResize="0"/>
            <p:nvPr/>
          </p:nvPicPr>
          <p:blipFill rotWithShape="1">
            <a:blip r:embed="rId2">
              <a:alphaModFix/>
            </a:blip>
            <a:srcRect l="65341" t="44845"/>
            <a:stretch/>
          </p:blipFill>
          <p:spPr>
            <a:xfrm>
              <a:off x="7601324" y="3559514"/>
              <a:ext cx="1542676" cy="1636277"/>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txBox="1">
            <a:spLocks noGrp="1"/>
          </p:cNvSpPr>
          <p:nvPr>
            <p:ph type="title"/>
          </p:nvPr>
        </p:nvSpPr>
        <p:spPr>
          <a:xfrm>
            <a:off x="2201850" y="1965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5" name="Google Shape;45;p9"/>
          <p:cNvSpPr txBox="1">
            <a:spLocks noGrp="1"/>
          </p:cNvSpPr>
          <p:nvPr>
            <p:ph type="subTitle" idx="1"/>
          </p:nvPr>
        </p:nvSpPr>
        <p:spPr>
          <a:xfrm>
            <a:off x="2201925" y="2808926"/>
            <a:ext cx="4740300" cy="5058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6" name="Google Shape;46;p9"/>
          <p:cNvGrpSpPr/>
          <p:nvPr/>
        </p:nvGrpSpPr>
        <p:grpSpPr>
          <a:xfrm>
            <a:off x="-180425" y="-148788"/>
            <a:ext cx="9476827" cy="5440664"/>
            <a:chOff x="-180425" y="-148788"/>
            <a:chExt cx="9476827" cy="5440664"/>
          </a:xfrm>
        </p:grpSpPr>
        <p:pic>
          <p:nvPicPr>
            <p:cNvPr id="47" name="Google Shape;47;p9"/>
            <p:cNvPicPr preferRelativeResize="0"/>
            <p:nvPr/>
          </p:nvPicPr>
          <p:blipFill rotWithShape="1">
            <a:blip r:embed="rId2">
              <a:alphaModFix/>
            </a:blip>
            <a:srcRect l="51093" t="47042"/>
            <a:stretch/>
          </p:blipFill>
          <p:spPr>
            <a:xfrm>
              <a:off x="7401475" y="3924300"/>
              <a:ext cx="1894927" cy="1367576"/>
            </a:xfrm>
            <a:prstGeom prst="rect">
              <a:avLst/>
            </a:prstGeom>
            <a:noFill/>
            <a:ln>
              <a:noFill/>
            </a:ln>
          </p:spPr>
        </p:pic>
        <p:pic>
          <p:nvPicPr>
            <p:cNvPr id="48" name="Google Shape;48;p9"/>
            <p:cNvPicPr preferRelativeResize="0"/>
            <p:nvPr/>
          </p:nvPicPr>
          <p:blipFill rotWithShape="1">
            <a:blip r:embed="rId2">
              <a:alphaModFix/>
            </a:blip>
            <a:srcRect l="51093" t="47042"/>
            <a:stretch/>
          </p:blipFill>
          <p:spPr>
            <a:xfrm rot="10800000">
              <a:off x="-180425" y="-148788"/>
              <a:ext cx="1894927" cy="1367576"/>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a:spLocks noGrp="1"/>
          </p:cNvSpPr>
          <p:nvPr>
            <p:ph type="pic" idx="2"/>
          </p:nvPr>
        </p:nvSpPr>
        <p:spPr>
          <a:xfrm>
            <a:off x="-6875" y="0"/>
            <a:ext cx="9144000" cy="5157300"/>
          </a:xfrm>
          <a:prstGeom prst="rect">
            <a:avLst/>
          </a:prstGeom>
          <a:noFill/>
          <a:ln>
            <a:noFill/>
          </a:ln>
        </p:spPr>
      </p:sp>
      <p:sp>
        <p:nvSpPr>
          <p:cNvPr id="51" name="Google Shape;51;p10"/>
          <p:cNvSpPr txBox="1">
            <a:spLocks noGrp="1"/>
          </p:cNvSpPr>
          <p:nvPr>
            <p:ph type="title"/>
          </p:nvPr>
        </p:nvSpPr>
        <p:spPr>
          <a:xfrm>
            <a:off x="720000" y="4038000"/>
            <a:ext cx="7704000" cy="572700"/>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txBox="1">
            <a:spLocks noGrp="1"/>
          </p:cNvSpPr>
          <p:nvPr>
            <p:ph type="title" hasCustomPrompt="1"/>
          </p:nvPr>
        </p:nvSpPr>
        <p:spPr>
          <a:xfrm>
            <a:off x="2025100" y="1419625"/>
            <a:ext cx="5093700" cy="109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4" name="Google Shape;54;p11"/>
          <p:cNvSpPr txBox="1">
            <a:spLocks noGrp="1"/>
          </p:cNvSpPr>
          <p:nvPr>
            <p:ph type="subTitle" idx="1"/>
          </p:nvPr>
        </p:nvSpPr>
        <p:spPr>
          <a:xfrm>
            <a:off x="2025200" y="2741150"/>
            <a:ext cx="5093700" cy="9453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5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6"/>
        <p:cNvGrpSpPr/>
        <p:nvPr/>
      </p:nvGrpSpPr>
      <p:grpSpPr>
        <a:xfrm>
          <a:off x="0" y="0"/>
          <a:ext cx="0" cy="0"/>
          <a:chOff x="0" y="0"/>
          <a:chExt cx="0" cy="0"/>
        </a:xfrm>
      </p:grpSpPr>
      <p:grpSp>
        <p:nvGrpSpPr>
          <p:cNvPr id="57" name="Google Shape;57;p13"/>
          <p:cNvGrpSpPr/>
          <p:nvPr/>
        </p:nvGrpSpPr>
        <p:grpSpPr>
          <a:xfrm>
            <a:off x="-228601" y="0"/>
            <a:ext cx="9372602" cy="5431698"/>
            <a:chOff x="-228601" y="0"/>
            <a:chExt cx="9372602" cy="5431698"/>
          </a:xfrm>
        </p:grpSpPr>
        <p:pic>
          <p:nvPicPr>
            <p:cNvPr id="58" name="Google Shape;58;p13"/>
            <p:cNvPicPr preferRelativeResize="0"/>
            <p:nvPr/>
          </p:nvPicPr>
          <p:blipFill rotWithShape="1">
            <a:blip r:embed="rId2">
              <a:alphaModFix/>
            </a:blip>
            <a:srcRect r="46856" b="15661"/>
            <a:stretch/>
          </p:blipFill>
          <p:spPr>
            <a:xfrm flipH="1">
              <a:off x="6679027" y="0"/>
              <a:ext cx="2464973" cy="2607225"/>
            </a:xfrm>
            <a:prstGeom prst="rect">
              <a:avLst/>
            </a:prstGeom>
            <a:noFill/>
            <a:ln>
              <a:noFill/>
            </a:ln>
          </p:spPr>
        </p:pic>
        <p:pic>
          <p:nvPicPr>
            <p:cNvPr id="59" name="Google Shape;59;p13"/>
            <p:cNvPicPr preferRelativeResize="0"/>
            <p:nvPr/>
          </p:nvPicPr>
          <p:blipFill rotWithShape="1">
            <a:blip r:embed="rId3">
              <a:alphaModFix/>
            </a:blip>
            <a:srcRect l="51093" t="47042"/>
            <a:stretch/>
          </p:blipFill>
          <p:spPr>
            <a:xfrm flipH="1">
              <a:off x="-228601" y="4044899"/>
              <a:ext cx="1921577" cy="1386799"/>
            </a:xfrm>
            <a:prstGeom prst="rect">
              <a:avLst/>
            </a:prstGeom>
            <a:noFill/>
            <a:ln>
              <a:noFill/>
            </a:ln>
          </p:spPr>
        </p:pic>
      </p:grpSp>
      <p:sp>
        <p:nvSpPr>
          <p:cNvPr id="60" name="Google Shape;6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 name="Google Shape;61;p13"/>
          <p:cNvSpPr txBox="1">
            <a:spLocks noGrp="1"/>
          </p:cNvSpPr>
          <p:nvPr>
            <p:ph type="title" idx="2" hasCustomPrompt="1"/>
          </p:nvPr>
        </p:nvSpPr>
        <p:spPr>
          <a:xfrm>
            <a:off x="1539763" y="1633275"/>
            <a:ext cx="6660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 name="Google Shape;62;p13"/>
          <p:cNvSpPr txBox="1">
            <a:spLocks noGrp="1"/>
          </p:cNvSpPr>
          <p:nvPr>
            <p:ph type="title" idx="3" hasCustomPrompt="1"/>
          </p:nvPr>
        </p:nvSpPr>
        <p:spPr>
          <a:xfrm>
            <a:off x="1539763" y="3228271"/>
            <a:ext cx="6660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title" idx="4" hasCustomPrompt="1"/>
          </p:nvPr>
        </p:nvSpPr>
        <p:spPr>
          <a:xfrm>
            <a:off x="4239038" y="1633275"/>
            <a:ext cx="6660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5" hasCustomPrompt="1"/>
          </p:nvPr>
        </p:nvSpPr>
        <p:spPr>
          <a:xfrm>
            <a:off x="4239038" y="3228271"/>
            <a:ext cx="6660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title" idx="6" hasCustomPrompt="1"/>
          </p:nvPr>
        </p:nvSpPr>
        <p:spPr>
          <a:xfrm>
            <a:off x="6953913" y="1633275"/>
            <a:ext cx="6348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7" hasCustomPrompt="1"/>
          </p:nvPr>
        </p:nvSpPr>
        <p:spPr>
          <a:xfrm>
            <a:off x="6953913" y="3228271"/>
            <a:ext cx="6348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subTitle" idx="1"/>
          </p:nvPr>
        </p:nvSpPr>
        <p:spPr>
          <a:xfrm>
            <a:off x="720013" y="213277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8" name="Google Shape;68;p13"/>
          <p:cNvSpPr txBox="1">
            <a:spLocks noGrp="1"/>
          </p:cNvSpPr>
          <p:nvPr>
            <p:ph type="subTitle" idx="8"/>
          </p:nvPr>
        </p:nvSpPr>
        <p:spPr>
          <a:xfrm>
            <a:off x="3419288" y="213277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69" name="Google Shape;69;p13"/>
          <p:cNvSpPr txBox="1">
            <a:spLocks noGrp="1"/>
          </p:cNvSpPr>
          <p:nvPr>
            <p:ph type="subTitle" idx="9"/>
          </p:nvPr>
        </p:nvSpPr>
        <p:spPr>
          <a:xfrm>
            <a:off x="6118563" y="213277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0" name="Google Shape;70;p13"/>
          <p:cNvSpPr txBox="1">
            <a:spLocks noGrp="1"/>
          </p:cNvSpPr>
          <p:nvPr>
            <p:ph type="subTitle" idx="13"/>
          </p:nvPr>
        </p:nvSpPr>
        <p:spPr>
          <a:xfrm>
            <a:off x="720013" y="372782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1" name="Google Shape;71;p13"/>
          <p:cNvSpPr txBox="1">
            <a:spLocks noGrp="1"/>
          </p:cNvSpPr>
          <p:nvPr>
            <p:ph type="subTitle" idx="14"/>
          </p:nvPr>
        </p:nvSpPr>
        <p:spPr>
          <a:xfrm>
            <a:off x="3419288" y="372782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2" name="Google Shape;72;p13"/>
          <p:cNvSpPr txBox="1">
            <a:spLocks noGrp="1"/>
          </p:cNvSpPr>
          <p:nvPr>
            <p:ph type="subTitle" idx="15"/>
          </p:nvPr>
        </p:nvSpPr>
        <p:spPr>
          <a:xfrm>
            <a:off x="6118563" y="3727825"/>
            <a:ext cx="2305500" cy="63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73"/>
        <p:cNvGrpSpPr/>
        <p:nvPr/>
      </p:nvGrpSpPr>
      <p:grpSpPr>
        <a:xfrm>
          <a:off x="0" y="0"/>
          <a:ext cx="0" cy="0"/>
          <a:chOff x="0" y="0"/>
          <a:chExt cx="0" cy="0"/>
        </a:xfrm>
      </p:grpSpPr>
      <p:pic>
        <p:nvPicPr>
          <p:cNvPr id="74" name="Google Shape;74;p14"/>
          <p:cNvPicPr preferRelativeResize="0"/>
          <p:nvPr/>
        </p:nvPicPr>
        <p:blipFill rotWithShape="1">
          <a:blip r:embed="rId2">
            <a:alphaModFix/>
          </a:blip>
          <a:srcRect l="65341" t="44845"/>
          <a:stretch/>
        </p:blipFill>
        <p:spPr>
          <a:xfrm flipH="1">
            <a:off x="-76202" y="3559514"/>
            <a:ext cx="1542676" cy="1636277"/>
          </a:xfrm>
          <a:prstGeom prst="rect">
            <a:avLst/>
          </a:prstGeom>
          <a:noFill/>
          <a:ln>
            <a:noFill/>
          </a:ln>
        </p:spPr>
      </p:pic>
      <p:sp>
        <p:nvSpPr>
          <p:cNvPr id="75" name="Google Shape;75;p14"/>
          <p:cNvSpPr txBox="1">
            <a:spLocks noGrp="1"/>
          </p:cNvSpPr>
          <p:nvPr>
            <p:ph type="title" hasCustomPrompt="1"/>
          </p:nvPr>
        </p:nvSpPr>
        <p:spPr>
          <a:xfrm>
            <a:off x="2825663" y="198582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6" name="Google Shape;76;p14"/>
          <p:cNvSpPr txBox="1">
            <a:spLocks noGrp="1"/>
          </p:cNvSpPr>
          <p:nvPr>
            <p:ph type="subTitle" idx="1"/>
          </p:nvPr>
        </p:nvSpPr>
        <p:spPr>
          <a:xfrm>
            <a:off x="2107400" y="2744260"/>
            <a:ext cx="4929000" cy="4134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77" name="Google Shape;77;p14"/>
          <p:cNvSpPr txBox="1">
            <a:spLocks noGrp="1"/>
          </p:cNvSpPr>
          <p:nvPr>
            <p:ph type="title" idx="2" hasCustomPrompt="1"/>
          </p:nvPr>
        </p:nvSpPr>
        <p:spPr>
          <a:xfrm>
            <a:off x="2825638" y="535002"/>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8" name="Google Shape;78;p14"/>
          <p:cNvSpPr txBox="1">
            <a:spLocks noGrp="1"/>
          </p:cNvSpPr>
          <p:nvPr>
            <p:ph type="subTitle" idx="3"/>
          </p:nvPr>
        </p:nvSpPr>
        <p:spPr>
          <a:xfrm>
            <a:off x="2107400" y="1293425"/>
            <a:ext cx="4929000" cy="4134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79" name="Google Shape;79;p14"/>
          <p:cNvSpPr txBox="1">
            <a:spLocks noGrp="1"/>
          </p:cNvSpPr>
          <p:nvPr>
            <p:ph type="title" idx="4" hasCustomPrompt="1"/>
          </p:nvPr>
        </p:nvSpPr>
        <p:spPr>
          <a:xfrm>
            <a:off x="2825675" y="343667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0" name="Google Shape;80;p14"/>
          <p:cNvSpPr txBox="1">
            <a:spLocks noGrp="1"/>
          </p:cNvSpPr>
          <p:nvPr>
            <p:ph type="subTitle" idx="5"/>
          </p:nvPr>
        </p:nvSpPr>
        <p:spPr>
          <a:xfrm>
            <a:off x="2107550" y="4195100"/>
            <a:ext cx="4929000" cy="4134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8">
    <p:spTree>
      <p:nvGrpSpPr>
        <p:cNvPr id="1" name="Shape 81"/>
        <p:cNvGrpSpPr/>
        <p:nvPr/>
      </p:nvGrpSpPr>
      <p:grpSpPr>
        <a:xfrm>
          <a:off x="0" y="0"/>
          <a:ext cx="0" cy="0"/>
          <a:chOff x="0" y="0"/>
          <a:chExt cx="0" cy="0"/>
        </a:xfrm>
      </p:grpSpPr>
      <p:grpSp>
        <p:nvGrpSpPr>
          <p:cNvPr id="82" name="Google Shape;82;p15"/>
          <p:cNvGrpSpPr/>
          <p:nvPr/>
        </p:nvGrpSpPr>
        <p:grpSpPr>
          <a:xfrm>
            <a:off x="-76200" y="-766825"/>
            <a:ext cx="9282151" cy="6274723"/>
            <a:chOff x="0" y="-766825"/>
            <a:chExt cx="9282151" cy="6274723"/>
          </a:xfrm>
        </p:grpSpPr>
        <p:pic>
          <p:nvPicPr>
            <p:cNvPr id="83" name="Google Shape;83;p15"/>
            <p:cNvPicPr preferRelativeResize="0"/>
            <p:nvPr/>
          </p:nvPicPr>
          <p:blipFill rotWithShape="1">
            <a:blip r:embed="rId2">
              <a:alphaModFix/>
            </a:blip>
            <a:srcRect l="51093" t="47042"/>
            <a:stretch/>
          </p:blipFill>
          <p:spPr>
            <a:xfrm>
              <a:off x="7360574" y="4121099"/>
              <a:ext cx="1921577" cy="1386799"/>
            </a:xfrm>
            <a:prstGeom prst="rect">
              <a:avLst/>
            </a:prstGeom>
            <a:noFill/>
            <a:ln>
              <a:noFill/>
            </a:ln>
          </p:spPr>
        </p:pic>
        <p:pic>
          <p:nvPicPr>
            <p:cNvPr id="84" name="Google Shape;84;p15"/>
            <p:cNvPicPr preferRelativeResize="0"/>
            <p:nvPr/>
          </p:nvPicPr>
          <p:blipFill rotWithShape="1">
            <a:blip r:embed="rId2">
              <a:alphaModFix/>
            </a:blip>
            <a:srcRect r="47761" b="19916"/>
            <a:stretch/>
          </p:blipFill>
          <p:spPr>
            <a:xfrm>
              <a:off x="0" y="-766825"/>
              <a:ext cx="2081172" cy="2126551"/>
            </a:xfrm>
            <a:prstGeom prst="rect">
              <a:avLst/>
            </a:prstGeom>
            <a:noFill/>
            <a:ln>
              <a:noFill/>
            </a:ln>
          </p:spPr>
        </p:pic>
      </p:grpSp>
      <p:sp>
        <p:nvSpPr>
          <p:cNvPr id="85" name="Google Shape;85;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 name="Google Shape;86;p15"/>
          <p:cNvSpPr txBox="1">
            <a:spLocks noGrp="1"/>
          </p:cNvSpPr>
          <p:nvPr>
            <p:ph type="subTitle" idx="1"/>
          </p:nvPr>
        </p:nvSpPr>
        <p:spPr>
          <a:xfrm>
            <a:off x="2316450" y="1757825"/>
            <a:ext cx="5616000" cy="4050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rgbClr val="FF0000"/>
              </a:buClr>
              <a:buSzPts val="2400"/>
              <a:buFont typeface="Raleway"/>
              <a:buNone/>
              <a:defRPr sz="1800" b="1">
                <a:latin typeface="Tajawal"/>
                <a:ea typeface="Tajawal"/>
                <a:cs typeface="Tajawal"/>
                <a:sym typeface="Tajawal"/>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a:endParaRPr/>
          </a:p>
        </p:txBody>
      </p:sp>
      <p:sp>
        <p:nvSpPr>
          <p:cNvPr id="87" name="Google Shape;87;p15"/>
          <p:cNvSpPr txBox="1">
            <a:spLocks noGrp="1"/>
          </p:cNvSpPr>
          <p:nvPr>
            <p:ph type="subTitle" idx="2"/>
          </p:nvPr>
        </p:nvSpPr>
        <p:spPr>
          <a:xfrm>
            <a:off x="2316450" y="2901200"/>
            <a:ext cx="5616000" cy="4050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rgbClr val="FF0000"/>
              </a:buClr>
              <a:buSzPts val="2400"/>
              <a:buFont typeface="Raleway"/>
              <a:buNone/>
              <a:defRPr sz="1800" b="1">
                <a:latin typeface="Tajawal"/>
                <a:ea typeface="Tajawal"/>
                <a:cs typeface="Tajawal"/>
                <a:sym typeface="Tajawal"/>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a:endParaRPr/>
          </a:p>
        </p:txBody>
      </p:sp>
      <p:sp>
        <p:nvSpPr>
          <p:cNvPr id="88" name="Google Shape;88;p15"/>
          <p:cNvSpPr txBox="1">
            <a:spLocks noGrp="1"/>
          </p:cNvSpPr>
          <p:nvPr>
            <p:ph type="subTitle" idx="3"/>
          </p:nvPr>
        </p:nvSpPr>
        <p:spPr>
          <a:xfrm>
            <a:off x="2316450" y="4044700"/>
            <a:ext cx="5616000" cy="4050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rgbClr val="FF0000"/>
              </a:buClr>
              <a:buSzPts val="2400"/>
              <a:buFont typeface="Raleway"/>
              <a:buNone/>
              <a:defRPr sz="1800" b="1">
                <a:latin typeface="Tajawal"/>
                <a:ea typeface="Tajawal"/>
                <a:cs typeface="Tajawal"/>
                <a:sym typeface="Tajawal"/>
              </a:defRPr>
            </a:lvl1pPr>
            <a:lvl2pPr lvl="1"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2pPr>
            <a:lvl3pPr lvl="2"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3pPr>
            <a:lvl4pPr lvl="3"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4pPr>
            <a:lvl5pPr lvl="4"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5pPr>
            <a:lvl6pPr lvl="5"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6pPr>
            <a:lvl7pPr lvl="6"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7pPr>
            <a:lvl8pPr lvl="7"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8pPr>
            <a:lvl9pPr lvl="8" rtl="0">
              <a:lnSpc>
                <a:spcPct val="100000"/>
              </a:lnSpc>
              <a:spcBef>
                <a:spcPts val="0"/>
              </a:spcBef>
              <a:spcAft>
                <a:spcPts val="0"/>
              </a:spcAft>
              <a:buClr>
                <a:srgbClr val="FF0000"/>
              </a:buClr>
              <a:buSzPts val="2400"/>
              <a:buFont typeface="Raleway"/>
              <a:buNone/>
              <a:defRPr sz="2400">
                <a:solidFill>
                  <a:srgbClr val="FF0000"/>
                </a:solidFill>
                <a:latin typeface="Raleway"/>
                <a:ea typeface="Raleway"/>
                <a:cs typeface="Raleway"/>
                <a:sym typeface="Raleway"/>
              </a:defRPr>
            </a:lvl9pPr>
          </a:lstStyle>
          <a:p>
            <a:endParaRPr/>
          </a:p>
        </p:txBody>
      </p:sp>
      <p:sp>
        <p:nvSpPr>
          <p:cNvPr id="89" name="Google Shape;89;p15"/>
          <p:cNvSpPr txBox="1">
            <a:spLocks noGrp="1"/>
          </p:cNvSpPr>
          <p:nvPr>
            <p:ph type="subTitle" idx="4"/>
          </p:nvPr>
        </p:nvSpPr>
        <p:spPr>
          <a:xfrm>
            <a:off x="2309700" y="1299125"/>
            <a:ext cx="5622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0" name="Google Shape;90;p15"/>
          <p:cNvSpPr txBox="1">
            <a:spLocks noGrp="1"/>
          </p:cNvSpPr>
          <p:nvPr>
            <p:ph type="subTitle" idx="5"/>
          </p:nvPr>
        </p:nvSpPr>
        <p:spPr>
          <a:xfrm>
            <a:off x="2309700" y="2442625"/>
            <a:ext cx="5622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 name="Google Shape;91;p15"/>
          <p:cNvSpPr txBox="1">
            <a:spLocks noGrp="1"/>
          </p:cNvSpPr>
          <p:nvPr>
            <p:ph type="subTitle" idx="6"/>
          </p:nvPr>
        </p:nvSpPr>
        <p:spPr>
          <a:xfrm>
            <a:off x="2309700" y="3586125"/>
            <a:ext cx="5622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1">
  <p:cSld name="CUSTOM_6">
    <p:spTree>
      <p:nvGrpSpPr>
        <p:cNvPr id="1" name="Shape 92"/>
        <p:cNvGrpSpPr/>
        <p:nvPr/>
      </p:nvGrpSpPr>
      <p:grpSpPr>
        <a:xfrm>
          <a:off x="0" y="0"/>
          <a:ext cx="0" cy="0"/>
          <a:chOff x="0" y="0"/>
          <a:chExt cx="0" cy="0"/>
        </a:xfrm>
      </p:grpSpPr>
      <p:grpSp>
        <p:nvGrpSpPr>
          <p:cNvPr id="93" name="Google Shape;93;p16"/>
          <p:cNvGrpSpPr/>
          <p:nvPr/>
        </p:nvGrpSpPr>
        <p:grpSpPr>
          <a:xfrm>
            <a:off x="-76200" y="-533400"/>
            <a:ext cx="9282151" cy="5965098"/>
            <a:chOff x="-76200" y="-533400"/>
            <a:chExt cx="9282151" cy="5965098"/>
          </a:xfrm>
        </p:grpSpPr>
        <p:pic>
          <p:nvPicPr>
            <p:cNvPr id="94" name="Google Shape;94;p16"/>
            <p:cNvPicPr preferRelativeResize="0"/>
            <p:nvPr/>
          </p:nvPicPr>
          <p:blipFill rotWithShape="1">
            <a:blip r:embed="rId2">
              <a:alphaModFix/>
            </a:blip>
            <a:srcRect l="51093" t="47042"/>
            <a:stretch/>
          </p:blipFill>
          <p:spPr>
            <a:xfrm>
              <a:off x="7284374" y="4044899"/>
              <a:ext cx="1921577" cy="1386799"/>
            </a:xfrm>
            <a:prstGeom prst="rect">
              <a:avLst/>
            </a:prstGeom>
            <a:noFill/>
            <a:ln>
              <a:noFill/>
            </a:ln>
          </p:spPr>
        </p:pic>
        <p:pic>
          <p:nvPicPr>
            <p:cNvPr id="95" name="Google Shape;95;p16"/>
            <p:cNvPicPr preferRelativeResize="0"/>
            <p:nvPr/>
          </p:nvPicPr>
          <p:blipFill rotWithShape="1">
            <a:blip r:embed="rId2">
              <a:alphaModFix/>
            </a:blip>
            <a:srcRect r="47761" b="19916"/>
            <a:stretch/>
          </p:blipFill>
          <p:spPr>
            <a:xfrm>
              <a:off x="-76200" y="-533400"/>
              <a:ext cx="2300175" cy="2350325"/>
            </a:xfrm>
            <a:prstGeom prst="rect">
              <a:avLst/>
            </a:prstGeom>
            <a:noFill/>
            <a:ln>
              <a:noFill/>
            </a:ln>
          </p:spPr>
        </p:pic>
      </p:grpSp>
      <p:sp>
        <p:nvSpPr>
          <p:cNvPr id="96" name="Google Shape;9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 name="Google Shape;97;p16"/>
          <p:cNvSpPr txBox="1">
            <a:spLocks noGrp="1"/>
          </p:cNvSpPr>
          <p:nvPr>
            <p:ph type="subTitle" idx="1"/>
          </p:nvPr>
        </p:nvSpPr>
        <p:spPr>
          <a:xfrm>
            <a:off x="937625" y="2633975"/>
            <a:ext cx="2175300" cy="166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6"/>
          <p:cNvSpPr txBox="1">
            <a:spLocks noGrp="1"/>
          </p:cNvSpPr>
          <p:nvPr>
            <p:ph type="subTitle" idx="2"/>
          </p:nvPr>
        </p:nvSpPr>
        <p:spPr>
          <a:xfrm>
            <a:off x="3484347" y="2633975"/>
            <a:ext cx="2175300" cy="166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 name="Google Shape;99;p16"/>
          <p:cNvSpPr txBox="1">
            <a:spLocks noGrp="1"/>
          </p:cNvSpPr>
          <p:nvPr>
            <p:ph type="subTitle" idx="3"/>
          </p:nvPr>
        </p:nvSpPr>
        <p:spPr>
          <a:xfrm>
            <a:off x="6031075" y="2633975"/>
            <a:ext cx="2175300" cy="166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0" name="Google Shape;100;p16"/>
          <p:cNvSpPr txBox="1">
            <a:spLocks noGrp="1"/>
          </p:cNvSpPr>
          <p:nvPr>
            <p:ph type="subTitle" idx="4"/>
          </p:nvPr>
        </p:nvSpPr>
        <p:spPr>
          <a:xfrm>
            <a:off x="937625" y="1860350"/>
            <a:ext cx="2175300" cy="756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01" name="Google Shape;101;p16"/>
          <p:cNvSpPr txBox="1">
            <a:spLocks noGrp="1"/>
          </p:cNvSpPr>
          <p:nvPr>
            <p:ph type="subTitle" idx="5"/>
          </p:nvPr>
        </p:nvSpPr>
        <p:spPr>
          <a:xfrm>
            <a:off x="3484350" y="1860350"/>
            <a:ext cx="2175300" cy="756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02" name="Google Shape;102;p16"/>
          <p:cNvSpPr txBox="1">
            <a:spLocks noGrp="1"/>
          </p:cNvSpPr>
          <p:nvPr>
            <p:ph type="subTitle" idx="6"/>
          </p:nvPr>
        </p:nvSpPr>
        <p:spPr>
          <a:xfrm>
            <a:off x="6031075" y="1860350"/>
            <a:ext cx="2175300" cy="756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03"/>
        <p:cNvGrpSpPr/>
        <p:nvPr/>
      </p:nvGrpSpPr>
      <p:grpSpPr>
        <a:xfrm>
          <a:off x="0" y="0"/>
          <a:ext cx="0" cy="0"/>
          <a:chOff x="0" y="0"/>
          <a:chExt cx="0" cy="0"/>
        </a:xfrm>
      </p:grpSpPr>
      <p:grpSp>
        <p:nvGrpSpPr>
          <p:cNvPr id="104" name="Google Shape;104;p17"/>
          <p:cNvGrpSpPr/>
          <p:nvPr/>
        </p:nvGrpSpPr>
        <p:grpSpPr>
          <a:xfrm>
            <a:off x="-76202" y="-76201"/>
            <a:ext cx="9220202" cy="5271991"/>
            <a:chOff x="-76202" y="-76201"/>
            <a:chExt cx="9220202" cy="5271991"/>
          </a:xfrm>
        </p:grpSpPr>
        <p:pic>
          <p:nvPicPr>
            <p:cNvPr id="105" name="Google Shape;105;p17"/>
            <p:cNvPicPr preferRelativeResize="0"/>
            <p:nvPr/>
          </p:nvPicPr>
          <p:blipFill rotWithShape="1">
            <a:blip r:embed="rId2">
              <a:alphaModFix/>
            </a:blip>
            <a:srcRect l="65341" t="44845"/>
            <a:stretch/>
          </p:blipFill>
          <p:spPr>
            <a:xfrm>
              <a:off x="7601324" y="3559514"/>
              <a:ext cx="1542676" cy="1636277"/>
            </a:xfrm>
            <a:prstGeom prst="rect">
              <a:avLst/>
            </a:prstGeom>
            <a:noFill/>
            <a:ln>
              <a:noFill/>
            </a:ln>
          </p:spPr>
        </p:pic>
        <p:pic>
          <p:nvPicPr>
            <p:cNvPr id="106" name="Google Shape;106;p17"/>
            <p:cNvPicPr preferRelativeResize="0"/>
            <p:nvPr/>
          </p:nvPicPr>
          <p:blipFill rotWithShape="1">
            <a:blip r:embed="rId3">
              <a:alphaModFix/>
            </a:blip>
            <a:srcRect l="51093" t="47042"/>
            <a:stretch/>
          </p:blipFill>
          <p:spPr>
            <a:xfrm rot="10800000">
              <a:off x="-76202" y="-76201"/>
              <a:ext cx="1921577" cy="1386799"/>
            </a:xfrm>
            <a:prstGeom prst="rect">
              <a:avLst/>
            </a:prstGeom>
            <a:noFill/>
            <a:ln>
              <a:noFill/>
            </a:ln>
          </p:spPr>
        </p:pic>
      </p:grpSp>
      <p:sp>
        <p:nvSpPr>
          <p:cNvPr id="107" name="Google Shape;10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8" name="Google Shape;108;p17"/>
          <p:cNvSpPr txBox="1">
            <a:spLocks noGrp="1"/>
          </p:cNvSpPr>
          <p:nvPr>
            <p:ph type="subTitle" idx="1"/>
          </p:nvPr>
        </p:nvSpPr>
        <p:spPr>
          <a:xfrm>
            <a:off x="1174475" y="1464925"/>
            <a:ext cx="3123600" cy="373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09" name="Google Shape;109;p17"/>
          <p:cNvSpPr txBox="1">
            <a:spLocks noGrp="1"/>
          </p:cNvSpPr>
          <p:nvPr>
            <p:ph type="subTitle" idx="2"/>
          </p:nvPr>
        </p:nvSpPr>
        <p:spPr>
          <a:xfrm>
            <a:off x="1174475" y="1762525"/>
            <a:ext cx="3123600" cy="103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0" name="Google Shape;110;p17"/>
          <p:cNvSpPr txBox="1">
            <a:spLocks noGrp="1"/>
          </p:cNvSpPr>
          <p:nvPr>
            <p:ph type="subTitle" idx="3"/>
          </p:nvPr>
        </p:nvSpPr>
        <p:spPr>
          <a:xfrm>
            <a:off x="4845965" y="1762525"/>
            <a:ext cx="3123600" cy="103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 name="Google Shape;111;p17"/>
          <p:cNvSpPr txBox="1">
            <a:spLocks noGrp="1"/>
          </p:cNvSpPr>
          <p:nvPr>
            <p:ph type="subTitle" idx="4"/>
          </p:nvPr>
        </p:nvSpPr>
        <p:spPr>
          <a:xfrm>
            <a:off x="1174475" y="3592850"/>
            <a:ext cx="3123600" cy="103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 name="Google Shape;112;p17"/>
          <p:cNvSpPr txBox="1">
            <a:spLocks noGrp="1"/>
          </p:cNvSpPr>
          <p:nvPr>
            <p:ph type="subTitle" idx="5"/>
          </p:nvPr>
        </p:nvSpPr>
        <p:spPr>
          <a:xfrm>
            <a:off x="4845965" y="3592850"/>
            <a:ext cx="3123600" cy="103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3" name="Google Shape;113;p17"/>
          <p:cNvSpPr txBox="1">
            <a:spLocks noGrp="1"/>
          </p:cNvSpPr>
          <p:nvPr>
            <p:ph type="subTitle" idx="6"/>
          </p:nvPr>
        </p:nvSpPr>
        <p:spPr>
          <a:xfrm>
            <a:off x="1174475" y="3291950"/>
            <a:ext cx="3123600" cy="373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14" name="Google Shape;114;p17"/>
          <p:cNvSpPr txBox="1">
            <a:spLocks noGrp="1"/>
          </p:cNvSpPr>
          <p:nvPr>
            <p:ph type="subTitle" idx="7"/>
          </p:nvPr>
        </p:nvSpPr>
        <p:spPr>
          <a:xfrm>
            <a:off x="4845965" y="1464925"/>
            <a:ext cx="3123600" cy="373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15" name="Google Shape;115;p17"/>
          <p:cNvSpPr txBox="1">
            <a:spLocks noGrp="1"/>
          </p:cNvSpPr>
          <p:nvPr>
            <p:ph type="subTitle" idx="8"/>
          </p:nvPr>
        </p:nvSpPr>
        <p:spPr>
          <a:xfrm>
            <a:off x="4845965" y="3291950"/>
            <a:ext cx="3123600" cy="373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16"/>
        <p:cNvGrpSpPr/>
        <p:nvPr/>
      </p:nvGrpSpPr>
      <p:grpSpPr>
        <a:xfrm>
          <a:off x="0" y="0"/>
          <a:ext cx="0" cy="0"/>
          <a:chOff x="0" y="0"/>
          <a:chExt cx="0" cy="0"/>
        </a:xfrm>
      </p:grpSpPr>
      <p:grpSp>
        <p:nvGrpSpPr>
          <p:cNvPr id="117" name="Google Shape;117;p18"/>
          <p:cNvGrpSpPr/>
          <p:nvPr/>
        </p:nvGrpSpPr>
        <p:grpSpPr>
          <a:xfrm>
            <a:off x="-76202" y="-11"/>
            <a:ext cx="9220202" cy="5195802"/>
            <a:chOff x="-76202" y="-11"/>
            <a:chExt cx="9220202" cy="5195802"/>
          </a:xfrm>
        </p:grpSpPr>
        <p:pic>
          <p:nvPicPr>
            <p:cNvPr id="118" name="Google Shape;118;p18"/>
            <p:cNvPicPr preferRelativeResize="0"/>
            <p:nvPr/>
          </p:nvPicPr>
          <p:blipFill rotWithShape="1">
            <a:blip r:embed="rId2">
              <a:alphaModFix/>
            </a:blip>
            <a:srcRect l="65341" t="44845"/>
            <a:stretch/>
          </p:blipFill>
          <p:spPr>
            <a:xfrm flipH="1">
              <a:off x="-76202" y="3559514"/>
              <a:ext cx="1542676" cy="1636277"/>
            </a:xfrm>
            <a:prstGeom prst="rect">
              <a:avLst/>
            </a:prstGeom>
            <a:noFill/>
            <a:ln>
              <a:noFill/>
            </a:ln>
          </p:spPr>
        </p:pic>
        <p:pic>
          <p:nvPicPr>
            <p:cNvPr id="119" name="Google Shape;119;p18"/>
            <p:cNvPicPr preferRelativeResize="0"/>
            <p:nvPr/>
          </p:nvPicPr>
          <p:blipFill rotWithShape="1">
            <a:blip r:embed="rId2">
              <a:alphaModFix/>
            </a:blip>
            <a:srcRect l="65341" t="44845"/>
            <a:stretch/>
          </p:blipFill>
          <p:spPr>
            <a:xfrm rot="-5400000">
              <a:off x="7554523" y="-46811"/>
              <a:ext cx="1542676" cy="1636277"/>
            </a:xfrm>
            <a:prstGeom prst="rect">
              <a:avLst/>
            </a:prstGeom>
            <a:noFill/>
            <a:ln>
              <a:noFill/>
            </a:ln>
          </p:spPr>
        </p:pic>
      </p:grpSp>
      <p:sp>
        <p:nvSpPr>
          <p:cNvPr id="120" name="Google Shape;120;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8"/>
          <p:cNvSpPr txBox="1">
            <a:spLocks noGrp="1"/>
          </p:cNvSpPr>
          <p:nvPr>
            <p:ph type="subTitle" idx="1"/>
          </p:nvPr>
        </p:nvSpPr>
        <p:spPr>
          <a:xfrm>
            <a:off x="719950" y="176260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18"/>
          <p:cNvSpPr txBox="1">
            <a:spLocks noGrp="1"/>
          </p:cNvSpPr>
          <p:nvPr>
            <p:ph type="subTitle" idx="2"/>
          </p:nvPr>
        </p:nvSpPr>
        <p:spPr>
          <a:xfrm>
            <a:off x="3345450" y="176260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18"/>
          <p:cNvSpPr txBox="1">
            <a:spLocks noGrp="1"/>
          </p:cNvSpPr>
          <p:nvPr>
            <p:ph type="subTitle" idx="3"/>
          </p:nvPr>
        </p:nvSpPr>
        <p:spPr>
          <a:xfrm>
            <a:off x="720000" y="359285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4" name="Google Shape;124;p18"/>
          <p:cNvSpPr txBox="1">
            <a:spLocks noGrp="1"/>
          </p:cNvSpPr>
          <p:nvPr>
            <p:ph type="subTitle" idx="4"/>
          </p:nvPr>
        </p:nvSpPr>
        <p:spPr>
          <a:xfrm>
            <a:off x="3345498" y="359285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8"/>
          <p:cNvSpPr txBox="1">
            <a:spLocks noGrp="1"/>
          </p:cNvSpPr>
          <p:nvPr>
            <p:ph type="subTitle" idx="5"/>
          </p:nvPr>
        </p:nvSpPr>
        <p:spPr>
          <a:xfrm>
            <a:off x="5970949" y="176260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8"/>
          <p:cNvSpPr txBox="1">
            <a:spLocks noGrp="1"/>
          </p:cNvSpPr>
          <p:nvPr>
            <p:ph type="subTitle" idx="6"/>
          </p:nvPr>
        </p:nvSpPr>
        <p:spPr>
          <a:xfrm>
            <a:off x="5970996" y="3592850"/>
            <a:ext cx="2453100" cy="10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7" name="Google Shape;127;p18"/>
          <p:cNvSpPr txBox="1">
            <a:spLocks noGrp="1"/>
          </p:cNvSpPr>
          <p:nvPr>
            <p:ph type="subTitle" idx="7"/>
          </p:nvPr>
        </p:nvSpPr>
        <p:spPr>
          <a:xfrm>
            <a:off x="719950" y="1464925"/>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8" name="Google Shape;128;p18"/>
          <p:cNvSpPr txBox="1">
            <a:spLocks noGrp="1"/>
          </p:cNvSpPr>
          <p:nvPr>
            <p:ph type="subTitle" idx="8"/>
          </p:nvPr>
        </p:nvSpPr>
        <p:spPr>
          <a:xfrm>
            <a:off x="3345444" y="1464925"/>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9" name="Google Shape;129;p18"/>
          <p:cNvSpPr txBox="1">
            <a:spLocks noGrp="1"/>
          </p:cNvSpPr>
          <p:nvPr>
            <p:ph type="subTitle" idx="9"/>
          </p:nvPr>
        </p:nvSpPr>
        <p:spPr>
          <a:xfrm>
            <a:off x="5973161" y="1464925"/>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0" name="Google Shape;130;p18"/>
          <p:cNvSpPr txBox="1">
            <a:spLocks noGrp="1"/>
          </p:cNvSpPr>
          <p:nvPr>
            <p:ph type="subTitle" idx="13"/>
          </p:nvPr>
        </p:nvSpPr>
        <p:spPr>
          <a:xfrm>
            <a:off x="720000" y="3291952"/>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1" name="Google Shape;131;p18"/>
          <p:cNvSpPr txBox="1">
            <a:spLocks noGrp="1"/>
          </p:cNvSpPr>
          <p:nvPr>
            <p:ph type="subTitle" idx="14"/>
          </p:nvPr>
        </p:nvSpPr>
        <p:spPr>
          <a:xfrm>
            <a:off x="3345494" y="3291952"/>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32" name="Google Shape;132;p18"/>
          <p:cNvSpPr txBox="1">
            <a:spLocks noGrp="1"/>
          </p:cNvSpPr>
          <p:nvPr>
            <p:ph type="subTitle" idx="15"/>
          </p:nvPr>
        </p:nvSpPr>
        <p:spPr>
          <a:xfrm>
            <a:off x="5973211" y="3291952"/>
            <a:ext cx="24510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200" b="1">
                <a:solidFill>
                  <a:schemeClr val="dk1"/>
                </a:solidFill>
                <a:latin typeface="Tajawal"/>
                <a:ea typeface="Tajawal"/>
                <a:cs typeface="Tajawal"/>
                <a:sym typeface="Tajawa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9">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a:off x="715100" y="445025"/>
            <a:ext cx="7713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pic>
        <p:nvPicPr>
          <p:cNvPr id="135" name="Google Shape;135;p19"/>
          <p:cNvPicPr preferRelativeResize="0"/>
          <p:nvPr/>
        </p:nvPicPr>
        <p:blipFill rotWithShape="1">
          <a:blip r:embed="rId2">
            <a:alphaModFix/>
          </a:blip>
          <a:srcRect l="51093" t="47042"/>
          <a:stretch/>
        </p:blipFill>
        <p:spPr>
          <a:xfrm>
            <a:off x="7284374" y="4044899"/>
            <a:ext cx="1921577" cy="1386799"/>
          </a:xfrm>
          <a:prstGeom prst="rect">
            <a:avLst/>
          </a:prstGeom>
          <a:noFill/>
          <a:ln>
            <a:noFill/>
          </a:ln>
        </p:spPr>
      </p:pic>
      <p:pic>
        <p:nvPicPr>
          <p:cNvPr id="136" name="Google Shape;136;p19"/>
          <p:cNvPicPr preferRelativeResize="0"/>
          <p:nvPr/>
        </p:nvPicPr>
        <p:blipFill rotWithShape="1">
          <a:blip r:embed="rId2">
            <a:alphaModFix/>
          </a:blip>
          <a:srcRect l="51093" t="47042"/>
          <a:stretch/>
        </p:blipFill>
        <p:spPr>
          <a:xfrm rot="10800000">
            <a:off x="-457202" y="-76201"/>
            <a:ext cx="1921577" cy="13867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9_1">
    <p:spTree>
      <p:nvGrpSpPr>
        <p:cNvPr id="1" name="Shape 137"/>
        <p:cNvGrpSpPr/>
        <p:nvPr/>
      </p:nvGrpSpPr>
      <p:grpSpPr>
        <a:xfrm>
          <a:off x="0" y="0"/>
          <a:ext cx="0" cy="0"/>
          <a:chOff x="0" y="0"/>
          <a:chExt cx="0" cy="0"/>
        </a:xfrm>
      </p:grpSpPr>
      <p:sp>
        <p:nvSpPr>
          <p:cNvPr id="138" name="Google Shape;138;p20"/>
          <p:cNvSpPr txBox="1">
            <a:spLocks noGrp="1"/>
          </p:cNvSpPr>
          <p:nvPr>
            <p:ph type="title"/>
          </p:nvPr>
        </p:nvSpPr>
        <p:spPr>
          <a:xfrm>
            <a:off x="715100" y="445025"/>
            <a:ext cx="7713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39" name="Google Shape;139;p20"/>
          <p:cNvPicPr preferRelativeResize="0"/>
          <p:nvPr/>
        </p:nvPicPr>
        <p:blipFill rotWithShape="1">
          <a:blip r:embed="rId2">
            <a:alphaModFix/>
          </a:blip>
          <a:srcRect r="47761" b="19916"/>
          <a:stretch/>
        </p:blipFill>
        <p:spPr>
          <a:xfrm rot="5400000" flipH="1">
            <a:off x="7278325" y="3021775"/>
            <a:ext cx="2300175" cy="2350325"/>
          </a:xfrm>
          <a:prstGeom prst="rect">
            <a:avLst/>
          </a:prstGeom>
          <a:noFill/>
          <a:ln>
            <a:noFill/>
          </a:ln>
        </p:spPr>
      </p:pic>
      <p:pic>
        <p:nvPicPr>
          <p:cNvPr id="140" name="Google Shape;140;p20"/>
          <p:cNvPicPr preferRelativeResize="0"/>
          <p:nvPr/>
        </p:nvPicPr>
        <p:blipFill rotWithShape="1">
          <a:blip r:embed="rId3">
            <a:alphaModFix/>
          </a:blip>
          <a:srcRect r="46856" b="15661"/>
          <a:stretch/>
        </p:blipFill>
        <p:spPr>
          <a:xfrm>
            <a:off x="-229775" y="-698875"/>
            <a:ext cx="2416251" cy="25557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3">
  <p:cSld name="CUSTOM_9_1_1">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715100" y="445025"/>
            <a:ext cx="7713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43" name="Google Shape;143;p21"/>
          <p:cNvPicPr preferRelativeResize="0"/>
          <p:nvPr/>
        </p:nvPicPr>
        <p:blipFill rotWithShape="1">
          <a:blip r:embed="rId2">
            <a:alphaModFix/>
          </a:blip>
          <a:srcRect l="65341" t="44845"/>
          <a:stretch/>
        </p:blipFill>
        <p:spPr>
          <a:xfrm flipH="1">
            <a:off x="-76202" y="3559514"/>
            <a:ext cx="1542676" cy="1636277"/>
          </a:xfrm>
          <a:prstGeom prst="rect">
            <a:avLst/>
          </a:prstGeom>
          <a:noFill/>
          <a:ln>
            <a:noFill/>
          </a:ln>
        </p:spPr>
      </p:pic>
      <p:pic>
        <p:nvPicPr>
          <p:cNvPr id="144" name="Google Shape;144;p21"/>
          <p:cNvPicPr preferRelativeResize="0"/>
          <p:nvPr/>
        </p:nvPicPr>
        <p:blipFill rotWithShape="1">
          <a:blip r:embed="rId3">
            <a:alphaModFix/>
          </a:blip>
          <a:srcRect l="52308" t="18639"/>
          <a:stretch/>
        </p:blipFill>
        <p:spPr>
          <a:xfrm rot="-5400000">
            <a:off x="6906039" y="-514138"/>
            <a:ext cx="2308449" cy="262467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10">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7" name="Google Shape;147;p22"/>
          <p:cNvSpPr txBox="1">
            <a:spLocks noGrp="1"/>
          </p:cNvSpPr>
          <p:nvPr>
            <p:ph type="body" idx="1"/>
          </p:nvPr>
        </p:nvSpPr>
        <p:spPr>
          <a:xfrm>
            <a:off x="720000" y="1152475"/>
            <a:ext cx="7704000" cy="1092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2">
  <p:cSld name="CUSTOM_10_1">
    <p:spTree>
      <p:nvGrpSpPr>
        <p:cNvPr id="1" name="Shape 148"/>
        <p:cNvGrpSpPr/>
        <p:nvPr/>
      </p:nvGrpSpPr>
      <p:grpSpPr>
        <a:xfrm>
          <a:off x="0" y="0"/>
          <a:ext cx="0" cy="0"/>
          <a:chOff x="0" y="0"/>
          <a:chExt cx="0" cy="0"/>
        </a:xfrm>
      </p:grpSpPr>
      <p:pic>
        <p:nvPicPr>
          <p:cNvPr id="149" name="Google Shape;149;p23"/>
          <p:cNvPicPr preferRelativeResize="0"/>
          <p:nvPr/>
        </p:nvPicPr>
        <p:blipFill rotWithShape="1">
          <a:blip r:embed="rId2">
            <a:alphaModFix/>
          </a:blip>
          <a:srcRect r="47761" b="19916"/>
          <a:stretch/>
        </p:blipFill>
        <p:spPr>
          <a:xfrm rot="5400000" flipH="1">
            <a:off x="7278325" y="3021775"/>
            <a:ext cx="2300175" cy="2350325"/>
          </a:xfrm>
          <a:prstGeom prst="rect">
            <a:avLst/>
          </a:prstGeom>
          <a:noFill/>
          <a:ln>
            <a:noFill/>
          </a:ln>
        </p:spPr>
      </p:pic>
      <p:sp>
        <p:nvSpPr>
          <p:cNvPr id="150" name="Google Shape;15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1" name="Google Shape;151;p23"/>
          <p:cNvSpPr txBox="1">
            <a:spLocks noGrp="1"/>
          </p:cNvSpPr>
          <p:nvPr>
            <p:ph type="body" idx="1"/>
          </p:nvPr>
        </p:nvSpPr>
        <p:spPr>
          <a:xfrm>
            <a:off x="720000" y="1152475"/>
            <a:ext cx="3227100" cy="2405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
        <p:nvSpPr>
          <p:cNvPr id="152" name="Google Shape;152;p23"/>
          <p:cNvSpPr txBox="1">
            <a:spLocks noGrp="1"/>
          </p:cNvSpPr>
          <p:nvPr>
            <p:ph type="body" idx="2"/>
          </p:nvPr>
        </p:nvSpPr>
        <p:spPr>
          <a:xfrm>
            <a:off x="4244475" y="1687150"/>
            <a:ext cx="4204200" cy="1870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lvl1pPr>
            <a:lvl2pPr marL="914400" lvl="1" indent="-304800" rtl="0">
              <a:lnSpc>
                <a:spcPct val="115000"/>
              </a:lnSpc>
              <a:spcBef>
                <a:spcPts val="100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53"/>
        <p:cNvGrpSpPr/>
        <p:nvPr/>
      </p:nvGrpSpPr>
      <p:grpSpPr>
        <a:xfrm>
          <a:off x="0" y="0"/>
          <a:ext cx="0" cy="0"/>
          <a:chOff x="0" y="0"/>
          <a:chExt cx="0" cy="0"/>
        </a:xfrm>
      </p:grpSpPr>
      <p:sp>
        <p:nvSpPr>
          <p:cNvPr id="154" name="Google Shape;154;p24"/>
          <p:cNvSpPr txBox="1">
            <a:spLocks noGrp="1"/>
          </p:cNvSpPr>
          <p:nvPr>
            <p:ph type="ctrTitle"/>
          </p:nvPr>
        </p:nvSpPr>
        <p:spPr>
          <a:xfrm>
            <a:off x="2815150" y="669825"/>
            <a:ext cx="3513600" cy="997800"/>
          </a:xfrm>
          <a:prstGeom prst="rect">
            <a:avLst/>
          </a:prstGeom>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5" name="Google Shape;155;p24"/>
          <p:cNvSpPr txBox="1">
            <a:spLocks noGrp="1"/>
          </p:cNvSpPr>
          <p:nvPr>
            <p:ph type="subTitle" idx="1"/>
          </p:nvPr>
        </p:nvSpPr>
        <p:spPr>
          <a:xfrm>
            <a:off x="2815225" y="1707475"/>
            <a:ext cx="3513600" cy="99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56" name="Google Shape;156;p24"/>
          <p:cNvSpPr txBox="1"/>
          <p:nvPr/>
        </p:nvSpPr>
        <p:spPr>
          <a:xfrm>
            <a:off x="2471250" y="3496925"/>
            <a:ext cx="4201500" cy="615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b="1">
                <a:solidFill>
                  <a:schemeClr val="dk1"/>
                </a:solidFill>
                <a:latin typeface="Commissioner"/>
                <a:ea typeface="Commissioner"/>
                <a:cs typeface="Commissioner"/>
                <a:sym typeface="Commissioner"/>
              </a:rPr>
              <a:t>CREDITS:</a:t>
            </a:r>
            <a:r>
              <a:rPr lang="en" sz="1000">
                <a:solidFill>
                  <a:schemeClr val="dk1"/>
                </a:solidFill>
                <a:latin typeface="Commissioner"/>
                <a:ea typeface="Commissioner"/>
                <a:cs typeface="Commissioner"/>
                <a:sym typeface="Commissioner"/>
              </a:rPr>
              <a:t> This presentation template was created by </a:t>
            </a:r>
            <a:r>
              <a:rPr lang="en" sz="1000" b="1" u="sng">
                <a:solidFill>
                  <a:schemeClr val="dk1"/>
                </a:solidFill>
                <a:latin typeface="Commissioner"/>
                <a:ea typeface="Commissioner"/>
                <a:cs typeface="Commissioner"/>
                <a:sym typeface="Commissioner"/>
                <a:hlinkClick r:id="rId2">
                  <a:extLst>
                    <a:ext uri="{A12FA001-AC4F-418D-AE19-62706E023703}">
                      <ahyp:hlinkClr xmlns:ahyp="http://schemas.microsoft.com/office/drawing/2018/hyperlinkcolor" val="tx"/>
                    </a:ext>
                  </a:extLst>
                </a:hlinkClick>
              </a:rPr>
              <a:t>Slidesgo</a:t>
            </a:r>
            <a:r>
              <a:rPr lang="en" sz="1000" b="1" u="sng">
                <a:solidFill>
                  <a:schemeClr val="dk1"/>
                </a:solidFill>
                <a:latin typeface="Commissioner"/>
                <a:ea typeface="Commissioner"/>
                <a:cs typeface="Commissioner"/>
                <a:sym typeface="Commissioner"/>
              </a:rPr>
              <a:t>,</a:t>
            </a:r>
            <a:r>
              <a:rPr lang="en" sz="1000" b="1">
                <a:solidFill>
                  <a:schemeClr val="dk1"/>
                </a:solidFill>
                <a:latin typeface="Commissioner"/>
                <a:ea typeface="Commissioner"/>
                <a:cs typeface="Commissioner"/>
                <a:sym typeface="Commissioner"/>
              </a:rPr>
              <a:t> </a:t>
            </a:r>
            <a:r>
              <a:rPr lang="en" sz="1000">
                <a:solidFill>
                  <a:schemeClr val="dk1"/>
                </a:solidFill>
                <a:latin typeface="Commissioner"/>
                <a:ea typeface="Commissioner"/>
                <a:cs typeface="Commissioner"/>
                <a:sym typeface="Commissioner"/>
              </a:rPr>
              <a:t>and includes icons by </a:t>
            </a:r>
            <a:r>
              <a:rPr lang="en" sz="1000" b="1" u="sng">
                <a:solidFill>
                  <a:schemeClr val="dk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Flaticon</a:t>
            </a:r>
            <a:r>
              <a:rPr lang="en" sz="1000" b="1">
                <a:solidFill>
                  <a:schemeClr val="dk1"/>
                </a:solidFill>
                <a:latin typeface="Commissioner"/>
                <a:ea typeface="Commissioner"/>
                <a:cs typeface="Commissioner"/>
                <a:sym typeface="Commissioner"/>
              </a:rPr>
              <a:t> </a:t>
            </a:r>
            <a:r>
              <a:rPr lang="en" sz="1000">
                <a:solidFill>
                  <a:schemeClr val="dk1"/>
                </a:solidFill>
                <a:latin typeface="Commissioner"/>
                <a:ea typeface="Commissioner"/>
                <a:cs typeface="Commissioner"/>
                <a:sym typeface="Commissioner"/>
              </a:rPr>
              <a:t>and infographics &amp; images by </a:t>
            </a:r>
            <a:r>
              <a:rPr lang="en" sz="10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Freepik</a:t>
            </a:r>
            <a:endParaRPr sz="1000" b="1" u="sng">
              <a:solidFill>
                <a:schemeClr val="dk1"/>
              </a:solidFill>
              <a:highlight>
                <a:srgbClr val="DFDEFC"/>
              </a:highlight>
              <a:latin typeface="Commissioner"/>
              <a:ea typeface="Commissioner"/>
              <a:cs typeface="Commissioner"/>
              <a:sym typeface="Commissione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7"/>
        <p:cNvGrpSpPr/>
        <p:nvPr/>
      </p:nvGrpSpPr>
      <p:grpSpPr>
        <a:xfrm>
          <a:off x="0" y="0"/>
          <a:ext cx="0" cy="0"/>
          <a:chOff x="0" y="0"/>
          <a:chExt cx="0" cy="0"/>
        </a:xfrm>
      </p:grpSpPr>
      <p:grpSp>
        <p:nvGrpSpPr>
          <p:cNvPr id="158" name="Google Shape;158;p25"/>
          <p:cNvGrpSpPr/>
          <p:nvPr/>
        </p:nvGrpSpPr>
        <p:grpSpPr>
          <a:xfrm>
            <a:off x="-76202" y="-110252"/>
            <a:ext cx="9296400" cy="5306042"/>
            <a:chOff x="-76202" y="-110252"/>
            <a:chExt cx="9296400" cy="5306042"/>
          </a:xfrm>
        </p:grpSpPr>
        <p:pic>
          <p:nvPicPr>
            <p:cNvPr id="159" name="Google Shape;159;p25"/>
            <p:cNvPicPr preferRelativeResize="0"/>
            <p:nvPr/>
          </p:nvPicPr>
          <p:blipFill rotWithShape="1">
            <a:blip r:embed="rId2">
              <a:alphaModFix/>
            </a:blip>
            <a:srcRect l="52308" t="18639"/>
            <a:stretch/>
          </p:blipFill>
          <p:spPr>
            <a:xfrm rot="-5400000">
              <a:off x="5908536" y="-322538"/>
              <a:ext cx="3099377" cy="3523949"/>
            </a:xfrm>
            <a:prstGeom prst="rect">
              <a:avLst/>
            </a:prstGeom>
            <a:noFill/>
            <a:ln>
              <a:noFill/>
            </a:ln>
          </p:spPr>
        </p:pic>
        <p:pic>
          <p:nvPicPr>
            <p:cNvPr id="160" name="Google Shape;160;p25"/>
            <p:cNvPicPr preferRelativeResize="0"/>
            <p:nvPr/>
          </p:nvPicPr>
          <p:blipFill rotWithShape="1">
            <a:blip r:embed="rId3">
              <a:alphaModFix/>
            </a:blip>
            <a:srcRect l="65341" t="44845"/>
            <a:stretch/>
          </p:blipFill>
          <p:spPr>
            <a:xfrm flipH="1">
              <a:off x="-76202" y="3559514"/>
              <a:ext cx="1542676" cy="1636277"/>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61"/>
        <p:cNvGrpSpPr/>
        <p:nvPr/>
      </p:nvGrpSpPr>
      <p:grpSpPr>
        <a:xfrm>
          <a:off x="0" y="0"/>
          <a:ext cx="0" cy="0"/>
          <a:chOff x="0" y="0"/>
          <a:chExt cx="0" cy="0"/>
        </a:xfrm>
      </p:grpSpPr>
      <p:grpSp>
        <p:nvGrpSpPr>
          <p:cNvPr id="162" name="Google Shape;162;p26"/>
          <p:cNvGrpSpPr/>
          <p:nvPr/>
        </p:nvGrpSpPr>
        <p:grpSpPr>
          <a:xfrm>
            <a:off x="-76200" y="-76200"/>
            <a:ext cx="9372603" cy="5368076"/>
            <a:chOff x="-76200" y="-76200"/>
            <a:chExt cx="9372603" cy="5368076"/>
          </a:xfrm>
        </p:grpSpPr>
        <p:pic>
          <p:nvPicPr>
            <p:cNvPr id="163" name="Google Shape;163;p26"/>
            <p:cNvPicPr preferRelativeResize="0"/>
            <p:nvPr/>
          </p:nvPicPr>
          <p:blipFill rotWithShape="1">
            <a:blip r:embed="rId2">
              <a:alphaModFix/>
            </a:blip>
            <a:srcRect r="47761" b="19916"/>
            <a:stretch/>
          </p:blipFill>
          <p:spPr>
            <a:xfrm>
              <a:off x="-76200" y="-76200"/>
              <a:ext cx="3072374" cy="3139374"/>
            </a:xfrm>
            <a:prstGeom prst="rect">
              <a:avLst/>
            </a:prstGeom>
            <a:noFill/>
            <a:ln>
              <a:noFill/>
            </a:ln>
          </p:spPr>
        </p:pic>
        <p:pic>
          <p:nvPicPr>
            <p:cNvPr id="164" name="Google Shape;164;p26"/>
            <p:cNvPicPr preferRelativeResize="0"/>
            <p:nvPr/>
          </p:nvPicPr>
          <p:blipFill rotWithShape="1">
            <a:blip r:embed="rId2">
              <a:alphaModFix/>
            </a:blip>
            <a:srcRect l="51093" t="47042"/>
            <a:stretch/>
          </p:blipFill>
          <p:spPr>
            <a:xfrm>
              <a:off x="7401475" y="3924300"/>
              <a:ext cx="1894927" cy="1367576"/>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Tajawal"/>
              <a:buNone/>
              <a:defRPr sz="3000" b="1">
                <a:solidFill>
                  <a:schemeClr val="dk1"/>
                </a:solidFill>
                <a:latin typeface="Tajawal"/>
                <a:ea typeface="Tajawal"/>
                <a:cs typeface="Tajawal"/>
                <a:sym typeface="Tajawal"/>
              </a:defRPr>
            </a:lvl1pPr>
            <a:lvl2pPr lvl="1"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1pPr>
            <a:lvl2pPr marL="914400" lvl="1"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2pPr>
            <a:lvl3pPr marL="1371600" lvl="2"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3pPr>
            <a:lvl4pPr marL="1828800" lvl="3"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4pPr>
            <a:lvl5pPr marL="2286000" lvl="4"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5pPr>
            <a:lvl6pPr marL="2743200" lvl="5"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6pPr>
            <a:lvl7pPr marL="3200400" lvl="6"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7pPr>
            <a:lvl8pPr marL="3657600" lvl="7"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8pPr>
            <a:lvl9pPr marL="4114800" lvl="8" indent="-304800">
              <a:lnSpc>
                <a:spcPct val="100000"/>
              </a:lnSpc>
              <a:spcBef>
                <a:spcPts val="0"/>
              </a:spcBef>
              <a:spcAft>
                <a:spcPts val="0"/>
              </a:spcAft>
              <a:buClr>
                <a:schemeClr val="dk1"/>
              </a:buClr>
              <a:buSzPts val="1200"/>
              <a:buFont typeface="Commissioner"/>
              <a:buChar char="■"/>
              <a:defRPr sz="1200">
                <a:solidFill>
                  <a:schemeClr val="dk1"/>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5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subTitle" idx="1"/>
          </p:nvPr>
        </p:nvSpPr>
        <p:spPr>
          <a:xfrm>
            <a:off x="2279850" y="3940963"/>
            <a:ext cx="4584300" cy="48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t>Lab Demo: Sharifah Azleen Aleesya binti Wan Awat (82938)</a:t>
            </a:r>
            <a:endParaRPr sz="1000" dirty="0"/>
          </a:p>
          <a:p>
            <a:pPr marL="0" lvl="0" indent="0" algn="ctr" rtl="0">
              <a:spcBef>
                <a:spcPts val="0"/>
              </a:spcBef>
              <a:spcAft>
                <a:spcPts val="0"/>
              </a:spcAft>
              <a:buNone/>
            </a:pPr>
            <a:endParaRPr sz="1000" dirty="0"/>
          </a:p>
          <a:p>
            <a:pPr marL="0" lvl="0" indent="0" algn="ctr" rtl="0">
              <a:spcBef>
                <a:spcPts val="0"/>
              </a:spcBef>
              <a:spcAft>
                <a:spcPts val="0"/>
              </a:spcAft>
              <a:buNone/>
            </a:pPr>
            <a:r>
              <a:rPr lang="en" sz="1000" dirty="0"/>
              <a:t>Lecturer: Madam Nurfauza Binti Jali</a:t>
            </a:r>
            <a:endParaRPr sz="1000" dirty="0"/>
          </a:p>
        </p:txBody>
      </p:sp>
      <p:pic>
        <p:nvPicPr>
          <p:cNvPr id="170" name="Google Shape;170;p27"/>
          <p:cNvPicPr preferRelativeResize="0"/>
          <p:nvPr/>
        </p:nvPicPr>
        <p:blipFill rotWithShape="1">
          <a:blip r:embed="rId3">
            <a:alphaModFix/>
          </a:blip>
          <a:srcRect r="47761" b="19916"/>
          <a:stretch/>
        </p:blipFill>
        <p:spPr>
          <a:xfrm>
            <a:off x="0" y="0"/>
            <a:ext cx="2188575" cy="2236300"/>
          </a:xfrm>
          <a:prstGeom prst="rect">
            <a:avLst/>
          </a:prstGeom>
          <a:noFill/>
          <a:ln>
            <a:noFill/>
          </a:ln>
        </p:spPr>
      </p:pic>
      <p:pic>
        <p:nvPicPr>
          <p:cNvPr id="171" name="Google Shape;171;p27"/>
          <p:cNvPicPr preferRelativeResize="0"/>
          <p:nvPr/>
        </p:nvPicPr>
        <p:blipFill rotWithShape="1">
          <a:blip r:embed="rId3">
            <a:alphaModFix/>
          </a:blip>
          <a:srcRect l="51093" t="47042"/>
          <a:stretch/>
        </p:blipFill>
        <p:spPr>
          <a:xfrm>
            <a:off x="7023400" y="3609025"/>
            <a:ext cx="2120602" cy="1530452"/>
          </a:xfrm>
          <a:prstGeom prst="rect">
            <a:avLst/>
          </a:prstGeom>
          <a:noFill/>
          <a:ln>
            <a:noFill/>
          </a:ln>
        </p:spPr>
      </p:pic>
      <p:sp>
        <p:nvSpPr>
          <p:cNvPr id="172" name="Google Shape;172;p27"/>
          <p:cNvSpPr txBox="1">
            <a:spLocks noGrp="1"/>
          </p:cNvSpPr>
          <p:nvPr>
            <p:ph type="ctrTitle"/>
          </p:nvPr>
        </p:nvSpPr>
        <p:spPr>
          <a:xfrm>
            <a:off x="1999950" y="1407625"/>
            <a:ext cx="5144100" cy="220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00" b="0" dirty="0"/>
              <a:t>Lesson 3: Dart Functions &amp; Object-Oriented Programming (OOP)</a:t>
            </a:r>
            <a:endParaRPr sz="3000" b="0" dirty="0"/>
          </a:p>
          <a:p>
            <a:pPr marL="0" lvl="0" indent="0" algn="ctr" rtl="0">
              <a:spcBef>
                <a:spcPts val="0"/>
              </a:spcBef>
              <a:spcAft>
                <a:spcPts val="0"/>
              </a:spcAft>
              <a:buNone/>
            </a:pPr>
            <a:r>
              <a:rPr lang="en" sz="3000" dirty="0"/>
              <a:t> </a:t>
            </a:r>
            <a:endParaRPr sz="3000" dirty="0"/>
          </a:p>
          <a:p>
            <a:pPr marL="0" lvl="0" indent="0" algn="ctr" rtl="0">
              <a:spcBef>
                <a:spcPts val="0"/>
              </a:spcBef>
              <a:spcAft>
                <a:spcPts val="0"/>
              </a:spcAft>
              <a:buNone/>
            </a:pPr>
            <a:r>
              <a:rPr lang="en" sz="2000" b="0" dirty="0">
                <a:solidFill>
                  <a:srgbClr val="470FA7"/>
                </a:solidFill>
              </a:rPr>
              <a:t>TMA3084 - Software Engineering Laboratory</a:t>
            </a:r>
            <a:endParaRPr sz="2000" b="0" dirty="0">
              <a:solidFill>
                <a:srgbClr val="470FA7"/>
              </a:solidFill>
            </a:endParaRPr>
          </a:p>
          <a:p>
            <a:pPr marL="0" lvl="0" indent="0" algn="ctr" rtl="0">
              <a:spcBef>
                <a:spcPts val="0"/>
              </a:spcBef>
              <a:spcAft>
                <a:spcPts val="0"/>
              </a:spcAft>
              <a:buNone/>
            </a:pPr>
            <a:r>
              <a:rPr lang="en" sz="2000" b="0" dirty="0">
                <a:solidFill>
                  <a:srgbClr val="470FA7"/>
                </a:solidFill>
              </a:rPr>
              <a:t>Group 2</a:t>
            </a:r>
            <a:endParaRPr sz="2000" b="0" dirty="0">
              <a:solidFill>
                <a:srgbClr val="470FA7"/>
              </a:solidFill>
            </a:endParaRPr>
          </a:p>
        </p:txBody>
      </p:sp>
      <p:pic>
        <p:nvPicPr>
          <p:cNvPr id="173" name="Google Shape;173;p27"/>
          <p:cNvPicPr preferRelativeResize="0"/>
          <p:nvPr/>
        </p:nvPicPr>
        <p:blipFill>
          <a:blip r:embed="rId4">
            <a:alphaModFix/>
          </a:blip>
          <a:stretch>
            <a:fillRect/>
          </a:stretch>
        </p:blipFill>
        <p:spPr>
          <a:xfrm>
            <a:off x="7339974" y="77975"/>
            <a:ext cx="1724050" cy="377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a:t>
            </a:r>
            <a:r>
              <a:rPr lang="en" b="0">
                <a:solidFill>
                  <a:schemeClr val="accent1"/>
                </a:solidFill>
              </a:rPr>
              <a:t>contents</a:t>
            </a:r>
            <a:endParaRPr b="0">
              <a:solidFill>
                <a:schemeClr val="accent1"/>
              </a:solidFill>
            </a:endParaRPr>
          </a:p>
        </p:txBody>
      </p:sp>
      <p:sp>
        <p:nvSpPr>
          <p:cNvPr id="179" name="Google Shape;179;p28"/>
          <p:cNvSpPr txBox="1">
            <a:spLocks noGrp="1"/>
          </p:cNvSpPr>
          <p:nvPr>
            <p:ph type="title" idx="2"/>
          </p:nvPr>
        </p:nvSpPr>
        <p:spPr>
          <a:xfrm>
            <a:off x="1539763" y="1633275"/>
            <a:ext cx="6660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01</a:t>
            </a:r>
            <a:endParaRPr sz="2400"/>
          </a:p>
        </p:txBody>
      </p:sp>
      <p:sp>
        <p:nvSpPr>
          <p:cNvPr id="180" name="Google Shape;180;p28"/>
          <p:cNvSpPr txBox="1">
            <a:spLocks noGrp="1"/>
          </p:cNvSpPr>
          <p:nvPr>
            <p:ph type="title" idx="4"/>
          </p:nvPr>
        </p:nvSpPr>
        <p:spPr>
          <a:xfrm>
            <a:off x="4239038" y="1633275"/>
            <a:ext cx="6660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02</a:t>
            </a:r>
            <a:endParaRPr sz="2400"/>
          </a:p>
        </p:txBody>
      </p:sp>
      <p:sp>
        <p:nvSpPr>
          <p:cNvPr id="181" name="Google Shape;181;p28"/>
          <p:cNvSpPr txBox="1">
            <a:spLocks noGrp="1"/>
          </p:cNvSpPr>
          <p:nvPr>
            <p:ph type="title" idx="6"/>
          </p:nvPr>
        </p:nvSpPr>
        <p:spPr>
          <a:xfrm>
            <a:off x="6953913" y="1633275"/>
            <a:ext cx="6348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03</a:t>
            </a:r>
            <a:endParaRPr sz="2400"/>
          </a:p>
        </p:txBody>
      </p:sp>
      <p:sp>
        <p:nvSpPr>
          <p:cNvPr id="182" name="Google Shape;182;p28"/>
          <p:cNvSpPr txBox="1">
            <a:spLocks noGrp="1"/>
          </p:cNvSpPr>
          <p:nvPr>
            <p:ph type="subTitle" idx="1"/>
          </p:nvPr>
        </p:nvSpPr>
        <p:spPr>
          <a:xfrm>
            <a:off x="720013" y="2132775"/>
            <a:ext cx="23055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Functions</a:t>
            </a:r>
            <a:endParaRPr sz="1600"/>
          </a:p>
        </p:txBody>
      </p:sp>
      <p:sp>
        <p:nvSpPr>
          <p:cNvPr id="183" name="Google Shape;183;p28"/>
          <p:cNvSpPr txBox="1">
            <a:spLocks noGrp="1"/>
          </p:cNvSpPr>
          <p:nvPr>
            <p:ph type="subTitle" idx="8"/>
          </p:nvPr>
        </p:nvSpPr>
        <p:spPr>
          <a:xfrm>
            <a:off x="3419288" y="2132775"/>
            <a:ext cx="23055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Object-Oriented Programming (OOP)</a:t>
            </a:r>
            <a:endParaRPr sz="1600"/>
          </a:p>
        </p:txBody>
      </p:sp>
      <p:sp>
        <p:nvSpPr>
          <p:cNvPr id="184" name="Google Shape;184;p28"/>
          <p:cNvSpPr txBox="1">
            <a:spLocks noGrp="1"/>
          </p:cNvSpPr>
          <p:nvPr>
            <p:ph type="subTitle" idx="9"/>
          </p:nvPr>
        </p:nvSpPr>
        <p:spPr>
          <a:xfrm>
            <a:off x="6118563" y="2132775"/>
            <a:ext cx="2305500" cy="63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Dart Project Structure and Dart Libraries</a:t>
            </a:r>
            <a:endParaRPr sz="1600"/>
          </a:p>
        </p:txBody>
      </p:sp>
      <p:pic>
        <p:nvPicPr>
          <p:cNvPr id="185" name="Google Shape;185;p28"/>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186" name="Google Shape;186;p28"/>
          <p:cNvSpPr txBox="1">
            <a:spLocks noGrp="1"/>
          </p:cNvSpPr>
          <p:nvPr>
            <p:ph type="title" idx="6"/>
          </p:nvPr>
        </p:nvSpPr>
        <p:spPr>
          <a:xfrm>
            <a:off x="5996151" y="4445350"/>
            <a:ext cx="30330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300"/>
              <a:t>Lab 3: Create a Small Overtime Payment Program</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9"/>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 Functions</a:t>
            </a:r>
            <a:endParaRPr b="0">
              <a:solidFill>
                <a:schemeClr val="accent1"/>
              </a:solidFill>
            </a:endParaRPr>
          </a:p>
        </p:txBody>
      </p:sp>
      <p:sp>
        <p:nvSpPr>
          <p:cNvPr id="192" name="Google Shape;192;p29"/>
          <p:cNvSpPr txBox="1">
            <a:spLocks noGrp="1"/>
          </p:cNvSpPr>
          <p:nvPr>
            <p:ph type="body" idx="1"/>
          </p:nvPr>
        </p:nvSpPr>
        <p:spPr>
          <a:xfrm>
            <a:off x="931775" y="1430725"/>
            <a:ext cx="4029900" cy="27066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dirty="0">
                <a:solidFill>
                  <a:srgbClr val="222222"/>
                </a:solidFill>
                <a:latin typeface="Arial"/>
                <a:ea typeface="Arial"/>
                <a:cs typeface="Arial"/>
                <a:sym typeface="Arial"/>
              </a:rPr>
              <a:t>- Has </a:t>
            </a:r>
            <a:r>
              <a:rPr lang="en" sz="900" b="1" dirty="0">
                <a:solidFill>
                  <a:srgbClr val="222222"/>
                </a:solidFill>
                <a:latin typeface="Arial"/>
                <a:ea typeface="Arial"/>
                <a:cs typeface="Arial"/>
                <a:sym typeface="Arial"/>
              </a:rPr>
              <a:t>a specific name and has a set of programming statements</a:t>
            </a:r>
            <a:r>
              <a:rPr lang="en" sz="900" dirty="0">
                <a:solidFill>
                  <a:srgbClr val="222222"/>
                </a:solidFill>
                <a:latin typeface="Arial"/>
                <a:ea typeface="Arial"/>
                <a:cs typeface="Arial"/>
                <a:sym typeface="Arial"/>
              </a:rPr>
              <a:t>.</a:t>
            </a:r>
            <a:br>
              <a:rPr lang="en" sz="900" dirty="0">
                <a:solidFill>
                  <a:srgbClr val="222222"/>
                </a:solidFill>
                <a:latin typeface="Arial"/>
                <a:ea typeface="Arial"/>
                <a:cs typeface="Arial"/>
                <a:sym typeface="Arial"/>
              </a:rPr>
            </a:br>
            <a:r>
              <a:rPr lang="en" sz="900" dirty="0">
                <a:solidFill>
                  <a:srgbClr val="222222"/>
                </a:solidFill>
                <a:latin typeface="Arial"/>
                <a:ea typeface="Arial"/>
                <a:cs typeface="Arial"/>
                <a:sym typeface="Arial"/>
              </a:rPr>
              <a:t> </a:t>
            </a:r>
            <a:br>
              <a:rPr lang="en" sz="900" dirty="0">
                <a:solidFill>
                  <a:srgbClr val="222222"/>
                </a:solidFill>
                <a:latin typeface="Arial"/>
                <a:ea typeface="Arial"/>
                <a:cs typeface="Arial"/>
                <a:sym typeface="Arial"/>
              </a:rPr>
            </a:br>
            <a:r>
              <a:rPr lang="en" sz="900" dirty="0">
                <a:solidFill>
                  <a:srgbClr val="222222"/>
                </a:solidFill>
                <a:latin typeface="Arial"/>
                <a:ea typeface="Arial"/>
                <a:cs typeface="Arial"/>
                <a:sym typeface="Arial"/>
              </a:rPr>
              <a:t>- Can be </a:t>
            </a:r>
            <a:r>
              <a:rPr lang="en" sz="900" b="1" dirty="0">
                <a:solidFill>
                  <a:srgbClr val="222222"/>
                </a:solidFill>
                <a:latin typeface="Arial"/>
                <a:ea typeface="Arial"/>
                <a:cs typeface="Arial"/>
                <a:sym typeface="Arial"/>
              </a:rPr>
              <a:t>called at any location of the program</a:t>
            </a:r>
            <a:r>
              <a:rPr lang="en" sz="900" dirty="0">
                <a:solidFill>
                  <a:srgbClr val="222222"/>
                </a:solidFill>
                <a:latin typeface="Arial"/>
                <a:ea typeface="Arial"/>
                <a:cs typeface="Arial"/>
                <a:sym typeface="Arial"/>
              </a:rPr>
              <a:t> to run the statements it has and returns a result, or performs some operations.</a:t>
            </a:r>
            <a:br>
              <a:rPr lang="en" sz="900" dirty="0">
                <a:solidFill>
                  <a:srgbClr val="222222"/>
                </a:solidFill>
                <a:latin typeface="Arial"/>
                <a:ea typeface="Arial"/>
                <a:cs typeface="Arial"/>
                <a:sym typeface="Arial"/>
              </a:rPr>
            </a:br>
            <a:br>
              <a:rPr lang="en" sz="900" dirty="0">
                <a:solidFill>
                  <a:srgbClr val="222222"/>
                </a:solidFill>
                <a:latin typeface="Arial"/>
                <a:ea typeface="Arial"/>
                <a:cs typeface="Arial"/>
                <a:sym typeface="Arial"/>
              </a:rPr>
            </a:br>
            <a:r>
              <a:rPr lang="en" sz="900" dirty="0">
                <a:solidFill>
                  <a:srgbClr val="222222"/>
                </a:solidFill>
                <a:latin typeface="Arial"/>
                <a:ea typeface="Arial"/>
                <a:cs typeface="Arial"/>
                <a:sym typeface="Arial"/>
              </a:rPr>
              <a:t>- This process saves time and effort in writing all the function statements one time, then at a certain location of the code call this function by its name to perform a specific procedure or return a value. Also, functions help in organizing the program to structured parts which help in program maintenance and any future modifications.</a:t>
            </a: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dirty="0">
                <a:solidFill>
                  <a:srgbClr val="222222"/>
                </a:solidFill>
                <a:latin typeface="Arial"/>
                <a:ea typeface="Arial"/>
                <a:cs typeface="Arial"/>
                <a:sym typeface="Arial"/>
              </a:rPr>
              <a:t>- Each </a:t>
            </a:r>
            <a:r>
              <a:rPr lang="en" sz="900" b="1" dirty="0">
                <a:solidFill>
                  <a:srgbClr val="222222"/>
                </a:solidFill>
                <a:latin typeface="Arial"/>
                <a:ea typeface="Arial"/>
                <a:cs typeface="Arial"/>
                <a:sym typeface="Arial"/>
              </a:rPr>
              <a:t>function has a unique name</a:t>
            </a:r>
            <a:r>
              <a:rPr lang="en" sz="900" dirty="0">
                <a:solidFill>
                  <a:srgbClr val="222222"/>
                </a:solidFill>
                <a:latin typeface="Arial"/>
                <a:ea typeface="Arial"/>
                <a:cs typeface="Arial"/>
                <a:sym typeface="Arial"/>
              </a:rPr>
              <a:t> which is used to call it inside the Dart program several times </a:t>
            </a:r>
            <a:r>
              <a:rPr lang="en" sz="900" b="1" dirty="0">
                <a:solidFill>
                  <a:srgbClr val="222222"/>
                </a:solidFill>
                <a:latin typeface="Arial"/>
                <a:ea typeface="Arial"/>
                <a:cs typeface="Arial"/>
                <a:sym typeface="Arial"/>
              </a:rPr>
              <a:t>without the need to duplicate statements </a:t>
            </a:r>
            <a:r>
              <a:rPr lang="en" sz="900" dirty="0">
                <a:solidFill>
                  <a:srgbClr val="222222"/>
                </a:solidFill>
                <a:latin typeface="Arial"/>
                <a:ea typeface="Arial"/>
                <a:cs typeface="Arial"/>
                <a:sym typeface="Arial"/>
              </a:rPr>
              <a:t>in multiple source code files.</a:t>
            </a: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dirty="0">
                <a:solidFill>
                  <a:srgbClr val="222222"/>
                </a:solidFill>
                <a:latin typeface="Arial"/>
                <a:ea typeface="Arial"/>
                <a:cs typeface="Arial"/>
                <a:sym typeface="Arial"/>
              </a:rPr>
              <a:t>Most programming languages come with a prewritten set of functions that are kept in a library.</a:t>
            </a: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chemeClr val="dk1"/>
              </a:solidFill>
            </a:endParaRPr>
          </a:p>
        </p:txBody>
      </p:sp>
      <p:pic>
        <p:nvPicPr>
          <p:cNvPr id="193" name="Google Shape;193;p29"/>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194" name="Google Shape;194;p29"/>
          <p:cNvSpPr txBox="1"/>
          <p:nvPr/>
        </p:nvSpPr>
        <p:spPr>
          <a:xfrm>
            <a:off x="5240650" y="1308200"/>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Function Structure</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Main components of a function</a:t>
            </a:r>
            <a:endParaRPr sz="1000">
              <a:solidFill>
                <a:schemeClr val="dk1"/>
              </a:solidFill>
              <a:latin typeface="Commissioner"/>
              <a:ea typeface="Commissioner"/>
              <a:cs typeface="Commissioner"/>
              <a:sym typeface="Commissioner"/>
            </a:endParaRPr>
          </a:p>
        </p:txBody>
      </p:sp>
      <p:pic>
        <p:nvPicPr>
          <p:cNvPr id="195" name="Google Shape;195;p29"/>
          <p:cNvPicPr preferRelativeResize="0"/>
          <p:nvPr/>
        </p:nvPicPr>
        <p:blipFill rotWithShape="1">
          <a:blip r:embed="rId4">
            <a:alphaModFix/>
          </a:blip>
          <a:srcRect/>
          <a:stretch/>
        </p:blipFill>
        <p:spPr>
          <a:xfrm>
            <a:off x="5387412" y="2071250"/>
            <a:ext cx="3600474" cy="997551"/>
          </a:xfrm>
          <a:prstGeom prst="rect">
            <a:avLst/>
          </a:prstGeom>
          <a:noFill/>
          <a:ln>
            <a:noFill/>
          </a:ln>
        </p:spPr>
      </p:pic>
      <p:sp>
        <p:nvSpPr>
          <p:cNvPr id="196" name="Google Shape;196;p29"/>
          <p:cNvSpPr txBox="1"/>
          <p:nvPr/>
        </p:nvSpPr>
        <p:spPr>
          <a:xfrm>
            <a:off x="5311138" y="3251575"/>
            <a:ext cx="3600600" cy="160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Creating a Function </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900">
                <a:solidFill>
                  <a:schemeClr val="dk1"/>
                </a:solidFill>
                <a:latin typeface="Commissioner"/>
                <a:ea typeface="Commissioner"/>
                <a:cs typeface="Commissioner"/>
                <a:sym typeface="Commissioner"/>
              </a:rPr>
              <a:t>If you have </a:t>
            </a:r>
            <a:r>
              <a:rPr lang="en" sz="900" b="1">
                <a:solidFill>
                  <a:schemeClr val="dk1"/>
                </a:solidFill>
                <a:latin typeface="Commissioner"/>
                <a:ea typeface="Commissioner"/>
                <a:cs typeface="Commissioner"/>
                <a:sym typeface="Commissioner"/>
              </a:rPr>
              <a:t>a number of code statements that need to be used more than once</a:t>
            </a:r>
            <a:r>
              <a:rPr lang="en" sz="900">
                <a:solidFill>
                  <a:schemeClr val="dk1"/>
                </a:solidFill>
                <a:latin typeface="Commissioner"/>
                <a:ea typeface="Commissioner"/>
                <a:cs typeface="Commissioner"/>
                <a:sym typeface="Commissioner"/>
              </a:rPr>
              <a:t> within your program, you can </a:t>
            </a:r>
            <a:r>
              <a:rPr lang="en" sz="900" b="1">
                <a:solidFill>
                  <a:schemeClr val="dk1"/>
                </a:solidFill>
                <a:latin typeface="Commissioner"/>
                <a:ea typeface="Commissioner"/>
                <a:cs typeface="Commissioner"/>
                <a:sym typeface="Commissioner"/>
              </a:rPr>
              <a:t>gather them inside a function</a:t>
            </a:r>
            <a:r>
              <a:rPr lang="en" sz="900">
                <a:solidFill>
                  <a:schemeClr val="dk1"/>
                </a:solidFill>
                <a:latin typeface="Commissioner"/>
                <a:ea typeface="Commissioner"/>
                <a:cs typeface="Commissioner"/>
                <a:sym typeface="Commissioner"/>
              </a:rPr>
              <a:t> which has a specific name and then </a:t>
            </a:r>
            <a:r>
              <a:rPr lang="en" sz="900" b="1">
                <a:solidFill>
                  <a:schemeClr val="dk1"/>
                </a:solidFill>
                <a:latin typeface="Commissioner"/>
                <a:ea typeface="Commissioner"/>
                <a:cs typeface="Commissioner"/>
                <a:sym typeface="Commissioner"/>
              </a:rPr>
              <a:t>call this function</a:t>
            </a:r>
            <a:r>
              <a:rPr lang="en" sz="900">
                <a:solidFill>
                  <a:schemeClr val="dk1"/>
                </a:solidFill>
                <a:latin typeface="Commissioner"/>
                <a:ea typeface="Commissioner"/>
                <a:cs typeface="Commissioner"/>
                <a:sym typeface="Commissioner"/>
              </a:rPr>
              <a:t> within the program as many times as needed.</a:t>
            </a:r>
            <a:endParaRPr sz="90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800">
                <a:solidFill>
                  <a:schemeClr val="dk1"/>
                </a:solidFill>
                <a:latin typeface="Commissioner"/>
                <a:ea typeface="Commissioner"/>
                <a:cs typeface="Commissioner"/>
                <a:sym typeface="Commissioner"/>
              </a:rPr>
              <a:t>Example: In the following example, if you run the following code, the compiler will run the code which is in the main function only.</a:t>
            </a:r>
            <a:endParaRPr sz="80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a:solidFill>
                <a:schemeClr val="dk1"/>
              </a:solidFill>
              <a:latin typeface="Commissioner"/>
              <a:ea typeface="Commissioner"/>
              <a:cs typeface="Commissioner"/>
              <a:sym typeface="Commission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a:t>
            </a:r>
            <a:endParaRPr b="0">
              <a:solidFill>
                <a:schemeClr val="accent1"/>
              </a:solidFill>
            </a:endParaRPr>
          </a:p>
        </p:txBody>
      </p:sp>
      <p:pic>
        <p:nvPicPr>
          <p:cNvPr id="202" name="Google Shape;202;p30"/>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203" name="Google Shape;203;p30"/>
          <p:cNvSpPr txBox="1"/>
          <p:nvPr/>
        </p:nvSpPr>
        <p:spPr>
          <a:xfrm>
            <a:off x="1004950" y="1488325"/>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Function Creation</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Example:</a:t>
            </a:r>
            <a:endParaRPr sz="1000">
              <a:solidFill>
                <a:schemeClr val="dk1"/>
              </a:solidFill>
              <a:latin typeface="Commissioner"/>
              <a:ea typeface="Commissioner"/>
              <a:cs typeface="Commissioner"/>
              <a:sym typeface="Commissioner"/>
            </a:endParaRPr>
          </a:p>
        </p:txBody>
      </p:sp>
      <p:pic>
        <p:nvPicPr>
          <p:cNvPr id="204" name="Google Shape;204;p30"/>
          <p:cNvPicPr preferRelativeResize="0"/>
          <p:nvPr/>
        </p:nvPicPr>
        <p:blipFill>
          <a:blip r:embed="rId4">
            <a:alphaModFix/>
          </a:blip>
          <a:stretch>
            <a:fillRect/>
          </a:stretch>
        </p:blipFill>
        <p:spPr>
          <a:xfrm>
            <a:off x="1082675" y="2134825"/>
            <a:ext cx="3610500" cy="1593375"/>
          </a:xfrm>
          <a:prstGeom prst="rect">
            <a:avLst/>
          </a:prstGeom>
          <a:noFill/>
          <a:ln>
            <a:noFill/>
          </a:ln>
        </p:spPr>
      </p:pic>
      <p:pic>
        <p:nvPicPr>
          <p:cNvPr id="205" name="Google Shape;205;p30"/>
          <p:cNvPicPr preferRelativeResize="0"/>
          <p:nvPr/>
        </p:nvPicPr>
        <p:blipFill>
          <a:blip r:embed="rId5">
            <a:alphaModFix/>
          </a:blip>
          <a:stretch>
            <a:fillRect/>
          </a:stretch>
        </p:blipFill>
        <p:spPr>
          <a:xfrm>
            <a:off x="5563478" y="2134813"/>
            <a:ext cx="3204472" cy="1681600"/>
          </a:xfrm>
          <a:prstGeom prst="rect">
            <a:avLst/>
          </a:prstGeom>
          <a:noFill/>
          <a:ln>
            <a:noFill/>
          </a:ln>
        </p:spPr>
      </p:pic>
      <p:sp>
        <p:nvSpPr>
          <p:cNvPr id="206" name="Google Shape;206;p30"/>
          <p:cNvSpPr txBox="1"/>
          <p:nvPr/>
        </p:nvSpPr>
        <p:spPr>
          <a:xfrm>
            <a:off x="1111175" y="3878600"/>
            <a:ext cx="17751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Commissioner"/>
                <a:ea typeface="Commissioner"/>
                <a:cs typeface="Commissioner"/>
                <a:sym typeface="Commissioner"/>
              </a:rPr>
              <a:t>Result will be empty as there is no function being called in main</a:t>
            </a:r>
            <a:endParaRPr sz="1200">
              <a:solidFill>
                <a:schemeClr val="dk1"/>
              </a:solidFill>
              <a:latin typeface="Commissioner"/>
              <a:ea typeface="Commissioner"/>
              <a:cs typeface="Commissioner"/>
              <a:sym typeface="Commissioner"/>
            </a:endParaRPr>
          </a:p>
        </p:txBody>
      </p:sp>
      <p:sp>
        <p:nvSpPr>
          <p:cNvPr id="207" name="Google Shape;207;p30"/>
          <p:cNvSpPr/>
          <p:nvPr/>
        </p:nvSpPr>
        <p:spPr>
          <a:xfrm>
            <a:off x="627391" y="2306200"/>
            <a:ext cx="791250" cy="1984700"/>
          </a:xfrm>
          <a:custGeom>
            <a:avLst/>
            <a:gdLst/>
            <a:ahLst/>
            <a:cxnLst/>
            <a:rect l="l" t="t" r="r" b="b"/>
            <a:pathLst>
              <a:path w="31650" h="79388" extrusionOk="0">
                <a:moveTo>
                  <a:pt x="19910" y="79388"/>
                </a:moveTo>
                <a:cubicBezTo>
                  <a:pt x="13867" y="78182"/>
                  <a:pt x="5571" y="78345"/>
                  <a:pt x="2578" y="72959"/>
                </a:cubicBezTo>
                <a:cubicBezTo>
                  <a:pt x="-1504" y="65612"/>
                  <a:pt x="378" y="56189"/>
                  <a:pt x="901" y="47801"/>
                </a:cubicBezTo>
                <a:cubicBezTo>
                  <a:pt x="1687" y="35198"/>
                  <a:pt x="926" y="20966"/>
                  <a:pt x="8169" y="10622"/>
                </a:cubicBezTo>
                <a:cubicBezTo>
                  <a:pt x="13096" y="3585"/>
                  <a:pt x="23059" y="0"/>
                  <a:pt x="31650" y="0"/>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208" name="Google Shape;208;p30"/>
          <p:cNvSpPr/>
          <p:nvPr/>
        </p:nvSpPr>
        <p:spPr>
          <a:xfrm>
            <a:off x="1409700" y="227822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09" name="Google Shape;209;p30"/>
          <p:cNvSpPr txBox="1"/>
          <p:nvPr/>
        </p:nvSpPr>
        <p:spPr>
          <a:xfrm>
            <a:off x="5709625" y="3878600"/>
            <a:ext cx="17751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Commissioner"/>
                <a:ea typeface="Commissioner"/>
                <a:cs typeface="Commissioner"/>
                <a:sym typeface="Commissioner"/>
              </a:rPr>
              <a:t>Result is displayed after being called in main</a:t>
            </a:r>
            <a:endParaRPr sz="1200">
              <a:solidFill>
                <a:schemeClr val="dk1"/>
              </a:solidFill>
              <a:latin typeface="Commissioner"/>
              <a:ea typeface="Commissioner"/>
              <a:cs typeface="Commissioner"/>
              <a:sym typeface="Commissioner"/>
            </a:endParaRPr>
          </a:p>
        </p:txBody>
      </p:sp>
      <p:sp>
        <p:nvSpPr>
          <p:cNvPr id="210" name="Google Shape;210;p30"/>
          <p:cNvSpPr/>
          <p:nvPr/>
        </p:nvSpPr>
        <p:spPr>
          <a:xfrm>
            <a:off x="5709625" y="224327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11" name="Google Shape;211;p30"/>
          <p:cNvSpPr/>
          <p:nvPr/>
        </p:nvSpPr>
        <p:spPr>
          <a:xfrm>
            <a:off x="5261977" y="2271250"/>
            <a:ext cx="512875" cy="2012900"/>
          </a:xfrm>
          <a:custGeom>
            <a:avLst/>
            <a:gdLst/>
            <a:ahLst/>
            <a:cxnLst/>
            <a:rect l="l" t="t" r="r" b="b"/>
            <a:pathLst>
              <a:path w="20515" h="80516" extrusionOk="0">
                <a:moveTo>
                  <a:pt x="18183" y="0"/>
                </a:moveTo>
                <a:cubicBezTo>
                  <a:pt x="13820" y="0"/>
                  <a:pt x="7834" y="570"/>
                  <a:pt x="5883" y="4472"/>
                </a:cubicBezTo>
                <a:cubicBezTo>
                  <a:pt x="4368" y="7501"/>
                  <a:pt x="5221" y="11230"/>
                  <a:pt x="4486" y="14536"/>
                </a:cubicBezTo>
                <a:cubicBezTo>
                  <a:pt x="2940" y="21493"/>
                  <a:pt x="-879" y="28471"/>
                  <a:pt x="293" y="35501"/>
                </a:cubicBezTo>
                <a:cubicBezTo>
                  <a:pt x="1138" y="40570"/>
                  <a:pt x="4652" y="44846"/>
                  <a:pt x="6163" y="49758"/>
                </a:cubicBezTo>
                <a:cubicBezTo>
                  <a:pt x="8031" y="55830"/>
                  <a:pt x="7561" y="62413"/>
                  <a:pt x="7561" y="68766"/>
                </a:cubicBezTo>
                <a:cubicBezTo>
                  <a:pt x="7561" y="72902"/>
                  <a:pt x="8219" y="79643"/>
                  <a:pt x="12313" y="80227"/>
                </a:cubicBezTo>
                <a:cubicBezTo>
                  <a:pt x="14345" y="80517"/>
                  <a:pt x="20515" y="80507"/>
                  <a:pt x="18463" y="80507"/>
                </a:cubicBezTo>
              </a:path>
            </a:pathLst>
          </a:custGeom>
          <a:noFill/>
          <a:ln w="9525" cap="flat" cmpd="sng">
            <a:solidFill>
              <a:schemeClr val="dk2"/>
            </a:solidFill>
            <a:prstDash val="solid"/>
            <a:round/>
            <a:headEnd type="none" w="med" len="med"/>
            <a:tailEnd type="none" w="med" len="med"/>
          </a:ln>
        </p:spPr>
        <p:txBody>
          <a:bodyPr/>
          <a:lstStyle/>
          <a:p>
            <a:endParaRPr lang="en-MY"/>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31"/>
          <p:cNvPicPr preferRelativeResize="0"/>
          <p:nvPr/>
        </p:nvPicPr>
        <p:blipFill>
          <a:blip r:embed="rId3">
            <a:alphaModFix/>
          </a:blip>
          <a:stretch>
            <a:fillRect/>
          </a:stretch>
        </p:blipFill>
        <p:spPr>
          <a:xfrm>
            <a:off x="1276875" y="2134800"/>
            <a:ext cx="2924226" cy="1469200"/>
          </a:xfrm>
          <a:prstGeom prst="rect">
            <a:avLst/>
          </a:prstGeom>
          <a:noFill/>
          <a:ln>
            <a:noFill/>
          </a:ln>
        </p:spPr>
      </p:pic>
      <p:pic>
        <p:nvPicPr>
          <p:cNvPr id="217" name="Google Shape;217;p31"/>
          <p:cNvPicPr preferRelativeResize="0"/>
          <p:nvPr/>
        </p:nvPicPr>
        <p:blipFill>
          <a:blip r:embed="rId4">
            <a:alphaModFix/>
          </a:blip>
          <a:stretch>
            <a:fillRect/>
          </a:stretch>
        </p:blipFill>
        <p:spPr>
          <a:xfrm>
            <a:off x="5590750" y="2146000"/>
            <a:ext cx="3178175" cy="1446825"/>
          </a:xfrm>
          <a:prstGeom prst="rect">
            <a:avLst/>
          </a:prstGeom>
          <a:noFill/>
          <a:ln>
            <a:noFill/>
          </a:ln>
        </p:spPr>
      </p:pic>
      <p:sp>
        <p:nvSpPr>
          <p:cNvPr id="218" name="Google Shape;218;p31"/>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a:t>
            </a:r>
            <a:endParaRPr b="0">
              <a:solidFill>
                <a:schemeClr val="accent1"/>
              </a:solidFill>
            </a:endParaRPr>
          </a:p>
        </p:txBody>
      </p:sp>
      <p:pic>
        <p:nvPicPr>
          <p:cNvPr id="219" name="Google Shape;219;p31"/>
          <p:cNvPicPr preferRelativeResize="0"/>
          <p:nvPr/>
        </p:nvPicPr>
        <p:blipFill>
          <a:blip r:embed="rId5">
            <a:alphaModFix/>
          </a:blip>
          <a:stretch>
            <a:fillRect/>
          </a:stretch>
        </p:blipFill>
        <p:spPr>
          <a:xfrm>
            <a:off x="7339974" y="77975"/>
            <a:ext cx="1724050" cy="377925"/>
          </a:xfrm>
          <a:prstGeom prst="rect">
            <a:avLst/>
          </a:prstGeom>
          <a:noFill/>
          <a:ln>
            <a:noFill/>
          </a:ln>
        </p:spPr>
      </p:pic>
      <p:sp>
        <p:nvSpPr>
          <p:cNvPr id="220" name="Google Shape;220;p31"/>
          <p:cNvSpPr txBox="1"/>
          <p:nvPr/>
        </p:nvSpPr>
        <p:spPr>
          <a:xfrm>
            <a:off x="1004950" y="1488325"/>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Function Return Data</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Example:</a:t>
            </a:r>
            <a:endParaRPr sz="1000">
              <a:solidFill>
                <a:schemeClr val="dk1"/>
              </a:solidFill>
              <a:latin typeface="Commissioner"/>
              <a:ea typeface="Commissioner"/>
              <a:cs typeface="Commissioner"/>
              <a:sym typeface="Commissioner"/>
            </a:endParaRPr>
          </a:p>
        </p:txBody>
      </p:sp>
      <p:sp>
        <p:nvSpPr>
          <p:cNvPr id="221" name="Google Shape;221;p31"/>
          <p:cNvSpPr txBox="1"/>
          <p:nvPr/>
        </p:nvSpPr>
        <p:spPr>
          <a:xfrm>
            <a:off x="1111175" y="3878600"/>
            <a:ext cx="2816400" cy="800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Result will be empty as the function CourseName() is defined but not called in main(). The program runs but doesn't display anything.</a:t>
            </a:r>
            <a:endParaRPr sz="1000">
              <a:solidFill>
                <a:schemeClr val="dk1"/>
              </a:solidFill>
              <a:latin typeface="Commissioner"/>
              <a:ea typeface="Commissioner"/>
              <a:cs typeface="Commissioner"/>
              <a:sym typeface="Commissioner"/>
            </a:endParaRPr>
          </a:p>
        </p:txBody>
      </p:sp>
      <p:sp>
        <p:nvSpPr>
          <p:cNvPr id="222" name="Google Shape;222;p31"/>
          <p:cNvSpPr/>
          <p:nvPr/>
        </p:nvSpPr>
        <p:spPr>
          <a:xfrm>
            <a:off x="627391" y="2306200"/>
            <a:ext cx="791250" cy="1984700"/>
          </a:xfrm>
          <a:custGeom>
            <a:avLst/>
            <a:gdLst/>
            <a:ahLst/>
            <a:cxnLst/>
            <a:rect l="l" t="t" r="r" b="b"/>
            <a:pathLst>
              <a:path w="31650" h="79388" extrusionOk="0">
                <a:moveTo>
                  <a:pt x="19910" y="79388"/>
                </a:moveTo>
                <a:cubicBezTo>
                  <a:pt x="13867" y="78182"/>
                  <a:pt x="5571" y="78345"/>
                  <a:pt x="2578" y="72959"/>
                </a:cubicBezTo>
                <a:cubicBezTo>
                  <a:pt x="-1504" y="65612"/>
                  <a:pt x="378" y="56189"/>
                  <a:pt x="901" y="47801"/>
                </a:cubicBezTo>
                <a:cubicBezTo>
                  <a:pt x="1687" y="35198"/>
                  <a:pt x="926" y="20966"/>
                  <a:pt x="8169" y="10622"/>
                </a:cubicBezTo>
                <a:cubicBezTo>
                  <a:pt x="13096" y="3585"/>
                  <a:pt x="23059" y="0"/>
                  <a:pt x="31650" y="0"/>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223" name="Google Shape;223;p31"/>
          <p:cNvSpPr/>
          <p:nvPr/>
        </p:nvSpPr>
        <p:spPr>
          <a:xfrm>
            <a:off x="1409700" y="227822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24" name="Google Shape;224;p31"/>
          <p:cNvSpPr txBox="1"/>
          <p:nvPr/>
        </p:nvSpPr>
        <p:spPr>
          <a:xfrm>
            <a:off x="5709625" y="3878600"/>
            <a:ext cx="26766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Result is displayed because </a:t>
            </a:r>
            <a:r>
              <a:rPr lang="en" sz="900">
                <a:solidFill>
                  <a:srgbClr val="188038"/>
                </a:solidFill>
                <a:latin typeface="Roboto Mono"/>
                <a:ea typeface="Roboto Mono"/>
                <a:cs typeface="Roboto Mono"/>
                <a:sym typeface="Roboto Mono"/>
              </a:rPr>
              <a:t>CourseName()</a:t>
            </a:r>
            <a:r>
              <a:rPr lang="en" sz="900"/>
              <a:t> is called in </a:t>
            </a:r>
            <a:r>
              <a:rPr lang="en" sz="900">
                <a:solidFill>
                  <a:srgbClr val="188038"/>
                </a:solidFill>
                <a:latin typeface="Roboto Mono"/>
                <a:ea typeface="Roboto Mono"/>
                <a:cs typeface="Roboto Mono"/>
                <a:sym typeface="Roboto Mono"/>
              </a:rPr>
              <a:t>main()</a:t>
            </a:r>
            <a:r>
              <a:rPr lang="en" sz="900"/>
              <a:t> with </a:t>
            </a:r>
            <a:r>
              <a:rPr lang="en" sz="900">
                <a:solidFill>
                  <a:srgbClr val="188038"/>
                </a:solidFill>
                <a:latin typeface="Roboto Mono"/>
                <a:ea typeface="Roboto Mono"/>
                <a:cs typeface="Roboto Mono"/>
                <a:sym typeface="Roboto Mono"/>
              </a:rPr>
              <a:t>print(CourseName())</a:t>
            </a:r>
            <a:r>
              <a:rPr lang="en" sz="900"/>
              <a:t>. This triggers the function to return the string, which is then printed.</a:t>
            </a:r>
            <a:endParaRPr sz="1000">
              <a:solidFill>
                <a:schemeClr val="dk1"/>
              </a:solidFill>
              <a:latin typeface="Commissioner"/>
              <a:ea typeface="Commissioner"/>
              <a:cs typeface="Commissioner"/>
              <a:sym typeface="Commissioner"/>
            </a:endParaRPr>
          </a:p>
        </p:txBody>
      </p:sp>
      <p:sp>
        <p:nvSpPr>
          <p:cNvPr id="225" name="Google Shape;225;p31"/>
          <p:cNvSpPr/>
          <p:nvPr/>
        </p:nvSpPr>
        <p:spPr>
          <a:xfrm>
            <a:off x="5709625" y="224327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26" name="Google Shape;226;p31"/>
          <p:cNvSpPr/>
          <p:nvPr/>
        </p:nvSpPr>
        <p:spPr>
          <a:xfrm>
            <a:off x="5261977" y="2271250"/>
            <a:ext cx="512875" cy="2012900"/>
          </a:xfrm>
          <a:custGeom>
            <a:avLst/>
            <a:gdLst/>
            <a:ahLst/>
            <a:cxnLst/>
            <a:rect l="l" t="t" r="r" b="b"/>
            <a:pathLst>
              <a:path w="20515" h="80516" extrusionOk="0">
                <a:moveTo>
                  <a:pt x="18183" y="0"/>
                </a:moveTo>
                <a:cubicBezTo>
                  <a:pt x="13820" y="0"/>
                  <a:pt x="7834" y="570"/>
                  <a:pt x="5883" y="4472"/>
                </a:cubicBezTo>
                <a:cubicBezTo>
                  <a:pt x="4368" y="7501"/>
                  <a:pt x="5221" y="11230"/>
                  <a:pt x="4486" y="14536"/>
                </a:cubicBezTo>
                <a:cubicBezTo>
                  <a:pt x="2940" y="21493"/>
                  <a:pt x="-879" y="28471"/>
                  <a:pt x="293" y="35501"/>
                </a:cubicBezTo>
                <a:cubicBezTo>
                  <a:pt x="1138" y="40570"/>
                  <a:pt x="4652" y="44846"/>
                  <a:pt x="6163" y="49758"/>
                </a:cubicBezTo>
                <a:cubicBezTo>
                  <a:pt x="8031" y="55830"/>
                  <a:pt x="7561" y="62413"/>
                  <a:pt x="7561" y="68766"/>
                </a:cubicBezTo>
                <a:cubicBezTo>
                  <a:pt x="7561" y="72902"/>
                  <a:pt x="8219" y="79643"/>
                  <a:pt x="12313" y="80227"/>
                </a:cubicBezTo>
                <a:cubicBezTo>
                  <a:pt x="14345" y="80517"/>
                  <a:pt x="20515" y="80507"/>
                  <a:pt x="18463" y="80507"/>
                </a:cubicBezTo>
              </a:path>
            </a:pathLst>
          </a:custGeom>
          <a:noFill/>
          <a:ln w="9525" cap="flat" cmpd="sng">
            <a:solidFill>
              <a:schemeClr val="dk2"/>
            </a:solidFill>
            <a:prstDash val="solid"/>
            <a:round/>
            <a:headEnd type="none" w="med" len="med"/>
            <a:tailEnd type="none" w="med" len="med"/>
          </a:ln>
        </p:spPr>
        <p:txBody>
          <a:bodyPr/>
          <a:lstStyle/>
          <a:p>
            <a:endParaRPr lang="en-MY"/>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32"/>
          <p:cNvPicPr preferRelativeResize="0"/>
          <p:nvPr/>
        </p:nvPicPr>
        <p:blipFill>
          <a:blip r:embed="rId3">
            <a:alphaModFix/>
          </a:blip>
          <a:stretch>
            <a:fillRect/>
          </a:stretch>
        </p:blipFill>
        <p:spPr>
          <a:xfrm>
            <a:off x="1111175" y="2089825"/>
            <a:ext cx="2921882" cy="1748375"/>
          </a:xfrm>
          <a:prstGeom prst="rect">
            <a:avLst/>
          </a:prstGeom>
          <a:noFill/>
          <a:ln>
            <a:noFill/>
          </a:ln>
        </p:spPr>
      </p:pic>
      <p:pic>
        <p:nvPicPr>
          <p:cNvPr id="232" name="Google Shape;232;p32"/>
          <p:cNvPicPr preferRelativeResize="0"/>
          <p:nvPr/>
        </p:nvPicPr>
        <p:blipFill>
          <a:blip r:embed="rId4">
            <a:alphaModFix/>
          </a:blip>
          <a:stretch>
            <a:fillRect/>
          </a:stretch>
        </p:blipFill>
        <p:spPr>
          <a:xfrm>
            <a:off x="5674650" y="2089815"/>
            <a:ext cx="2676600" cy="1748385"/>
          </a:xfrm>
          <a:prstGeom prst="rect">
            <a:avLst/>
          </a:prstGeom>
          <a:noFill/>
          <a:ln>
            <a:noFill/>
          </a:ln>
        </p:spPr>
      </p:pic>
      <p:sp>
        <p:nvSpPr>
          <p:cNvPr id="233" name="Google Shape;233;p32"/>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a:t>
            </a:r>
            <a:endParaRPr b="0">
              <a:solidFill>
                <a:schemeClr val="accent1"/>
              </a:solidFill>
            </a:endParaRPr>
          </a:p>
        </p:txBody>
      </p:sp>
      <p:pic>
        <p:nvPicPr>
          <p:cNvPr id="234" name="Google Shape;234;p32"/>
          <p:cNvPicPr preferRelativeResize="0"/>
          <p:nvPr/>
        </p:nvPicPr>
        <p:blipFill>
          <a:blip r:embed="rId5">
            <a:alphaModFix/>
          </a:blip>
          <a:stretch>
            <a:fillRect/>
          </a:stretch>
        </p:blipFill>
        <p:spPr>
          <a:xfrm>
            <a:off x="7339974" y="77975"/>
            <a:ext cx="1724050" cy="377925"/>
          </a:xfrm>
          <a:prstGeom prst="rect">
            <a:avLst/>
          </a:prstGeom>
          <a:noFill/>
          <a:ln>
            <a:noFill/>
          </a:ln>
        </p:spPr>
      </p:pic>
      <p:sp>
        <p:nvSpPr>
          <p:cNvPr id="235" name="Google Shape;235;p32"/>
          <p:cNvSpPr txBox="1"/>
          <p:nvPr/>
        </p:nvSpPr>
        <p:spPr>
          <a:xfrm>
            <a:off x="1004950" y="1488325"/>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SumCalculator</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Example 1:</a:t>
            </a:r>
            <a:endParaRPr sz="1000">
              <a:solidFill>
                <a:schemeClr val="dk1"/>
              </a:solidFill>
              <a:latin typeface="Commissioner"/>
              <a:ea typeface="Commissioner"/>
              <a:cs typeface="Commissioner"/>
              <a:sym typeface="Commissioner"/>
            </a:endParaRPr>
          </a:p>
        </p:txBody>
      </p:sp>
      <p:sp>
        <p:nvSpPr>
          <p:cNvPr id="236" name="Google Shape;236;p32"/>
          <p:cNvSpPr txBox="1"/>
          <p:nvPr/>
        </p:nvSpPr>
        <p:spPr>
          <a:xfrm>
            <a:off x="2592725" y="4004400"/>
            <a:ext cx="4018500" cy="8004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In the previous example, it is important to add the </a:t>
            </a:r>
            <a:r>
              <a:rPr lang="en" sz="1000" b="1">
                <a:solidFill>
                  <a:schemeClr val="dk1"/>
                </a:solidFill>
                <a:latin typeface="Commissioner"/>
                <a:ea typeface="Commissioner"/>
                <a:cs typeface="Commissioner"/>
                <a:sym typeface="Commissioner"/>
              </a:rPr>
              <a:t>return command at the end of the SumCalculator function.</a:t>
            </a:r>
            <a:r>
              <a:rPr lang="en" sz="1000">
                <a:solidFill>
                  <a:schemeClr val="dk1"/>
                </a:solidFill>
                <a:latin typeface="Commissioner"/>
                <a:ea typeface="Commissioner"/>
                <a:cs typeface="Commissioner"/>
                <a:sym typeface="Commissioner"/>
              </a:rPr>
              <a:t> This will return the result of the addition operation, variable z, to the location from where the function was called.</a:t>
            </a:r>
            <a:endParaRPr sz="1000">
              <a:solidFill>
                <a:schemeClr val="dk1"/>
              </a:solidFill>
              <a:latin typeface="Commissioner"/>
              <a:ea typeface="Commissioner"/>
              <a:cs typeface="Commissioner"/>
              <a:sym typeface="Commissioner"/>
            </a:endParaRPr>
          </a:p>
        </p:txBody>
      </p:sp>
      <p:sp>
        <p:nvSpPr>
          <p:cNvPr id="237" name="Google Shape;237;p32"/>
          <p:cNvSpPr/>
          <p:nvPr/>
        </p:nvSpPr>
        <p:spPr>
          <a:xfrm>
            <a:off x="1409700" y="227822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38" name="Google Shape;238;p32"/>
          <p:cNvSpPr/>
          <p:nvPr/>
        </p:nvSpPr>
        <p:spPr>
          <a:xfrm>
            <a:off x="5709625" y="2243275"/>
            <a:ext cx="58800" cy="630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39" name="Google Shape;239;p32"/>
          <p:cNvSpPr txBox="1"/>
          <p:nvPr/>
        </p:nvSpPr>
        <p:spPr>
          <a:xfrm>
            <a:off x="5569825" y="1488325"/>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SumCalculator</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Example 2:</a:t>
            </a:r>
            <a:endParaRPr sz="1000">
              <a:solidFill>
                <a:schemeClr val="dk1"/>
              </a:solidFill>
              <a:latin typeface="Commissioner"/>
              <a:ea typeface="Commissioner"/>
              <a:cs typeface="Commissioner"/>
              <a:sym typeface="Commission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3"/>
          <p:cNvSpPr txBox="1">
            <a:spLocks noGrp="1"/>
          </p:cNvSpPr>
          <p:nvPr>
            <p:ph type="title"/>
          </p:nvPr>
        </p:nvSpPr>
        <p:spPr>
          <a:xfrm>
            <a:off x="860249" y="590761"/>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Functions</a:t>
            </a:r>
            <a:endParaRPr b="0" dirty="0">
              <a:solidFill>
                <a:schemeClr val="accent1"/>
              </a:solidFill>
            </a:endParaRPr>
          </a:p>
        </p:txBody>
      </p:sp>
      <p:pic>
        <p:nvPicPr>
          <p:cNvPr id="245" name="Google Shape;245;p33"/>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246" name="Google Shape;246;p33"/>
          <p:cNvSpPr txBox="1"/>
          <p:nvPr/>
        </p:nvSpPr>
        <p:spPr>
          <a:xfrm>
            <a:off x="992758" y="994549"/>
            <a:ext cx="2816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dirty="0">
                <a:solidFill>
                  <a:schemeClr val="dk1"/>
                </a:solidFill>
                <a:latin typeface="Commissioner"/>
                <a:ea typeface="Commissioner"/>
                <a:cs typeface="Commissioner"/>
                <a:sym typeface="Commissioner"/>
              </a:rPr>
              <a:t>Age</a:t>
            </a:r>
            <a:endParaRPr sz="1000" b="1" dirty="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dirty="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dirty="0">
              <a:solidFill>
                <a:schemeClr val="dk1"/>
              </a:solidFill>
              <a:latin typeface="Commissioner"/>
              <a:ea typeface="Commissioner"/>
              <a:cs typeface="Commissioner"/>
              <a:sym typeface="Commissioner"/>
            </a:endParaRPr>
          </a:p>
        </p:txBody>
      </p:sp>
      <p:pic>
        <p:nvPicPr>
          <p:cNvPr id="247" name="Google Shape;247;p33"/>
          <p:cNvPicPr preferRelativeResize="0"/>
          <p:nvPr/>
        </p:nvPicPr>
        <p:blipFill>
          <a:blip r:embed="rId4">
            <a:alphaModFix/>
          </a:blip>
          <a:stretch>
            <a:fillRect/>
          </a:stretch>
        </p:blipFill>
        <p:spPr>
          <a:xfrm>
            <a:off x="992758" y="1532449"/>
            <a:ext cx="4153825" cy="2916525"/>
          </a:xfrm>
          <a:prstGeom prst="rect">
            <a:avLst/>
          </a:prstGeom>
          <a:noFill/>
          <a:ln>
            <a:noFill/>
          </a:ln>
        </p:spPr>
      </p:pic>
      <p:sp>
        <p:nvSpPr>
          <p:cNvPr id="248" name="Google Shape;248;p33"/>
          <p:cNvSpPr txBox="1"/>
          <p:nvPr/>
        </p:nvSpPr>
        <p:spPr>
          <a:xfrm>
            <a:off x="6142078" y="2293010"/>
            <a:ext cx="2222400" cy="1261854"/>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chemeClr val="dk1"/>
                </a:solidFill>
                <a:latin typeface="Commissioner"/>
                <a:ea typeface="Commissioner"/>
                <a:cs typeface="Commissioner"/>
                <a:sym typeface="Commissioner"/>
              </a:rPr>
              <a:t>In the previous function age (x), the variable x is called function parameter. </a:t>
            </a:r>
            <a:br>
              <a:rPr lang="en" sz="1000" dirty="0">
                <a:solidFill>
                  <a:schemeClr val="dk1"/>
                </a:solidFill>
                <a:latin typeface="Commissioner"/>
                <a:ea typeface="Commissioner"/>
                <a:cs typeface="Commissioner"/>
                <a:sym typeface="Commissioner"/>
              </a:rPr>
            </a:br>
            <a:br>
              <a:rPr lang="en" sz="1000" dirty="0">
                <a:solidFill>
                  <a:schemeClr val="dk1"/>
                </a:solidFill>
                <a:latin typeface="Commissioner"/>
                <a:ea typeface="Commissioner"/>
                <a:cs typeface="Commissioner"/>
                <a:sym typeface="Commissioner"/>
              </a:rPr>
            </a:br>
            <a:r>
              <a:rPr lang="en" sz="1000" dirty="0">
                <a:solidFill>
                  <a:schemeClr val="dk1"/>
                </a:solidFill>
                <a:latin typeface="Commissioner"/>
                <a:ea typeface="Commissioner"/>
                <a:cs typeface="Commissioner"/>
                <a:sym typeface="Commissioner"/>
              </a:rPr>
              <a:t>Also, some functions include more than one parameter; for example, SumCalculator(x,y).</a:t>
            </a:r>
            <a:endParaRPr sz="1000" dirty="0">
              <a:solidFill>
                <a:schemeClr val="dk1"/>
              </a:solidFill>
              <a:latin typeface="Commissioner"/>
              <a:ea typeface="Commissioner"/>
              <a:cs typeface="Commissioner"/>
              <a:sym typeface="Commission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a:spLocks noGrp="1"/>
          </p:cNvSpPr>
          <p:nvPr>
            <p:ph type="title"/>
          </p:nvPr>
        </p:nvSpPr>
        <p:spPr>
          <a:xfrm>
            <a:off x="896825" y="651721"/>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Functions</a:t>
            </a:r>
            <a:endParaRPr b="0" dirty="0">
              <a:solidFill>
                <a:schemeClr val="accent1"/>
              </a:solidFill>
            </a:endParaRPr>
          </a:p>
        </p:txBody>
      </p:sp>
      <p:pic>
        <p:nvPicPr>
          <p:cNvPr id="254" name="Google Shape;254;p34"/>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255" name="Google Shape;255;p34"/>
          <p:cNvSpPr txBox="1"/>
          <p:nvPr/>
        </p:nvSpPr>
        <p:spPr>
          <a:xfrm>
            <a:off x="896825" y="1027671"/>
            <a:ext cx="7479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dirty="0">
                <a:solidFill>
                  <a:schemeClr val="dk1"/>
                </a:solidFill>
                <a:latin typeface="Commissioner"/>
                <a:ea typeface="Commissioner"/>
                <a:cs typeface="Commissioner"/>
                <a:sym typeface="Commissioner"/>
              </a:rPr>
              <a:t>Void Function</a:t>
            </a:r>
            <a:endParaRPr sz="1000" b="1" dirty="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dirty="0">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dirty="0">
                <a:solidFill>
                  <a:schemeClr val="dk1"/>
                </a:solidFill>
                <a:latin typeface="Commissioner"/>
                <a:ea typeface="Commissioner"/>
                <a:cs typeface="Commissioner"/>
                <a:sym typeface="Commissioner"/>
              </a:rPr>
              <a:t>A void function returns values by modifying one or more parameters rather than using a return statement. Implicitly, if you don’t add anything before the name of the function, then it is a void function.</a:t>
            </a:r>
            <a:endParaRPr sz="1000" dirty="0">
              <a:solidFill>
                <a:schemeClr val="dk1"/>
              </a:solidFill>
              <a:latin typeface="Commissioner"/>
              <a:ea typeface="Commissioner"/>
              <a:cs typeface="Commissioner"/>
              <a:sym typeface="Commissioner"/>
            </a:endParaRPr>
          </a:p>
        </p:txBody>
      </p:sp>
      <p:pic>
        <p:nvPicPr>
          <p:cNvPr id="256" name="Google Shape;256;p34"/>
          <p:cNvPicPr preferRelativeResize="0"/>
          <p:nvPr/>
        </p:nvPicPr>
        <p:blipFill>
          <a:blip r:embed="rId4">
            <a:alphaModFix/>
          </a:blip>
          <a:stretch>
            <a:fillRect/>
          </a:stretch>
        </p:blipFill>
        <p:spPr>
          <a:xfrm>
            <a:off x="896825" y="1971489"/>
            <a:ext cx="3285342" cy="2549975"/>
          </a:xfrm>
          <a:prstGeom prst="rect">
            <a:avLst/>
          </a:prstGeom>
          <a:noFill/>
          <a:ln>
            <a:noFill/>
          </a:ln>
        </p:spPr>
      </p:pic>
      <p:sp>
        <p:nvSpPr>
          <p:cNvPr id="257" name="Google Shape;257;p34"/>
          <p:cNvSpPr txBox="1"/>
          <p:nvPr/>
        </p:nvSpPr>
        <p:spPr>
          <a:xfrm>
            <a:off x="4762044" y="2245439"/>
            <a:ext cx="3005100" cy="877133"/>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dirty="0">
                <a:solidFill>
                  <a:schemeClr val="dk1"/>
                </a:solidFill>
                <a:latin typeface="Commissioner"/>
                <a:ea typeface="Commissioner"/>
                <a:cs typeface="Commissioner"/>
                <a:sym typeface="Commissioner"/>
              </a:rPr>
              <a:t>void MYFunction(): The void return type indicates that MYFunction() doesn’t return any value.</a:t>
            </a:r>
            <a:br>
              <a:rPr lang="en" sz="900" dirty="0">
                <a:solidFill>
                  <a:schemeClr val="dk1"/>
                </a:solidFill>
                <a:latin typeface="Commissioner"/>
                <a:ea typeface="Commissioner"/>
                <a:cs typeface="Commissioner"/>
                <a:sym typeface="Commissioner"/>
              </a:rPr>
            </a:br>
            <a:br>
              <a:rPr lang="en" sz="900" dirty="0">
                <a:solidFill>
                  <a:schemeClr val="dk1"/>
                </a:solidFill>
                <a:latin typeface="Commissioner"/>
                <a:ea typeface="Commissioner"/>
                <a:cs typeface="Commissioner"/>
                <a:sym typeface="Commissioner"/>
              </a:rPr>
            </a:br>
            <a:r>
              <a:rPr lang="en" sz="900" dirty="0">
                <a:solidFill>
                  <a:schemeClr val="dk1"/>
                </a:solidFill>
                <a:latin typeface="Commissioner"/>
                <a:ea typeface="Commissioner"/>
                <a:cs typeface="Commissioner"/>
                <a:sym typeface="Commissioner"/>
              </a:rPr>
              <a:t> Instead, it performs actions (in this case, printing a message to the console) directly within the function.</a:t>
            </a:r>
            <a:endParaRPr sz="900" dirty="0">
              <a:solidFill>
                <a:schemeClr val="dk1"/>
              </a:solidFill>
              <a:latin typeface="Commissioner"/>
              <a:ea typeface="Commissioner"/>
              <a:cs typeface="Commissioner"/>
              <a:sym typeface="Commissioner"/>
            </a:endParaRPr>
          </a:p>
        </p:txBody>
      </p:sp>
      <p:sp>
        <p:nvSpPr>
          <p:cNvPr id="258" name="Google Shape;258;p34"/>
          <p:cNvSpPr txBox="1"/>
          <p:nvPr/>
        </p:nvSpPr>
        <p:spPr>
          <a:xfrm>
            <a:off x="4829100" y="3439925"/>
            <a:ext cx="3005100" cy="7389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t>Output:</a:t>
            </a:r>
            <a:r>
              <a:rPr lang="en" sz="900"/>
              <a:t> Although </a:t>
            </a:r>
            <a:r>
              <a:rPr lang="en" sz="900">
                <a:solidFill>
                  <a:srgbClr val="188038"/>
                </a:solidFill>
                <a:latin typeface="Roboto Mono"/>
                <a:ea typeface="Roboto Mono"/>
                <a:cs typeface="Roboto Mono"/>
                <a:sym typeface="Roboto Mono"/>
              </a:rPr>
              <a:t>MYFunction()</a:t>
            </a:r>
            <a:r>
              <a:rPr lang="en" sz="900"/>
              <a:t> doesn’t return any value, it still produces output because </a:t>
            </a:r>
            <a:r>
              <a:rPr lang="en" sz="900">
                <a:solidFill>
                  <a:srgbClr val="188038"/>
                </a:solidFill>
                <a:latin typeface="Roboto Mono"/>
                <a:ea typeface="Roboto Mono"/>
                <a:cs typeface="Roboto Mono"/>
                <a:sym typeface="Roboto Mono"/>
              </a:rPr>
              <a:t>print()</a:t>
            </a:r>
            <a:r>
              <a:rPr lang="en" sz="900"/>
              <a:t> statements are executed inside the function. This is a side effect of the function, but not a return value.</a:t>
            </a:r>
            <a:endParaRPr sz="700">
              <a:solidFill>
                <a:schemeClr val="dk1"/>
              </a:solidFill>
              <a:latin typeface="Commissioner"/>
              <a:ea typeface="Commissioner"/>
              <a:cs typeface="Commissioner"/>
              <a:sym typeface="Commissioner"/>
            </a:endParaRPr>
          </a:p>
        </p:txBody>
      </p:sp>
      <p:sp>
        <p:nvSpPr>
          <p:cNvPr id="259" name="Google Shape;259;p34"/>
          <p:cNvSpPr txBox="1"/>
          <p:nvPr/>
        </p:nvSpPr>
        <p:spPr>
          <a:xfrm>
            <a:off x="6064025" y="4417075"/>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188038"/>
                </a:solidFill>
                <a:latin typeface="Roboto Mono"/>
                <a:ea typeface="Roboto Mono"/>
                <a:cs typeface="Roboto Mono"/>
                <a:sym typeface="Roboto Mono"/>
              </a:rPr>
              <a:t>MYFunction()</a:t>
            </a:r>
            <a:r>
              <a:rPr lang="en" sz="800" b="1"/>
              <a:t> works because it's called within </a:t>
            </a:r>
            <a:r>
              <a:rPr lang="en" sz="800" b="1">
                <a:solidFill>
                  <a:srgbClr val="188038"/>
                </a:solidFill>
                <a:latin typeface="Roboto Mono"/>
                <a:ea typeface="Roboto Mono"/>
                <a:cs typeface="Roboto Mono"/>
                <a:sym typeface="Roboto Mono"/>
              </a:rPr>
              <a:t>main()</a:t>
            </a:r>
            <a:r>
              <a:rPr lang="en" sz="800" b="1"/>
              <a:t> and performs the action of printing, but it doesn’t return anything that </a:t>
            </a:r>
            <a:r>
              <a:rPr lang="en" sz="800" b="1">
                <a:solidFill>
                  <a:srgbClr val="188038"/>
                </a:solidFill>
                <a:latin typeface="Roboto Mono"/>
                <a:ea typeface="Roboto Mono"/>
                <a:cs typeface="Roboto Mono"/>
                <a:sym typeface="Roboto Mono"/>
              </a:rPr>
              <a:t>main()</a:t>
            </a:r>
            <a:r>
              <a:rPr lang="en" sz="800" b="1"/>
              <a:t> can use.</a:t>
            </a:r>
            <a:endParaRPr sz="11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5"/>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a:t>
            </a:r>
            <a:endParaRPr b="0">
              <a:solidFill>
                <a:schemeClr val="accent1"/>
              </a:solidFill>
            </a:endParaRPr>
          </a:p>
        </p:txBody>
      </p:sp>
      <p:pic>
        <p:nvPicPr>
          <p:cNvPr id="265" name="Google Shape;265;p35"/>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266" name="Google Shape;266;p35"/>
          <p:cNvSpPr txBox="1"/>
          <p:nvPr/>
        </p:nvSpPr>
        <p:spPr>
          <a:xfrm>
            <a:off x="1004950" y="1488325"/>
            <a:ext cx="74790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Function Returning Expression</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You can use “=&gt;” operator for returning a value in a brief way.</a:t>
            </a:r>
            <a:endParaRPr sz="1000">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1000">
                <a:solidFill>
                  <a:schemeClr val="dk1"/>
                </a:solidFill>
                <a:latin typeface="Commissioner"/>
                <a:ea typeface="Commissioner"/>
                <a:cs typeface="Commissioner"/>
                <a:sym typeface="Commissioner"/>
              </a:rPr>
              <a:t>Example 1:							         Example 2:</a:t>
            </a:r>
            <a:endParaRPr sz="1000">
              <a:solidFill>
                <a:schemeClr val="dk1"/>
              </a:solidFill>
              <a:latin typeface="Commissioner"/>
              <a:ea typeface="Commissioner"/>
              <a:cs typeface="Commissioner"/>
              <a:sym typeface="Commissioner"/>
            </a:endParaRPr>
          </a:p>
        </p:txBody>
      </p:sp>
      <p:pic>
        <p:nvPicPr>
          <p:cNvPr id="267" name="Google Shape;267;p35"/>
          <p:cNvPicPr preferRelativeResize="0"/>
          <p:nvPr/>
        </p:nvPicPr>
        <p:blipFill>
          <a:blip r:embed="rId4">
            <a:alphaModFix/>
          </a:blip>
          <a:stretch>
            <a:fillRect/>
          </a:stretch>
        </p:blipFill>
        <p:spPr>
          <a:xfrm>
            <a:off x="1109800" y="2442625"/>
            <a:ext cx="3083660" cy="2396074"/>
          </a:xfrm>
          <a:prstGeom prst="rect">
            <a:avLst/>
          </a:prstGeom>
          <a:noFill/>
          <a:ln>
            <a:noFill/>
          </a:ln>
        </p:spPr>
      </p:pic>
      <p:pic>
        <p:nvPicPr>
          <p:cNvPr id="268" name="Google Shape;268;p35"/>
          <p:cNvPicPr preferRelativeResize="0"/>
          <p:nvPr/>
        </p:nvPicPr>
        <p:blipFill>
          <a:blip r:embed="rId5">
            <a:alphaModFix/>
          </a:blip>
          <a:stretch>
            <a:fillRect/>
          </a:stretch>
        </p:blipFill>
        <p:spPr>
          <a:xfrm>
            <a:off x="4974835" y="2442625"/>
            <a:ext cx="3605743" cy="2396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896825" y="950425"/>
            <a:ext cx="3982200" cy="5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Functions</a:t>
            </a:r>
            <a:endParaRPr b="0">
              <a:solidFill>
                <a:schemeClr val="accent1"/>
              </a:solidFill>
            </a:endParaRPr>
          </a:p>
        </p:txBody>
      </p:sp>
      <p:pic>
        <p:nvPicPr>
          <p:cNvPr id="274" name="Google Shape;274;p36"/>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275" name="Google Shape;275;p36"/>
          <p:cNvSpPr txBox="1"/>
          <p:nvPr/>
        </p:nvSpPr>
        <p:spPr>
          <a:xfrm>
            <a:off x="1004950" y="1488325"/>
            <a:ext cx="7479000" cy="90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Functions and Variable Scope</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900">
                <a:solidFill>
                  <a:schemeClr val="dk1"/>
                </a:solidFill>
                <a:latin typeface="Commissioner"/>
                <a:ea typeface="Commissioner"/>
                <a:cs typeface="Commissioner"/>
                <a:sym typeface="Commissioner"/>
              </a:rPr>
              <a:t>The location of variables - whether inside or outside the main() or other functions - has an important effect on using these variables and the function return value. The following examples display how the program workflow will be affected if we change the location of variables inside or outside the functions.</a:t>
            </a:r>
            <a:endParaRPr sz="1000">
              <a:solidFill>
                <a:schemeClr val="dk1"/>
              </a:solidFill>
              <a:latin typeface="Commissioner"/>
              <a:ea typeface="Commissioner"/>
              <a:cs typeface="Commissioner"/>
              <a:sym typeface="Commissioner"/>
            </a:endParaRPr>
          </a:p>
        </p:txBody>
      </p:sp>
      <p:pic>
        <p:nvPicPr>
          <p:cNvPr id="276" name="Google Shape;276;p36"/>
          <p:cNvPicPr preferRelativeResize="0"/>
          <p:nvPr/>
        </p:nvPicPr>
        <p:blipFill>
          <a:blip r:embed="rId4">
            <a:alphaModFix/>
          </a:blip>
          <a:stretch>
            <a:fillRect/>
          </a:stretch>
        </p:blipFill>
        <p:spPr>
          <a:xfrm>
            <a:off x="5235900" y="2763050"/>
            <a:ext cx="2942010" cy="1907925"/>
          </a:xfrm>
          <a:prstGeom prst="rect">
            <a:avLst/>
          </a:prstGeom>
          <a:noFill/>
          <a:ln>
            <a:noFill/>
          </a:ln>
        </p:spPr>
      </p:pic>
      <p:pic>
        <p:nvPicPr>
          <p:cNvPr id="277" name="Google Shape;277;p36"/>
          <p:cNvPicPr preferRelativeResize="0"/>
          <p:nvPr/>
        </p:nvPicPr>
        <p:blipFill>
          <a:blip r:embed="rId5">
            <a:alphaModFix/>
          </a:blip>
          <a:stretch>
            <a:fillRect/>
          </a:stretch>
        </p:blipFill>
        <p:spPr>
          <a:xfrm>
            <a:off x="1102850" y="2763050"/>
            <a:ext cx="3057699" cy="1907925"/>
          </a:xfrm>
          <a:prstGeom prst="rect">
            <a:avLst/>
          </a:prstGeom>
          <a:noFill/>
          <a:ln>
            <a:noFill/>
          </a:ln>
        </p:spPr>
      </p:pic>
      <p:sp>
        <p:nvSpPr>
          <p:cNvPr id="278" name="Google Shape;278;p36"/>
          <p:cNvSpPr txBox="1"/>
          <p:nvPr/>
        </p:nvSpPr>
        <p:spPr>
          <a:xfrm>
            <a:off x="1132100" y="2396425"/>
            <a:ext cx="922500" cy="3078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dk1"/>
                </a:solidFill>
                <a:latin typeface="Commissioner"/>
                <a:ea typeface="Commissioner"/>
                <a:cs typeface="Commissioner"/>
                <a:sym typeface="Commissioner"/>
              </a:rPr>
              <a:t>Global Variable</a:t>
            </a:r>
            <a:endParaRPr sz="800">
              <a:solidFill>
                <a:schemeClr val="dk1"/>
              </a:solidFill>
              <a:latin typeface="Commissioner"/>
              <a:ea typeface="Commissioner"/>
              <a:cs typeface="Commissioner"/>
              <a:sym typeface="Commissioner"/>
            </a:endParaRPr>
          </a:p>
        </p:txBody>
      </p:sp>
      <p:sp>
        <p:nvSpPr>
          <p:cNvPr id="279" name="Google Shape;279;p36"/>
          <p:cNvSpPr txBox="1"/>
          <p:nvPr/>
        </p:nvSpPr>
        <p:spPr>
          <a:xfrm>
            <a:off x="5235900" y="2365675"/>
            <a:ext cx="1136400" cy="3693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dk1"/>
                </a:solidFill>
                <a:latin typeface="Commissioner"/>
                <a:ea typeface="Commissioner"/>
                <a:cs typeface="Commissioner"/>
                <a:sym typeface="Commissioner"/>
              </a:rPr>
              <a:t>Local Variable</a:t>
            </a:r>
            <a:endParaRPr sz="800">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400">
                <a:solidFill>
                  <a:schemeClr val="dk1"/>
                </a:solidFill>
                <a:latin typeface="Commissioner"/>
                <a:ea typeface="Commissioner"/>
                <a:cs typeface="Commissioner"/>
                <a:sym typeface="Commissioner"/>
              </a:rPr>
              <a:t>Local variable will be dominant</a:t>
            </a:r>
            <a:endParaRPr sz="400">
              <a:solidFill>
                <a:schemeClr val="dk1"/>
              </a:solidFill>
              <a:latin typeface="Commissioner"/>
              <a:ea typeface="Commissioner"/>
              <a:cs typeface="Commissioner"/>
              <a:sym typeface="Commissioner"/>
            </a:endParaRPr>
          </a:p>
        </p:txBody>
      </p:sp>
      <p:sp>
        <p:nvSpPr>
          <p:cNvPr id="280" name="Google Shape;280;p36"/>
          <p:cNvSpPr/>
          <p:nvPr/>
        </p:nvSpPr>
        <p:spPr>
          <a:xfrm>
            <a:off x="2054600" y="2550775"/>
            <a:ext cx="654575" cy="287125"/>
          </a:xfrm>
          <a:custGeom>
            <a:avLst/>
            <a:gdLst/>
            <a:ahLst/>
            <a:cxnLst/>
            <a:rect l="l" t="t" r="r" b="b"/>
            <a:pathLst>
              <a:path w="26183" h="11485" extrusionOk="0">
                <a:moveTo>
                  <a:pt x="0" y="0"/>
                </a:moveTo>
                <a:cubicBezTo>
                  <a:pt x="5248" y="0"/>
                  <a:pt x="10473" y="843"/>
                  <a:pt x="15654" y="1678"/>
                </a:cubicBezTo>
                <a:cubicBezTo>
                  <a:pt x="19327" y="2270"/>
                  <a:pt x="25095" y="2262"/>
                  <a:pt x="25997" y="5871"/>
                </a:cubicBezTo>
                <a:cubicBezTo>
                  <a:pt x="27491" y="11846"/>
                  <a:pt x="14545" y="11461"/>
                  <a:pt x="8386" y="11461"/>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281" name="Google Shape;281;p36"/>
          <p:cNvSpPr/>
          <p:nvPr/>
        </p:nvSpPr>
        <p:spPr>
          <a:xfrm>
            <a:off x="6170800" y="2508850"/>
            <a:ext cx="574525" cy="1071200"/>
          </a:xfrm>
          <a:custGeom>
            <a:avLst/>
            <a:gdLst/>
            <a:ahLst/>
            <a:cxnLst/>
            <a:rect l="l" t="t" r="r" b="b"/>
            <a:pathLst>
              <a:path w="22981" h="42848" extrusionOk="0">
                <a:moveTo>
                  <a:pt x="0" y="0"/>
                </a:moveTo>
                <a:cubicBezTo>
                  <a:pt x="11088" y="4754"/>
                  <a:pt x="21441" y="16230"/>
                  <a:pt x="22643" y="28234"/>
                </a:cubicBezTo>
                <a:cubicBezTo>
                  <a:pt x="23009" y="31892"/>
                  <a:pt x="23262" y="36265"/>
                  <a:pt x="20965" y="39135"/>
                </a:cubicBezTo>
                <a:cubicBezTo>
                  <a:pt x="18211" y="42575"/>
                  <a:pt x="12287" y="43607"/>
                  <a:pt x="8107" y="42210"/>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282" name="Google Shape;282;p36"/>
          <p:cNvSpPr/>
          <p:nvPr/>
        </p:nvSpPr>
        <p:spPr>
          <a:xfrm rot="10800000">
            <a:off x="2219350" y="2790800"/>
            <a:ext cx="71400" cy="876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83" name="Google Shape;283;p36"/>
          <p:cNvSpPr/>
          <p:nvPr/>
        </p:nvSpPr>
        <p:spPr>
          <a:xfrm rot="10800000">
            <a:off x="6324625" y="3492450"/>
            <a:ext cx="71400" cy="876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84" name="Google Shape;284;p36"/>
          <p:cNvSpPr/>
          <p:nvPr/>
        </p:nvSpPr>
        <p:spPr>
          <a:xfrm>
            <a:off x="1314450" y="2878400"/>
            <a:ext cx="871500" cy="14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285" name="Google Shape;285;p36"/>
          <p:cNvSpPr/>
          <p:nvPr/>
        </p:nvSpPr>
        <p:spPr>
          <a:xfrm>
            <a:off x="5453125" y="2878400"/>
            <a:ext cx="871500" cy="14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7"/>
          <p:cNvSpPr txBox="1">
            <a:spLocks noGrp="1"/>
          </p:cNvSpPr>
          <p:nvPr>
            <p:ph type="title"/>
          </p:nvPr>
        </p:nvSpPr>
        <p:spPr>
          <a:xfrm>
            <a:off x="896825" y="490775"/>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 Object-Oriented Programming</a:t>
            </a:r>
            <a:endParaRPr b="0">
              <a:solidFill>
                <a:schemeClr val="accent1"/>
              </a:solidFill>
            </a:endParaRPr>
          </a:p>
        </p:txBody>
      </p:sp>
      <p:sp>
        <p:nvSpPr>
          <p:cNvPr id="291" name="Google Shape;291;p37"/>
          <p:cNvSpPr txBox="1">
            <a:spLocks noGrp="1"/>
          </p:cNvSpPr>
          <p:nvPr>
            <p:ph type="body" idx="1"/>
          </p:nvPr>
        </p:nvSpPr>
        <p:spPr>
          <a:xfrm>
            <a:off x="931775" y="1430725"/>
            <a:ext cx="4029900" cy="27066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Object</a:t>
            </a:r>
            <a:endParaRPr sz="900" b="1">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a:solidFill>
                  <a:srgbClr val="222222"/>
                </a:solidFill>
                <a:latin typeface="Arial"/>
                <a:ea typeface="Arial"/>
                <a:cs typeface="Arial"/>
                <a:sym typeface="Arial"/>
              </a:rPr>
              <a:t>Real-world objects share two characteristics: state and behavior. Computers have a state (type, color, speed, capacity) and behavior (processing, playing media, browsing). A car also has a state (current gear, current pedal cadence, and current speed) and behavior (changing gear, changing pedal cadence, applying brakes).</a:t>
            </a: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Class</a:t>
            </a:r>
            <a:endParaRPr sz="900" b="1">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a:solidFill>
                  <a:srgbClr val="222222"/>
                </a:solidFill>
                <a:latin typeface="Arial"/>
                <a:ea typeface="Arial"/>
                <a:cs typeface="Arial"/>
                <a:sym typeface="Arial"/>
              </a:rPr>
              <a:t>A class is a blueprint or prototype (template) from which objects are created. This section defines a class that models the state and behavior of a real-world object. It intentionally focuses on the basics, showing how even a simple class can clearly model state and behavior. Classes are characterized by properties and functions.</a:t>
            </a: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chemeClr val="dk1"/>
              </a:solidFill>
            </a:endParaRPr>
          </a:p>
        </p:txBody>
      </p:sp>
      <p:pic>
        <p:nvPicPr>
          <p:cNvPr id="292" name="Google Shape;292;p37"/>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293" name="Google Shape;293;p37"/>
          <p:cNvPicPr preferRelativeResize="0"/>
          <p:nvPr/>
        </p:nvPicPr>
        <p:blipFill>
          <a:blip r:embed="rId4">
            <a:alphaModFix/>
          </a:blip>
          <a:stretch>
            <a:fillRect/>
          </a:stretch>
        </p:blipFill>
        <p:spPr>
          <a:xfrm>
            <a:off x="5551525" y="1080512"/>
            <a:ext cx="2594200" cy="1870925"/>
          </a:xfrm>
          <a:prstGeom prst="rect">
            <a:avLst/>
          </a:prstGeom>
          <a:noFill/>
          <a:ln>
            <a:noFill/>
          </a:ln>
        </p:spPr>
      </p:pic>
      <p:sp>
        <p:nvSpPr>
          <p:cNvPr id="294" name="Google Shape;294;p37"/>
          <p:cNvSpPr txBox="1"/>
          <p:nvPr/>
        </p:nvSpPr>
        <p:spPr>
          <a:xfrm>
            <a:off x="4961676" y="2921680"/>
            <a:ext cx="1886949" cy="1141308"/>
          </a:xfrm>
          <a:prstGeom prst="rect">
            <a:avLst/>
          </a:prstGeom>
          <a:solidFill>
            <a:schemeClr val="dk2"/>
          </a:solidFill>
          <a:ln>
            <a:noFill/>
          </a:ln>
        </p:spPr>
        <p:txBody>
          <a:bodyPr spcFirstLastPara="1" wrap="square" lIns="91425" tIns="91425" rIns="91425" bIns="91425" anchor="t" anchorCtr="0">
            <a:spAutoFit/>
          </a:bodyPr>
          <a:lstStyle/>
          <a:p>
            <a:pPr marL="12700" lvl="0" indent="0" algn="l" rtl="0">
              <a:spcBef>
                <a:spcPts val="940"/>
              </a:spcBef>
              <a:spcAft>
                <a:spcPts val="0"/>
              </a:spcAft>
              <a:buNone/>
            </a:pPr>
            <a:r>
              <a:rPr lang="en" sz="800" dirty="0"/>
              <a:t>Possible properties for Class = Car</a:t>
            </a:r>
            <a:endParaRPr sz="800" dirty="0"/>
          </a:p>
          <a:p>
            <a:pPr marL="0" lvl="0" indent="0" algn="l" rtl="0">
              <a:spcBef>
                <a:spcPts val="235"/>
              </a:spcBef>
              <a:spcAft>
                <a:spcPts val="0"/>
              </a:spcAft>
              <a:buNone/>
            </a:pPr>
            <a:endParaRPr sz="800" dirty="0"/>
          </a:p>
          <a:p>
            <a:pPr marL="603250" lvl="0" indent="-273050" algn="l" rtl="0">
              <a:spcBef>
                <a:spcPts val="0"/>
              </a:spcBef>
              <a:spcAft>
                <a:spcPts val="0"/>
              </a:spcAft>
              <a:buSzPts val="800"/>
              <a:buFont typeface="Noto Sans Symbols"/>
              <a:buChar char="∙"/>
            </a:pPr>
            <a:r>
              <a:rPr lang="en" sz="800" dirty="0"/>
              <a:t>Price</a:t>
            </a:r>
            <a:endParaRPr sz="800" dirty="0"/>
          </a:p>
          <a:p>
            <a:pPr marL="603250" lvl="0" indent="-273050" algn="l" rtl="0">
              <a:spcBef>
                <a:spcPts val="160"/>
              </a:spcBef>
              <a:spcAft>
                <a:spcPts val="0"/>
              </a:spcAft>
              <a:buSzPts val="800"/>
              <a:buFont typeface="Noto Sans Symbols"/>
              <a:buChar char="∙"/>
            </a:pPr>
            <a:r>
              <a:rPr lang="en" sz="800" dirty="0"/>
              <a:t>Type</a:t>
            </a:r>
            <a:endParaRPr sz="800" dirty="0"/>
          </a:p>
          <a:p>
            <a:pPr marL="603250" lvl="0" indent="-273050" algn="l" rtl="0">
              <a:spcBef>
                <a:spcPts val="160"/>
              </a:spcBef>
              <a:spcAft>
                <a:spcPts val="0"/>
              </a:spcAft>
              <a:buSzPts val="800"/>
              <a:buFont typeface="Noto Sans Symbols"/>
              <a:buChar char="∙"/>
            </a:pPr>
            <a:r>
              <a:rPr lang="en" sz="800" dirty="0"/>
              <a:t>Maximum speed</a:t>
            </a:r>
            <a:endParaRPr sz="800" dirty="0"/>
          </a:p>
          <a:p>
            <a:pPr marL="603250" lvl="0" indent="-273050" algn="l" rtl="0">
              <a:spcBef>
                <a:spcPts val="160"/>
              </a:spcBef>
              <a:spcAft>
                <a:spcPts val="0"/>
              </a:spcAft>
              <a:buSzPts val="800"/>
              <a:buFont typeface="Noto Sans Symbols"/>
              <a:buChar char="∙"/>
            </a:pPr>
            <a:r>
              <a:rPr lang="en" sz="800" dirty="0"/>
              <a:t>Number of seats</a:t>
            </a:r>
            <a:endParaRPr sz="1000" dirty="0"/>
          </a:p>
        </p:txBody>
      </p:sp>
      <p:sp>
        <p:nvSpPr>
          <p:cNvPr id="295" name="Google Shape;295;p37"/>
          <p:cNvSpPr txBox="1"/>
          <p:nvPr/>
        </p:nvSpPr>
        <p:spPr>
          <a:xfrm>
            <a:off x="6982673" y="2951437"/>
            <a:ext cx="1886950" cy="1000244"/>
          </a:xfrm>
          <a:prstGeom prst="rect">
            <a:avLst/>
          </a:prstGeom>
          <a:solidFill>
            <a:schemeClr val="dk2"/>
          </a:solidFill>
          <a:ln>
            <a:noFill/>
          </a:ln>
        </p:spPr>
        <p:txBody>
          <a:bodyPr spcFirstLastPara="1" wrap="square" lIns="91425" tIns="91425" rIns="91425" bIns="91425" anchor="t" anchorCtr="0">
            <a:spAutoFit/>
          </a:bodyPr>
          <a:lstStyle/>
          <a:p>
            <a:pPr marL="63500" lvl="0" indent="0" algn="l" rtl="0">
              <a:spcBef>
                <a:spcPts val="0"/>
              </a:spcBef>
              <a:spcAft>
                <a:spcPts val="0"/>
              </a:spcAft>
              <a:buNone/>
            </a:pPr>
            <a:r>
              <a:rPr lang="en" sz="800" dirty="0"/>
              <a:t>Possible functions</a:t>
            </a:r>
            <a:endParaRPr sz="800" dirty="0"/>
          </a:p>
          <a:p>
            <a:pPr marL="63500" lvl="0" indent="0" algn="l" rtl="0">
              <a:spcBef>
                <a:spcPts val="0"/>
              </a:spcBef>
              <a:spcAft>
                <a:spcPts val="0"/>
              </a:spcAft>
              <a:buNone/>
            </a:pPr>
            <a:endParaRPr sz="800" dirty="0"/>
          </a:p>
          <a:p>
            <a:pPr marL="63500" lvl="0" indent="0" algn="l" rtl="0">
              <a:spcBef>
                <a:spcPts val="0"/>
              </a:spcBef>
              <a:spcAft>
                <a:spcPts val="0"/>
              </a:spcAft>
              <a:buNone/>
            </a:pPr>
            <a:endParaRPr sz="800" dirty="0"/>
          </a:p>
          <a:p>
            <a:pPr marL="603250" lvl="0" indent="-273050" algn="l" rtl="0">
              <a:spcBef>
                <a:spcPts val="160"/>
              </a:spcBef>
              <a:spcAft>
                <a:spcPts val="0"/>
              </a:spcAft>
              <a:buSzPts val="800"/>
              <a:buFont typeface="Noto Sans Symbols"/>
              <a:buChar char="∙"/>
            </a:pPr>
            <a:r>
              <a:rPr lang="en" sz="800" dirty="0"/>
              <a:t>NumberOfSeats</a:t>
            </a:r>
            <a:endParaRPr sz="800" dirty="0"/>
          </a:p>
          <a:p>
            <a:pPr marL="603250" lvl="0" indent="-273050" algn="l" rtl="0">
              <a:spcBef>
                <a:spcPts val="160"/>
              </a:spcBef>
              <a:spcAft>
                <a:spcPts val="0"/>
              </a:spcAft>
              <a:buSzPts val="800"/>
              <a:buFont typeface="Noto Sans Symbols"/>
              <a:buChar char="∙"/>
            </a:pPr>
            <a:r>
              <a:rPr lang="en" sz="800" dirty="0"/>
              <a:t>NumberOfWheels</a:t>
            </a:r>
            <a:endParaRPr sz="800" dirty="0"/>
          </a:p>
          <a:p>
            <a:pPr marL="603250" lvl="0" indent="-273050" algn="l" rtl="0">
              <a:spcBef>
                <a:spcPts val="160"/>
              </a:spcBef>
              <a:spcAft>
                <a:spcPts val="0"/>
              </a:spcAft>
              <a:buSzPts val="800"/>
              <a:buFont typeface="Noto Sans Symbols"/>
              <a:buChar char="∙"/>
            </a:pPr>
            <a:r>
              <a:rPr lang="en" sz="800" dirty="0"/>
              <a:t>getYearBuilt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8"/>
          <p:cNvSpPr txBox="1">
            <a:spLocks noGrp="1"/>
          </p:cNvSpPr>
          <p:nvPr>
            <p:ph type="title"/>
          </p:nvPr>
        </p:nvSpPr>
        <p:spPr>
          <a:xfrm>
            <a:off x="896825" y="490775"/>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Object-Oriented Programming</a:t>
            </a:r>
            <a:endParaRPr b="0">
              <a:solidFill>
                <a:schemeClr val="accent1"/>
              </a:solidFill>
            </a:endParaRPr>
          </a:p>
        </p:txBody>
      </p:sp>
      <p:sp>
        <p:nvSpPr>
          <p:cNvPr id="301" name="Google Shape;301;p38"/>
          <p:cNvSpPr txBox="1">
            <a:spLocks noGrp="1"/>
          </p:cNvSpPr>
          <p:nvPr>
            <p:ph type="body" idx="1"/>
          </p:nvPr>
        </p:nvSpPr>
        <p:spPr>
          <a:xfrm>
            <a:off x="931775" y="1430725"/>
            <a:ext cx="6154500" cy="27066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Creating a Class</a:t>
            </a:r>
            <a:endParaRPr sz="900" b="1">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Step 1:</a:t>
            </a:r>
            <a:r>
              <a:rPr lang="en" sz="900">
                <a:solidFill>
                  <a:srgbClr val="222222"/>
                </a:solidFill>
                <a:latin typeface="Arial"/>
                <a:ea typeface="Arial"/>
                <a:cs typeface="Arial"/>
                <a:sym typeface="Arial"/>
              </a:rPr>
              <a:t> Declare an empty class called “car”, as illustrated in the following code:</a:t>
            </a: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Step 2:</a:t>
            </a:r>
            <a:r>
              <a:rPr lang="en" sz="900">
                <a:solidFill>
                  <a:srgbClr val="222222"/>
                </a:solidFill>
                <a:latin typeface="Arial"/>
                <a:ea typeface="Arial"/>
                <a:cs typeface="Arial"/>
                <a:sym typeface="Arial"/>
              </a:rPr>
              <a:t> The car class has been created. Now, you may add some properties to this car class as illustrated in the following code: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chemeClr val="dk1"/>
              </a:solidFill>
            </a:endParaRPr>
          </a:p>
        </p:txBody>
      </p:sp>
      <p:pic>
        <p:nvPicPr>
          <p:cNvPr id="302" name="Google Shape;302;p38"/>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03" name="Google Shape;303;p38"/>
          <p:cNvPicPr preferRelativeResize="0"/>
          <p:nvPr/>
        </p:nvPicPr>
        <p:blipFill>
          <a:blip r:embed="rId4">
            <a:alphaModFix/>
          </a:blip>
          <a:stretch>
            <a:fillRect/>
          </a:stretch>
        </p:blipFill>
        <p:spPr>
          <a:xfrm>
            <a:off x="1039925" y="2151275"/>
            <a:ext cx="1672510" cy="701375"/>
          </a:xfrm>
          <a:prstGeom prst="rect">
            <a:avLst/>
          </a:prstGeom>
          <a:noFill/>
          <a:ln>
            <a:noFill/>
          </a:ln>
        </p:spPr>
      </p:pic>
      <p:pic>
        <p:nvPicPr>
          <p:cNvPr id="304" name="Google Shape;304;p38"/>
          <p:cNvPicPr preferRelativeResize="0"/>
          <p:nvPr/>
        </p:nvPicPr>
        <p:blipFill>
          <a:blip r:embed="rId5">
            <a:alphaModFix/>
          </a:blip>
          <a:stretch>
            <a:fillRect/>
          </a:stretch>
        </p:blipFill>
        <p:spPr>
          <a:xfrm>
            <a:off x="1039925" y="3445400"/>
            <a:ext cx="1408875" cy="1037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9"/>
          <p:cNvSpPr txBox="1">
            <a:spLocks noGrp="1"/>
          </p:cNvSpPr>
          <p:nvPr>
            <p:ph type="title"/>
          </p:nvPr>
        </p:nvSpPr>
        <p:spPr>
          <a:xfrm>
            <a:off x="896825" y="490775"/>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Object-Oriented Programming</a:t>
            </a:r>
            <a:endParaRPr b="0">
              <a:solidFill>
                <a:schemeClr val="accent1"/>
              </a:solidFill>
            </a:endParaRPr>
          </a:p>
        </p:txBody>
      </p:sp>
      <p:sp>
        <p:nvSpPr>
          <p:cNvPr id="310" name="Google Shape;310;p39"/>
          <p:cNvSpPr txBox="1">
            <a:spLocks noGrp="1"/>
          </p:cNvSpPr>
          <p:nvPr>
            <p:ph type="body" idx="1"/>
          </p:nvPr>
        </p:nvSpPr>
        <p:spPr>
          <a:xfrm>
            <a:off x="931775" y="1430725"/>
            <a:ext cx="6154500" cy="27066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Creating a Class</a:t>
            </a:r>
            <a:endParaRPr sz="900" b="1">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Step 3: </a:t>
            </a:r>
            <a:r>
              <a:rPr lang="en" sz="900">
                <a:solidFill>
                  <a:srgbClr val="222222"/>
                </a:solidFill>
                <a:latin typeface="Arial"/>
                <a:ea typeface="Arial"/>
                <a:cs typeface="Arial"/>
                <a:sym typeface="Arial"/>
              </a:rPr>
              <a:t>To create an instance of the class or object, use the new keyword followed by the class name. Here, you can create an object depending on the “car” class (blue print) which you have created in step 1, using the following code. toyota is the name of the object which has all car class properties or attributes values.</a:t>
            </a: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chemeClr val="dk1"/>
              </a:solidFill>
            </a:endParaRPr>
          </a:p>
        </p:txBody>
      </p:sp>
      <p:pic>
        <p:nvPicPr>
          <p:cNvPr id="311" name="Google Shape;311;p39"/>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12" name="Google Shape;312;p39"/>
          <p:cNvPicPr preferRelativeResize="0"/>
          <p:nvPr/>
        </p:nvPicPr>
        <p:blipFill>
          <a:blip r:embed="rId4">
            <a:alphaModFix/>
          </a:blip>
          <a:stretch>
            <a:fillRect/>
          </a:stretch>
        </p:blipFill>
        <p:spPr>
          <a:xfrm>
            <a:off x="1033925" y="2473700"/>
            <a:ext cx="1665175" cy="1139325"/>
          </a:xfrm>
          <a:prstGeom prst="rect">
            <a:avLst/>
          </a:prstGeom>
          <a:noFill/>
          <a:ln>
            <a:noFill/>
          </a:ln>
        </p:spPr>
      </p:pic>
      <p:pic>
        <p:nvPicPr>
          <p:cNvPr id="313" name="Google Shape;313;p39"/>
          <p:cNvPicPr preferRelativeResize="0"/>
          <p:nvPr/>
        </p:nvPicPr>
        <p:blipFill>
          <a:blip r:embed="rId5">
            <a:alphaModFix/>
          </a:blip>
          <a:stretch>
            <a:fillRect/>
          </a:stretch>
        </p:blipFill>
        <p:spPr>
          <a:xfrm>
            <a:off x="3843450" y="2473700"/>
            <a:ext cx="4116400" cy="1898850"/>
          </a:xfrm>
          <a:prstGeom prst="rect">
            <a:avLst/>
          </a:prstGeom>
          <a:noFill/>
          <a:ln>
            <a:noFill/>
          </a:ln>
        </p:spPr>
      </p:pic>
      <p:sp>
        <p:nvSpPr>
          <p:cNvPr id="314" name="Google Shape;314;p39"/>
          <p:cNvSpPr/>
          <p:nvPr/>
        </p:nvSpPr>
        <p:spPr>
          <a:xfrm>
            <a:off x="3074925" y="2907200"/>
            <a:ext cx="335400" cy="342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315" name="Google Shape;315;p39"/>
          <p:cNvSpPr txBox="1"/>
          <p:nvPr/>
        </p:nvSpPr>
        <p:spPr>
          <a:xfrm>
            <a:off x="4745200" y="4470375"/>
            <a:ext cx="2676600" cy="461700"/>
          </a:xfrm>
          <a:prstGeom prst="rect">
            <a:avLst/>
          </a:prstGeom>
          <a:solidFill>
            <a:schemeClr val="dk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The toyota object can use all the car class properties</a:t>
            </a:r>
            <a:endParaRPr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0"/>
          <p:cNvSpPr txBox="1">
            <a:spLocks noGrp="1"/>
          </p:cNvSpPr>
          <p:nvPr>
            <p:ph type="title"/>
          </p:nvPr>
        </p:nvSpPr>
        <p:spPr>
          <a:xfrm>
            <a:off x="896825" y="490775"/>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Object-Oriented Programming</a:t>
            </a:r>
            <a:endParaRPr b="0" dirty="0">
              <a:solidFill>
                <a:schemeClr val="accent1"/>
              </a:solidFill>
            </a:endParaRPr>
          </a:p>
        </p:txBody>
      </p:sp>
      <p:sp>
        <p:nvSpPr>
          <p:cNvPr id="321" name="Google Shape;321;p40"/>
          <p:cNvSpPr txBox="1">
            <a:spLocks noGrp="1"/>
          </p:cNvSpPr>
          <p:nvPr>
            <p:ph type="body" idx="1"/>
          </p:nvPr>
        </p:nvSpPr>
        <p:spPr>
          <a:xfrm>
            <a:off x="931775" y="1430725"/>
            <a:ext cx="4281600" cy="30837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a:solidFill>
                  <a:srgbClr val="222222"/>
                </a:solidFill>
                <a:latin typeface="Arial"/>
                <a:ea typeface="Arial"/>
                <a:cs typeface="Arial"/>
                <a:sym typeface="Arial"/>
              </a:rPr>
              <a:t>Creating a Class</a:t>
            </a:r>
            <a:endParaRPr sz="900" b="1">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a:solidFill>
                  <a:srgbClr val="222222"/>
                </a:solidFill>
                <a:latin typeface="Arial"/>
                <a:ea typeface="Arial"/>
                <a:cs typeface="Arial"/>
                <a:sym typeface="Arial"/>
              </a:rPr>
              <a:t>The following code displays the object toyota with some properties values:</a:t>
            </a: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chemeClr val="dk1"/>
              </a:solidFill>
            </a:endParaRPr>
          </a:p>
          <a:p>
            <a:pPr marL="0" marR="163195" lvl="0" indent="0" algn="l" rtl="0">
              <a:lnSpc>
                <a:spcPct val="115000"/>
              </a:lnSpc>
              <a:spcBef>
                <a:spcPts val="1000"/>
              </a:spcBef>
              <a:spcAft>
                <a:spcPts val="0"/>
              </a:spcAft>
              <a:buNone/>
            </a:pPr>
            <a:endParaRPr sz="900">
              <a:solidFill>
                <a:schemeClr val="dk1"/>
              </a:solidFill>
            </a:endParaRPr>
          </a:p>
          <a:p>
            <a:pPr marL="0" marR="163195" lvl="0" indent="0" algn="l" rtl="0">
              <a:lnSpc>
                <a:spcPct val="115000"/>
              </a:lnSpc>
              <a:spcBef>
                <a:spcPts val="1000"/>
              </a:spcBef>
              <a:spcAft>
                <a:spcPts val="0"/>
              </a:spcAft>
              <a:buNone/>
            </a:pPr>
            <a:endParaRPr sz="900">
              <a:solidFill>
                <a:schemeClr val="dk1"/>
              </a:solidFill>
            </a:endParaRPr>
          </a:p>
          <a:p>
            <a:pPr marL="0" marR="163195" lvl="0" indent="0" algn="l" rtl="0">
              <a:lnSpc>
                <a:spcPct val="115000"/>
              </a:lnSpc>
              <a:spcBef>
                <a:spcPts val="1000"/>
              </a:spcBef>
              <a:spcAft>
                <a:spcPts val="0"/>
              </a:spcAft>
              <a:buNone/>
            </a:pPr>
            <a:r>
              <a:rPr lang="en" sz="900">
                <a:solidFill>
                  <a:schemeClr val="dk1"/>
                </a:solidFill>
              </a:rPr>
              <a:t>For example, if you add the following command to the main)( function, you can print a specific attribute or property value (type) of toyota object :</a:t>
            </a:r>
            <a:endParaRPr sz="900">
              <a:solidFill>
                <a:schemeClr val="dk1"/>
              </a:solidFill>
            </a:endParaRPr>
          </a:p>
        </p:txBody>
      </p:sp>
      <p:pic>
        <p:nvPicPr>
          <p:cNvPr id="322" name="Google Shape;322;p40"/>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23" name="Google Shape;323;p40"/>
          <p:cNvPicPr preferRelativeResize="0"/>
          <p:nvPr/>
        </p:nvPicPr>
        <p:blipFill>
          <a:blip r:embed="rId4">
            <a:alphaModFix/>
          </a:blip>
          <a:stretch>
            <a:fillRect/>
          </a:stretch>
        </p:blipFill>
        <p:spPr>
          <a:xfrm>
            <a:off x="1053900" y="2135000"/>
            <a:ext cx="1496875" cy="1709850"/>
          </a:xfrm>
          <a:prstGeom prst="rect">
            <a:avLst/>
          </a:prstGeom>
          <a:noFill/>
          <a:ln>
            <a:noFill/>
          </a:ln>
        </p:spPr>
      </p:pic>
      <p:pic>
        <p:nvPicPr>
          <p:cNvPr id="324" name="Google Shape;324;p40"/>
          <p:cNvPicPr preferRelativeResize="0"/>
          <p:nvPr/>
        </p:nvPicPr>
        <p:blipFill>
          <a:blip r:embed="rId5">
            <a:alphaModFix/>
          </a:blip>
          <a:stretch>
            <a:fillRect/>
          </a:stretch>
        </p:blipFill>
        <p:spPr>
          <a:xfrm>
            <a:off x="5093250" y="2851300"/>
            <a:ext cx="3775099" cy="314475"/>
          </a:xfrm>
          <a:prstGeom prst="rect">
            <a:avLst/>
          </a:prstGeom>
          <a:noFill/>
          <a:ln>
            <a:noFill/>
          </a:ln>
        </p:spPr>
      </p:pic>
      <p:sp>
        <p:nvSpPr>
          <p:cNvPr id="325" name="Google Shape;325;p40"/>
          <p:cNvSpPr txBox="1"/>
          <p:nvPr/>
        </p:nvSpPr>
        <p:spPr>
          <a:xfrm>
            <a:off x="5045650" y="2180375"/>
            <a:ext cx="34803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Commissioner"/>
                <a:ea typeface="Commissioner"/>
                <a:cs typeface="Commissioner"/>
                <a:sym typeface="Commissioner"/>
              </a:rPr>
              <a:t>Possible Errors:</a:t>
            </a:r>
            <a:endParaRPr sz="1000" b="1">
              <a:solidFill>
                <a:schemeClr val="dk1"/>
              </a:solidFill>
              <a:latin typeface="Commissioner"/>
              <a:ea typeface="Commissioner"/>
              <a:cs typeface="Commissioner"/>
              <a:sym typeface="Commissioner"/>
            </a:endParaRPr>
          </a:p>
          <a:p>
            <a:pPr marL="0" lvl="0" indent="0" algn="l" rtl="0">
              <a:spcBef>
                <a:spcPts val="0"/>
              </a:spcBef>
              <a:spcAft>
                <a:spcPts val="0"/>
              </a:spcAft>
              <a:buNone/>
            </a:pPr>
            <a:r>
              <a:rPr lang="en" sz="800">
                <a:solidFill>
                  <a:schemeClr val="dk1"/>
                </a:solidFill>
                <a:latin typeface="Commissioner"/>
                <a:ea typeface="Commissioner"/>
                <a:cs typeface="Commissioner"/>
                <a:sym typeface="Commissioner"/>
              </a:rPr>
              <a:t>Non-nullable fields but are not initialized or marked as late. In Dart, non-nullable fields must either be initialized at their declaration or in the constructor.</a:t>
            </a:r>
            <a:endParaRPr sz="800">
              <a:solidFill>
                <a:schemeClr val="dk1"/>
              </a:solidFill>
              <a:latin typeface="Commissioner"/>
              <a:ea typeface="Commissioner"/>
              <a:cs typeface="Commissioner"/>
              <a:sym typeface="Commissioner"/>
            </a:endParaRPr>
          </a:p>
        </p:txBody>
      </p:sp>
      <p:pic>
        <p:nvPicPr>
          <p:cNvPr id="326" name="Google Shape;326;p40"/>
          <p:cNvPicPr preferRelativeResize="0"/>
          <p:nvPr/>
        </p:nvPicPr>
        <p:blipFill rotWithShape="1">
          <a:blip r:embed="rId6">
            <a:alphaModFix/>
          </a:blip>
          <a:srcRect t="55638" b="37260"/>
          <a:stretch/>
        </p:blipFill>
        <p:spPr>
          <a:xfrm>
            <a:off x="1053900" y="4598400"/>
            <a:ext cx="3349800" cy="181700"/>
          </a:xfrm>
          <a:prstGeom prst="rect">
            <a:avLst/>
          </a:prstGeom>
          <a:noFill/>
          <a:ln>
            <a:noFill/>
          </a:ln>
        </p:spPr>
      </p:pic>
      <p:pic>
        <p:nvPicPr>
          <p:cNvPr id="327" name="Google Shape;327;p40"/>
          <p:cNvPicPr preferRelativeResize="0"/>
          <p:nvPr/>
        </p:nvPicPr>
        <p:blipFill rotWithShape="1">
          <a:blip r:embed="rId6">
            <a:alphaModFix/>
          </a:blip>
          <a:srcRect t="71506"/>
          <a:stretch/>
        </p:blipFill>
        <p:spPr>
          <a:xfrm>
            <a:off x="5274800" y="4123075"/>
            <a:ext cx="3661092" cy="796800"/>
          </a:xfrm>
          <a:prstGeom prst="rect">
            <a:avLst/>
          </a:prstGeom>
          <a:noFill/>
          <a:ln>
            <a:noFill/>
          </a:ln>
        </p:spPr>
      </p:pic>
      <p:sp>
        <p:nvSpPr>
          <p:cNvPr id="328" name="Google Shape;328;p40"/>
          <p:cNvSpPr/>
          <p:nvPr/>
        </p:nvSpPr>
        <p:spPr>
          <a:xfrm>
            <a:off x="4757850" y="4409700"/>
            <a:ext cx="335400" cy="342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1"/>
          <p:cNvSpPr txBox="1">
            <a:spLocks noGrp="1"/>
          </p:cNvSpPr>
          <p:nvPr>
            <p:ph type="title"/>
          </p:nvPr>
        </p:nvSpPr>
        <p:spPr>
          <a:xfrm>
            <a:off x="989200" y="0"/>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Object-Oriented Programming</a:t>
            </a:r>
            <a:endParaRPr b="0" dirty="0">
              <a:solidFill>
                <a:schemeClr val="accent1"/>
              </a:solidFill>
            </a:endParaRPr>
          </a:p>
        </p:txBody>
      </p:sp>
      <p:sp>
        <p:nvSpPr>
          <p:cNvPr id="334" name="Google Shape;334;p41"/>
          <p:cNvSpPr txBox="1">
            <a:spLocks noGrp="1"/>
          </p:cNvSpPr>
          <p:nvPr>
            <p:ph type="body" idx="1"/>
          </p:nvPr>
        </p:nvSpPr>
        <p:spPr>
          <a:xfrm>
            <a:off x="943967" y="771529"/>
            <a:ext cx="4281600" cy="30837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dirty="0">
                <a:solidFill>
                  <a:srgbClr val="222222"/>
                </a:solidFill>
                <a:latin typeface="Arial"/>
                <a:ea typeface="Arial"/>
                <a:cs typeface="Arial"/>
                <a:sym typeface="Arial"/>
              </a:rPr>
              <a:t>What is the correct output?</a:t>
            </a:r>
            <a:endParaRPr sz="900" b="1"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p:txBody>
      </p:sp>
      <p:pic>
        <p:nvPicPr>
          <p:cNvPr id="335" name="Google Shape;335;p41"/>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336" name="Google Shape;336;p41"/>
          <p:cNvSpPr txBox="1"/>
          <p:nvPr/>
        </p:nvSpPr>
        <p:spPr>
          <a:xfrm>
            <a:off x="8043700" y="1012500"/>
            <a:ext cx="573000" cy="369300"/>
          </a:xfrm>
          <a:prstGeom prst="rect">
            <a:avLst/>
          </a:prstGeom>
          <a:solidFill>
            <a:schemeClr val="accen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1"/>
                </a:solidFill>
                <a:latin typeface="Commissioner"/>
                <a:ea typeface="Commissioner"/>
                <a:cs typeface="Commissioner"/>
                <a:sym typeface="Commissioner"/>
              </a:rPr>
              <a:t>Q&amp;A</a:t>
            </a:r>
            <a:endParaRPr sz="1200">
              <a:solidFill>
                <a:schemeClr val="lt1"/>
              </a:solidFill>
              <a:latin typeface="Commissioner"/>
              <a:ea typeface="Commissioner"/>
              <a:cs typeface="Commissioner"/>
              <a:sym typeface="Commissioner"/>
            </a:endParaRPr>
          </a:p>
        </p:txBody>
      </p:sp>
      <p:pic>
        <p:nvPicPr>
          <p:cNvPr id="337" name="Google Shape;337;p41"/>
          <p:cNvPicPr preferRelativeResize="0"/>
          <p:nvPr/>
        </p:nvPicPr>
        <p:blipFill>
          <a:blip r:embed="rId4">
            <a:alphaModFix/>
          </a:blip>
          <a:stretch>
            <a:fillRect/>
          </a:stretch>
        </p:blipFill>
        <p:spPr>
          <a:xfrm>
            <a:off x="989200" y="1329978"/>
            <a:ext cx="3625825" cy="2483543"/>
          </a:xfrm>
          <a:prstGeom prst="rect">
            <a:avLst/>
          </a:prstGeom>
          <a:noFill/>
          <a:ln>
            <a:noFill/>
          </a:ln>
        </p:spPr>
      </p:pic>
      <p:sp>
        <p:nvSpPr>
          <p:cNvPr id="338" name="Google Shape;338;p41"/>
          <p:cNvSpPr txBox="1">
            <a:spLocks noGrp="1"/>
          </p:cNvSpPr>
          <p:nvPr>
            <p:ph type="body" idx="1"/>
          </p:nvPr>
        </p:nvSpPr>
        <p:spPr>
          <a:xfrm>
            <a:off x="5164034" y="1372000"/>
            <a:ext cx="2941200" cy="2379300"/>
          </a:xfrm>
          <a:prstGeom prst="rect">
            <a:avLst/>
          </a:prstGeom>
        </p:spPr>
        <p:txBody>
          <a:bodyPr spcFirstLastPara="1" wrap="square" lIns="91425" tIns="91425" rIns="91425" bIns="91425" anchor="t" anchorCtr="0">
            <a:noAutofit/>
          </a:bodyPr>
          <a:lstStyle/>
          <a:p>
            <a:pPr marL="12700" marR="336550" lvl="0" indent="0" algn="l" rtl="0">
              <a:lnSpc>
                <a:spcPct val="115000"/>
              </a:lnSpc>
              <a:spcBef>
                <a:spcPts val="960"/>
              </a:spcBef>
              <a:spcAft>
                <a:spcPts val="0"/>
              </a:spcAft>
              <a:buNone/>
            </a:pPr>
            <a:r>
              <a:rPr lang="en" sz="900" b="1" dirty="0">
                <a:solidFill>
                  <a:srgbClr val="222222"/>
                </a:solidFill>
                <a:latin typeface="Arial"/>
                <a:ea typeface="Arial"/>
                <a:cs typeface="Arial"/>
                <a:sym typeface="Arial"/>
              </a:rPr>
              <a:t>Option A:</a:t>
            </a:r>
            <a:endParaRPr sz="900" b="1"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b="1"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r>
              <a:rPr lang="en" sz="900" b="1" dirty="0">
                <a:solidFill>
                  <a:srgbClr val="222222"/>
                </a:solidFill>
                <a:latin typeface="Arial"/>
                <a:ea typeface="Arial"/>
                <a:cs typeface="Arial"/>
                <a:sym typeface="Arial"/>
              </a:rPr>
              <a:t>Option B:</a:t>
            </a:r>
            <a:endParaRPr sz="900" b="1"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b="1" dirty="0">
              <a:solidFill>
                <a:srgbClr val="222222"/>
              </a:solidFill>
              <a:latin typeface="Arial"/>
              <a:ea typeface="Arial"/>
              <a:cs typeface="Arial"/>
              <a:sym typeface="Arial"/>
            </a:endParaRPr>
          </a:p>
          <a:p>
            <a:pPr marL="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12700" marR="336550" lvl="0" indent="0" algn="l" rtl="0">
              <a:lnSpc>
                <a:spcPct val="115000"/>
              </a:lnSpc>
              <a:spcBef>
                <a:spcPts val="96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a:p>
            <a:pPr marL="0" marR="163195" lvl="0" indent="0" algn="l" rtl="0">
              <a:lnSpc>
                <a:spcPct val="115000"/>
              </a:lnSpc>
              <a:spcBef>
                <a:spcPts val="1000"/>
              </a:spcBef>
              <a:spcAft>
                <a:spcPts val="0"/>
              </a:spcAft>
              <a:buNone/>
            </a:pPr>
            <a:endParaRPr sz="900" dirty="0">
              <a:solidFill>
                <a:schemeClr val="dk1"/>
              </a:solidFill>
            </a:endParaRPr>
          </a:p>
        </p:txBody>
      </p:sp>
      <p:pic>
        <p:nvPicPr>
          <p:cNvPr id="339" name="Google Shape;339;p41"/>
          <p:cNvPicPr preferRelativeResize="0"/>
          <p:nvPr/>
        </p:nvPicPr>
        <p:blipFill>
          <a:blip r:embed="rId5">
            <a:alphaModFix/>
          </a:blip>
          <a:stretch>
            <a:fillRect/>
          </a:stretch>
        </p:blipFill>
        <p:spPr>
          <a:xfrm>
            <a:off x="5390473" y="1850804"/>
            <a:ext cx="2092600" cy="462575"/>
          </a:xfrm>
          <a:prstGeom prst="rect">
            <a:avLst/>
          </a:prstGeom>
          <a:noFill/>
          <a:ln>
            <a:noFill/>
          </a:ln>
        </p:spPr>
      </p:pic>
      <p:pic>
        <p:nvPicPr>
          <p:cNvPr id="340" name="Google Shape;340;p41"/>
          <p:cNvPicPr preferRelativeResize="0"/>
          <p:nvPr/>
        </p:nvPicPr>
        <p:blipFill>
          <a:blip r:embed="rId6">
            <a:alphaModFix/>
          </a:blip>
          <a:stretch>
            <a:fillRect/>
          </a:stretch>
        </p:blipFill>
        <p:spPr>
          <a:xfrm>
            <a:off x="5390473" y="3209241"/>
            <a:ext cx="2092600" cy="5420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2"/>
          <p:cNvSpPr txBox="1">
            <a:spLocks noGrp="1"/>
          </p:cNvSpPr>
          <p:nvPr>
            <p:ph type="title"/>
          </p:nvPr>
        </p:nvSpPr>
        <p:spPr>
          <a:xfrm>
            <a:off x="1002812" y="-42850"/>
            <a:ext cx="58539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Object-Oriented Programming</a:t>
            </a:r>
            <a:endParaRPr b="0" dirty="0">
              <a:solidFill>
                <a:schemeClr val="accent1"/>
              </a:solidFill>
            </a:endParaRPr>
          </a:p>
        </p:txBody>
      </p:sp>
      <p:sp>
        <p:nvSpPr>
          <p:cNvPr id="346" name="Google Shape;346;p42"/>
          <p:cNvSpPr txBox="1">
            <a:spLocks noGrp="1"/>
          </p:cNvSpPr>
          <p:nvPr>
            <p:ph type="body" idx="1"/>
          </p:nvPr>
        </p:nvSpPr>
        <p:spPr>
          <a:xfrm>
            <a:off x="4572000" y="1840906"/>
            <a:ext cx="2421600" cy="5013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Clr>
                <a:srgbClr val="000000"/>
              </a:buClr>
              <a:buFont typeface="Arial"/>
              <a:buNone/>
            </a:pPr>
            <a:r>
              <a:rPr lang="en" sz="1000">
                <a:solidFill>
                  <a:srgbClr val="000000"/>
                </a:solidFill>
                <a:latin typeface="Helvetica Neue"/>
                <a:ea typeface="Helvetica Neue"/>
                <a:cs typeface="Helvetica Neue"/>
                <a:sym typeface="Helvetica Neue"/>
              </a:rPr>
              <a:t>Adding Methods to Classes</a:t>
            </a:r>
            <a:endParaRPr/>
          </a:p>
        </p:txBody>
      </p:sp>
      <p:pic>
        <p:nvPicPr>
          <p:cNvPr id="347" name="Google Shape;347;p42"/>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48" name="Google Shape;348;p42"/>
          <p:cNvPicPr preferRelativeResize="0"/>
          <p:nvPr/>
        </p:nvPicPr>
        <p:blipFill>
          <a:blip r:embed="rId4">
            <a:alphaModFix/>
          </a:blip>
          <a:stretch>
            <a:fillRect/>
          </a:stretch>
        </p:blipFill>
        <p:spPr>
          <a:xfrm>
            <a:off x="860461" y="976150"/>
            <a:ext cx="3069300" cy="2988400"/>
          </a:xfrm>
          <a:prstGeom prst="rect">
            <a:avLst/>
          </a:prstGeom>
          <a:noFill/>
          <a:ln>
            <a:noFill/>
          </a:ln>
        </p:spPr>
      </p:pic>
      <p:sp>
        <p:nvSpPr>
          <p:cNvPr id="349" name="Google Shape;349;p42"/>
          <p:cNvSpPr/>
          <p:nvPr/>
        </p:nvSpPr>
        <p:spPr>
          <a:xfrm>
            <a:off x="2636294" y="1900398"/>
            <a:ext cx="1854875" cy="273775"/>
          </a:xfrm>
          <a:custGeom>
            <a:avLst/>
            <a:gdLst/>
            <a:ahLst/>
            <a:cxnLst/>
            <a:rect l="l" t="t" r="r" b="b"/>
            <a:pathLst>
              <a:path w="74195" h="10951" extrusionOk="0">
                <a:moveTo>
                  <a:pt x="74195" y="3509"/>
                </a:moveTo>
                <a:cubicBezTo>
                  <a:pt x="62760" y="459"/>
                  <a:pt x="50373" y="-1150"/>
                  <a:pt x="38768" y="1170"/>
                </a:cubicBezTo>
                <a:cubicBezTo>
                  <a:pt x="33822" y="2159"/>
                  <a:pt x="30584" y="7470"/>
                  <a:pt x="25734" y="8857"/>
                </a:cubicBezTo>
                <a:cubicBezTo>
                  <a:pt x="17462" y="11223"/>
                  <a:pt x="8604" y="10862"/>
                  <a:pt x="0" y="10862"/>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350" name="Google Shape;350;p42"/>
          <p:cNvSpPr/>
          <p:nvPr/>
        </p:nvSpPr>
        <p:spPr>
          <a:xfrm rot="-10793501">
            <a:off x="2477499" y="2113713"/>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3"/>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Providing Constructors to Your Classes</a:t>
            </a:r>
            <a:endParaRPr b="0">
              <a:solidFill>
                <a:schemeClr val="accent1"/>
              </a:solidFill>
            </a:endParaRPr>
          </a:p>
        </p:txBody>
      </p:sp>
      <p:sp>
        <p:nvSpPr>
          <p:cNvPr id="356" name="Google Shape;356;p43"/>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Constructor is a block of code that initializes the newly created object. A constructor resembles an instance method in Dart but it’s not considered a method  because it doesn’t have a return type. Dart defines a constructor with the same name as that of the class.</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b="1">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b="1">
              <a:solidFill>
                <a:srgbClr val="222222"/>
              </a:solidFill>
              <a:latin typeface="Arial"/>
              <a:ea typeface="Arial"/>
              <a:cs typeface="Arial"/>
              <a:sym typeface="Arial"/>
            </a:endParaRPr>
          </a:p>
        </p:txBody>
      </p:sp>
      <p:pic>
        <p:nvPicPr>
          <p:cNvPr id="357" name="Google Shape;357;p43"/>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58" name="Google Shape;358;p43"/>
          <p:cNvPicPr preferRelativeResize="0"/>
          <p:nvPr/>
        </p:nvPicPr>
        <p:blipFill>
          <a:blip r:embed="rId4">
            <a:alphaModFix/>
          </a:blip>
          <a:stretch>
            <a:fillRect/>
          </a:stretch>
        </p:blipFill>
        <p:spPr>
          <a:xfrm>
            <a:off x="1040325" y="2273175"/>
            <a:ext cx="4282876" cy="2402725"/>
          </a:xfrm>
          <a:prstGeom prst="rect">
            <a:avLst/>
          </a:prstGeom>
          <a:noFill/>
          <a:ln>
            <a:noFill/>
          </a:ln>
        </p:spPr>
      </p:pic>
      <p:sp>
        <p:nvSpPr>
          <p:cNvPr id="359" name="Google Shape;359;p43"/>
          <p:cNvSpPr txBox="1">
            <a:spLocks noGrp="1"/>
          </p:cNvSpPr>
          <p:nvPr>
            <p:ph type="body" idx="1"/>
          </p:nvPr>
        </p:nvSpPr>
        <p:spPr>
          <a:xfrm>
            <a:off x="5637225" y="3223888"/>
            <a:ext cx="2421600" cy="5013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1000">
                <a:solidFill>
                  <a:srgbClr val="000000"/>
                </a:solidFill>
                <a:latin typeface="Helvetica Neue"/>
                <a:ea typeface="Helvetica Neue"/>
                <a:cs typeface="Helvetica Neue"/>
                <a:sym typeface="Helvetica Neue"/>
              </a:rPr>
              <a:t>Constructor</a:t>
            </a:r>
            <a:endParaRPr/>
          </a:p>
        </p:txBody>
      </p:sp>
      <p:sp>
        <p:nvSpPr>
          <p:cNvPr id="360" name="Google Shape;360;p43"/>
          <p:cNvSpPr/>
          <p:nvPr/>
        </p:nvSpPr>
        <p:spPr>
          <a:xfrm>
            <a:off x="3772450" y="3319994"/>
            <a:ext cx="1854875" cy="273775"/>
          </a:xfrm>
          <a:custGeom>
            <a:avLst/>
            <a:gdLst/>
            <a:ahLst/>
            <a:cxnLst/>
            <a:rect l="l" t="t" r="r" b="b"/>
            <a:pathLst>
              <a:path w="74195" h="10951" extrusionOk="0">
                <a:moveTo>
                  <a:pt x="74195" y="3509"/>
                </a:moveTo>
                <a:cubicBezTo>
                  <a:pt x="62760" y="459"/>
                  <a:pt x="50373" y="-1150"/>
                  <a:pt x="38768" y="1170"/>
                </a:cubicBezTo>
                <a:cubicBezTo>
                  <a:pt x="33822" y="2159"/>
                  <a:pt x="30584" y="7470"/>
                  <a:pt x="25734" y="8857"/>
                </a:cubicBezTo>
                <a:cubicBezTo>
                  <a:pt x="17462" y="11223"/>
                  <a:pt x="8604" y="10862"/>
                  <a:pt x="0" y="10862"/>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361" name="Google Shape;361;p43"/>
          <p:cNvSpPr/>
          <p:nvPr/>
        </p:nvSpPr>
        <p:spPr>
          <a:xfrm rot="-10793501">
            <a:off x="3713931" y="3549655"/>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4"/>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Now, you can construct or initiate an object using the car constructor as illustrated in the grey highlighted color part of the following code:</a:t>
            </a:r>
            <a:endParaRPr sz="900">
              <a:solidFill>
                <a:srgbClr val="222222"/>
              </a:solidFill>
              <a:latin typeface="Arial"/>
              <a:ea typeface="Arial"/>
              <a:cs typeface="Arial"/>
              <a:sym typeface="Arial"/>
            </a:endParaRPr>
          </a:p>
        </p:txBody>
      </p:sp>
      <p:pic>
        <p:nvPicPr>
          <p:cNvPr id="367" name="Google Shape;367;p44"/>
          <p:cNvPicPr preferRelativeResize="0"/>
          <p:nvPr/>
        </p:nvPicPr>
        <p:blipFill>
          <a:blip r:embed="rId3">
            <a:alphaModFix/>
          </a:blip>
          <a:stretch>
            <a:fillRect/>
          </a:stretch>
        </p:blipFill>
        <p:spPr>
          <a:xfrm>
            <a:off x="1034550" y="2013200"/>
            <a:ext cx="4096124" cy="2977901"/>
          </a:xfrm>
          <a:prstGeom prst="rect">
            <a:avLst/>
          </a:prstGeom>
          <a:noFill/>
          <a:ln>
            <a:noFill/>
          </a:ln>
        </p:spPr>
      </p:pic>
      <p:sp>
        <p:nvSpPr>
          <p:cNvPr id="368" name="Google Shape;368;p44"/>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Providing Constructors to Your Classes</a:t>
            </a:r>
            <a:endParaRPr b="0">
              <a:solidFill>
                <a:schemeClr val="accent1"/>
              </a:solidFill>
            </a:endParaRPr>
          </a:p>
        </p:txBody>
      </p:sp>
      <p:pic>
        <p:nvPicPr>
          <p:cNvPr id="369" name="Google Shape;369;p44"/>
          <p:cNvPicPr preferRelativeResize="0"/>
          <p:nvPr/>
        </p:nvPicPr>
        <p:blipFill>
          <a:blip r:embed="rId4">
            <a:alphaModFix/>
          </a:blip>
          <a:stretch>
            <a:fillRect/>
          </a:stretch>
        </p:blipFill>
        <p:spPr>
          <a:xfrm>
            <a:off x="7339974" y="77975"/>
            <a:ext cx="1724050" cy="377925"/>
          </a:xfrm>
          <a:prstGeom prst="rect">
            <a:avLst/>
          </a:prstGeom>
          <a:noFill/>
          <a:ln>
            <a:noFill/>
          </a:ln>
        </p:spPr>
      </p:pic>
      <p:pic>
        <p:nvPicPr>
          <p:cNvPr id="370" name="Google Shape;370;p44"/>
          <p:cNvPicPr preferRelativeResize="0"/>
          <p:nvPr/>
        </p:nvPicPr>
        <p:blipFill>
          <a:blip r:embed="rId5">
            <a:alphaModFix/>
          </a:blip>
          <a:stretch>
            <a:fillRect/>
          </a:stretch>
        </p:blipFill>
        <p:spPr>
          <a:xfrm>
            <a:off x="5645500" y="3062075"/>
            <a:ext cx="3234375" cy="291925"/>
          </a:xfrm>
          <a:prstGeom prst="rect">
            <a:avLst/>
          </a:prstGeom>
          <a:noFill/>
          <a:ln>
            <a:noFill/>
          </a:ln>
        </p:spPr>
      </p:pic>
      <p:sp>
        <p:nvSpPr>
          <p:cNvPr id="371" name="Google Shape;371;p44"/>
          <p:cNvSpPr txBox="1"/>
          <p:nvPr/>
        </p:nvSpPr>
        <p:spPr>
          <a:xfrm>
            <a:off x="5523900" y="2619575"/>
            <a:ext cx="3066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Commissioner"/>
                <a:ea typeface="Commissioner"/>
                <a:cs typeface="Commissioner"/>
                <a:sym typeface="Commissioner"/>
              </a:rPr>
              <a:t>Alternative way of car constructor code</a:t>
            </a:r>
            <a:endParaRPr sz="1200">
              <a:solidFill>
                <a:schemeClr val="dk1"/>
              </a:solidFill>
              <a:latin typeface="Commissioner"/>
              <a:ea typeface="Commissioner"/>
              <a:cs typeface="Commissioner"/>
              <a:sym typeface="Commission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5"/>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Initialize an object using a constructor name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Full Code</a:t>
            </a:r>
            <a:endParaRPr sz="900">
              <a:solidFill>
                <a:srgbClr val="222222"/>
              </a:solidFill>
              <a:latin typeface="Arial"/>
              <a:ea typeface="Arial"/>
              <a:cs typeface="Arial"/>
              <a:sym typeface="Arial"/>
            </a:endParaRPr>
          </a:p>
        </p:txBody>
      </p:sp>
      <p:sp>
        <p:nvSpPr>
          <p:cNvPr id="377" name="Google Shape;377;p45"/>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Providing Constructors to Your Classes</a:t>
            </a:r>
            <a:endParaRPr b="0">
              <a:solidFill>
                <a:schemeClr val="accent1"/>
              </a:solidFill>
            </a:endParaRPr>
          </a:p>
        </p:txBody>
      </p:sp>
      <p:pic>
        <p:nvPicPr>
          <p:cNvPr id="378" name="Google Shape;378;p45"/>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79" name="Google Shape;379;p45"/>
          <p:cNvPicPr preferRelativeResize="0"/>
          <p:nvPr/>
        </p:nvPicPr>
        <p:blipFill>
          <a:blip r:embed="rId4">
            <a:alphaModFix/>
          </a:blip>
          <a:stretch>
            <a:fillRect/>
          </a:stretch>
        </p:blipFill>
        <p:spPr>
          <a:xfrm>
            <a:off x="1036400" y="1892225"/>
            <a:ext cx="2866700" cy="441725"/>
          </a:xfrm>
          <a:prstGeom prst="rect">
            <a:avLst/>
          </a:prstGeom>
          <a:noFill/>
          <a:ln>
            <a:noFill/>
          </a:ln>
        </p:spPr>
      </p:pic>
      <p:pic>
        <p:nvPicPr>
          <p:cNvPr id="380" name="Google Shape;380;p45"/>
          <p:cNvPicPr preferRelativeResize="0"/>
          <p:nvPr/>
        </p:nvPicPr>
        <p:blipFill rotWithShape="1">
          <a:blip r:embed="rId5">
            <a:alphaModFix/>
          </a:blip>
          <a:srcRect b="26062"/>
          <a:stretch/>
        </p:blipFill>
        <p:spPr>
          <a:xfrm>
            <a:off x="1036400" y="2737900"/>
            <a:ext cx="3303899" cy="2213399"/>
          </a:xfrm>
          <a:prstGeom prst="rect">
            <a:avLst/>
          </a:prstGeom>
          <a:noFill/>
          <a:ln>
            <a:noFill/>
          </a:ln>
        </p:spPr>
      </p:pic>
      <p:pic>
        <p:nvPicPr>
          <p:cNvPr id="381" name="Google Shape;381;p45"/>
          <p:cNvPicPr preferRelativeResize="0"/>
          <p:nvPr/>
        </p:nvPicPr>
        <p:blipFill rotWithShape="1">
          <a:blip r:embed="rId5">
            <a:alphaModFix/>
          </a:blip>
          <a:srcRect t="74386"/>
          <a:stretch/>
        </p:blipFill>
        <p:spPr>
          <a:xfrm>
            <a:off x="5526075" y="3198450"/>
            <a:ext cx="3537949" cy="821099"/>
          </a:xfrm>
          <a:prstGeom prst="rect">
            <a:avLst/>
          </a:prstGeom>
          <a:noFill/>
          <a:ln>
            <a:noFill/>
          </a:ln>
        </p:spPr>
      </p:pic>
      <p:sp>
        <p:nvSpPr>
          <p:cNvPr id="382" name="Google Shape;382;p45"/>
          <p:cNvSpPr/>
          <p:nvPr/>
        </p:nvSpPr>
        <p:spPr>
          <a:xfrm>
            <a:off x="4725350" y="3420000"/>
            <a:ext cx="562500" cy="378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6"/>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Getters and Setters are used to effectively protect your data, particularly when creating classes. For each instance variable, a getter method returns its value while a setter method sets or updates its value.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Getters are defined using the get keyword, whereas setters are defined using the set keyword.</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388" name="Google Shape;388;p46"/>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Class - Getters and Setters</a:t>
            </a:r>
            <a:endParaRPr b="0">
              <a:solidFill>
                <a:schemeClr val="accent1"/>
              </a:solidFill>
            </a:endParaRPr>
          </a:p>
        </p:txBody>
      </p:sp>
      <p:pic>
        <p:nvPicPr>
          <p:cNvPr id="389" name="Google Shape;389;p46"/>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390" name="Google Shape;390;p46"/>
          <p:cNvPicPr preferRelativeResize="0"/>
          <p:nvPr/>
        </p:nvPicPr>
        <p:blipFill>
          <a:blip r:embed="rId4">
            <a:alphaModFix/>
          </a:blip>
          <a:stretch>
            <a:fillRect/>
          </a:stretch>
        </p:blipFill>
        <p:spPr>
          <a:xfrm>
            <a:off x="1027900" y="2402250"/>
            <a:ext cx="4079524" cy="2316350"/>
          </a:xfrm>
          <a:prstGeom prst="rect">
            <a:avLst/>
          </a:prstGeom>
          <a:noFill/>
          <a:ln>
            <a:noFill/>
          </a:ln>
        </p:spPr>
      </p:pic>
      <p:sp>
        <p:nvSpPr>
          <p:cNvPr id="391" name="Google Shape;391;p46"/>
          <p:cNvSpPr txBox="1">
            <a:spLocks noGrp="1"/>
          </p:cNvSpPr>
          <p:nvPr>
            <p:ph type="body" idx="1"/>
          </p:nvPr>
        </p:nvSpPr>
        <p:spPr>
          <a:xfrm>
            <a:off x="6133800" y="2948125"/>
            <a:ext cx="2421600" cy="6348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1000" b="1">
                <a:solidFill>
                  <a:srgbClr val="000000"/>
                </a:solidFill>
                <a:latin typeface="Helvetica Neue"/>
                <a:ea typeface="Helvetica Neue"/>
                <a:cs typeface="Helvetica Neue"/>
                <a:sym typeface="Helvetica Neue"/>
              </a:rPr>
              <a:t>Set keyword </a:t>
            </a:r>
            <a:r>
              <a:rPr lang="en" sz="1000">
                <a:solidFill>
                  <a:srgbClr val="000000"/>
                </a:solidFill>
                <a:latin typeface="Helvetica Neue"/>
                <a:ea typeface="Helvetica Neue"/>
                <a:cs typeface="Helvetica Neue"/>
                <a:sym typeface="Helvetica Neue"/>
              </a:rPr>
              <a:t>to set a string value for the type class attribute</a:t>
            </a:r>
            <a:endParaRPr sz="1000">
              <a:solidFill>
                <a:srgbClr val="000000"/>
              </a:solidFill>
              <a:latin typeface="Helvetica Neue"/>
              <a:ea typeface="Helvetica Neue"/>
              <a:cs typeface="Helvetica Neue"/>
              <a:sym typeface="Helvetica Neue"/>
            </a:endParaRPr>
          </a:p>
          <a:p>
            <a:pPr marL="12700" lvl="0" indent="0" algn="l" rtl="0">
              <a:spcBef>
                <a:spcPts val="940"/>
              </a:spcBef>
              <a:spcAft>
                <a:spcPts val="0"/>
              </a:spcAft>
              <a:buNone/>
            </a:pPr>
            <a:endParaRPr sz="1000">
              <a:solidFill>
                <a:srgbClr val="000000"/>
              </a:solidFill>
              <a:latin typeface="Helvetica Neue"/>
              <a:ea typeface="Helvetica Neue"/>
              <a:cs typeface="Helvetica Neue"/>
              <a:sym typeface="Helvetica Neue"/>
            </a:endParaRPr>
          </a:p>
          <a:p>
            <a:pPr marL="12700" lvl="0" indent="0" algn="l" rtl="0">
              <a:spcBef>
                <a:spcPts val="940"/>
              </a:spcBef>
              <a:spcAft>
                <a:spcPts val="0"/>
              </a:spcAft>
              <a:buNone/>
            </a:pPr>
            <a:endParaRPr sz="1000">
              <a:solidFill>
                <a:srgbClr val="000000"/>
              </a:solidFill>
              <a:latin typeface="Helvetica Neue"/>
              <a:ea typeface="Helvetica Neue"/>
              <a:cs typeface="Helvetica Neue"/>
              <a:sym typeface="Helvetica Neue"/>
            </a:endParaRPr>
          </a:p>
        </p:txBody>
      </p:sp>
      <p:sp>
        <p:nvSpPr>
          <p:cNvPr id="392" name="Google Shape;392;p46"/>
          <p:cNvSpPr/>
          <p:nvPr/>
        </p:nvSpPr>
        <p:spPr>
          <a:xfrm>
            <a:off x="4951500" y="3192025"/>
            <a:ext cx="1182297" cy="273775"/>
          </a:xfrm>
          <a:custGeom>
            <a:avLst/>
            <a:gdLst/>
            <a:ahLst/>
            <a:cxnLst/>
            <a:rect l="l" t="t" r="r" b="b"/>
            <a:pathLst>
              <a:path w="74195" h="10951" extrusionOk="0">
                <a:moveTo>
                  <a:pt x="74195" y="3509"/>
                </a:moveTo>
                <a:cubicBezTo>
                  <a:pt x="62760" y="459"/>
                  <a:pt x="50373" y="-1150"/>
                  <a:pt x="38768" y="1170"/>
                </a:cubicBezTo>
                <a:cubicBezTo>
                  <a:pt x="33822" y="2159"/>
                  <a:pt x="30584" y="7470"/>
                  <a:pt x="25734" y="8857"/>
                </a:cubicBezTo>
                <a:cubicBezTo>
                  <a:pt x="17462" y="11223"/>
                  <a:pt x="8604" y="10862"/>
                  <a:pt x="0" y="10862"/>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393" name="Google Shape;393;p46"/>
          <p:cNvSpPr/>
          <p:nvPr/>
        </p:nvSpPr>
        <p:spPr>
          <a:xfrm rot="-10793501">
            <a:off x="4951506" y="3421680"/>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394" name="Google Shape;394;p46"/>
          <p:cNvSpPr txBox="1">
            <a:spLocks noGrp="1"/>
          </p:cNvSpPr>
          <p:nvPr>
            <p:ph type="body" idx="1"/>
          </p:nvPr>
        </p:nvSpPr>
        <p:spPr>
          <a:xfrm>
            <a:off x="6073375" y="3734925"/>
            <a:ext cx="2421600" cy="6348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1000" b="1">
                <a:solidFill>
                  <a:srgbClr val="000000"/>
                </a:solidFill>
                <a:latin typeface="Helvetica Neue"/>
                <a:ea typeface="Helvetica Neue"/>
                <a:cs typeface="Helvetica Neue"/>
                <a:sym typeface="Helvetica Neue"/>
              </a:rPr>
              <a:t>Get keyword</a:t>
            </a:r>
            <a:r>
              <a:rPr lang="en" sz="1000">
                <a:solidFill>
                  <a:srgbClr val="000000"/>
                </a:solidFill>
                <a:latin typeface="Helvetica Neue"/>
                <a:ea typeface="Helvetica Neue"/>
                <a:cs typeface="Helvetica Neue"/>
                <a:sym typeface="Helvetica Neue"/>
              </a:rPr>
              <a:t> to return this class attribute value</a:t>
            </a:r>
            <a:endParaRPr sz="1000">
              <a:solidFill>
                <a:srgbClr val="000000"/>
              </a:solidFill>
              <a:latin typeface="Helvetica Neue"/>
              <a:ea typeface="Helvetica Neue"/>
              <a:cs typeface="Helvetica Neue"/>
              <a:sym typeface="Helvetica Neue"/>
            </a:endParaRPr>
          </a:p>
        </p:txBody>
      </p:sp>
      <p:sp>
        <p:nvSpPr>
          <p:cNvPr id="395" name="Google Shape;395;p46"/>
          <p:cNvSpPr/>
          <p:nvPr/>
        </p:nvSpPr>
        <p:spPr>
          <a:xfrm rot="-10793501">
            <a:off x="3606106" y="3557005"/>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396" name="Google Shape;396;p46"/>
          <p:cNvSpPr/>
          <p:nvPr/>
        </p:nvSpPr>
        <p:spPr>
          <a:xfrm>
            <a:off x="3764950" y="3591305"/>
            <a:ext cx="2323325" cy="463500"/>
          </a:xfrm>
          <a:custGeom>
            <a:avLst/>
            <a:gdLst/>
            <a:ahLst/>
            <a:cxnLst/>
            <a:rect l="l" t="t" r="r" b="b"/>
            <a:pathLst>
              <a:path w="92933" h="18540" extrusionOk="0">
                <a:moveTo>
                  <a:pt x="0" y="424"/>
                </a:moveTo>
                <a:cubicBezTo>
                  <a:pt x="22421" y="-2265"/>
                  <a:pt x="43933" y="10952"/>
                  <a:pt x="65645" y="17157"/>
                </a:cubicBezTo>
                <a:cubicBezTo>
                  <a:pt x="74394" y="19658"/>
                  <a:pt x="83833" y="17930"/>
                  <a:pt x="92933" y="17930"/>
                </a:cubicBezTo>
              </a:path>
            </a:pathLst>
          </a:custGeom>
          <a:noFill/>
          <a:ln w="9525" cap="flat" cmpd="sng">
            <a:solidFill>
              <a:schemeClr val="dk2"/>
            </a:solidFill>
            <a:prstDash val="solid"/>
            <a:round/>
            <a:headEnd type="none" w="med" len="med"/>
            <a:tailEnd type="none" w="med" len="med"/>
          </a:ln>
        </p:spPr>
        <p:txBody>
          <a:bodyPr/>
          <a:lstStyle/>
          <a:p>
            <a:endParaRPr lang="en-MY"/>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7"/>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Now, in the following code, we will use setType to set a value and getType to return or use this value.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02" name="Google Shape;402;p47"/>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Class - Getters and Setters</a:t>
            </a:r>
            <a:endParaRPr b="0">
              <a:solidFill>
                <a:schemeClr val="accent1"/>
              </a:solidFill>
            </a:endParaRPr>
          </a:p>
        </p:txBody>
      </p:sp>
      <p:pic>
        <p:nvPicPr>
          <p:cNvPr id="403" name="Google Shape;403;p47"/>
          <p:cNvPicPr preferRelativeResize="0"/>
          <p:nvPr/>
        </p:nvPicPr>
        <p:blipFill>
          <a:blip r:embed="rId3">
            <a:alphaModFix/>
          </a:blip>
          <a:stretch>
            <a:fillRect/>
          </a:stretch>
        </p:blipFill>
        <p:spPr>
          <a:xfrm>
            <a:off x="7339974" y="77975"/>
            <a:ext cx="1724050" cy="377925"/>
          </a:xfrm>
          <a:prstGeom prst="rect">
            <a:avLst/>
          </a:prstGeom>
          <a:noFill/>
          <a:ln>
            <a:noFill/>
          </a:ln>
        </p:spPr>
      </p:pic>
      <p:sp>
        <p:nvSpPr>
          <p:cNvPr id="404" name="Google Shape;404;p47"/>
          <p:cNvSpPr txBox="1">
            <a:spLocks noGrp="1"/>
          </p:cNvSpPr>
          <p:nvPr>
            <p:ph type="body" idx="1"/>
          </p:nvPr>
        </p:nvSpPr>
        <p:spPr>
          <a:xfrm>
            <a:off x="5298125" y="2561725"/>
            <a:ext cx="2421600" cy="6348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1000" b="1">
                <a:solidFill>
                  <a:srgbClr val="000000"/>
                </a:solidFill>
                <a:latin typeface="Helvetica Neue"/>
                <a:ea typeface="Helvetica Neue"/>
                <a:cs typeface="Helvetica Neue"/>
                <a:sym typeface="Helvetica Neue"/>
              </a:rPr>
              <a:t>Note : This “=&gt;” operator is for returning a value in a brief way.</a:t>
            </a:r>
            <a:endParaRPr sz="1000">
              <a:solidFill>
                <a:srgbClr val="000000"/>
              </a:solidFill>
              <a:latin typeface="Helvetica Neue"/>
              <a:ea typeface="Helvetica Neue"/>
              <a:cs typeface="Helvetica Neue"/>
              <a:sym typeface="Helvetica Neue"/>
            </a:endParaRPr>
          </a:p>
        </p:txBody>
      </p:sp>
      <p:sp>
        <p:nvSpPr>
          <p:cNvPr id="405" name="Google Shape;405;p47"/>
          <p:cNvSpPr/>
          <p:nvPr/>
        </p:nvSpPr>
        <p:spPr>
          <a:xfrm rot="-10793501">
            <a:off x="3606106" y="3557005"/>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pic>
        <p:nvPicPr>
          <p:cNvPr id="406" name="Google Shape;406;p47"/>
          <p:cNvPicPr preferRelativeResize="0"/>
          <p:nvPr/>
        </p:nvPicPr>
        <p:blipFill>
          <a:blip r:embed="rId4">
            <a:alphaModFix/>
          </a:blip>
          <a:stretch>
            <a:fillRect/>
          </a:stretch>
        </p:blipFill>
        <p:spPr>
          <a:xfrm>
            <a:off x="1062550" y="1914000"/>
            <a:ext cx="3780975" cy="3001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8"/>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The idea of inheritance is simple but powerful. When you want to create a new class and there is already a class that includes some of the codes that you need, you can derive your new class from the existing class (called parent or super class). While doing this, you can reuse the properties and methods of the existing class without having to write them again.</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Example:</a:t>
            </a:r>
            <a:endParaRPr sz="900">
              <a:solidFill>
                <a:srgbClr val="222222"/>
              </a:solidFill>
              <a:latin typeface="Arial"/>
              <a:ea typeface="Arial"/>
              <a:cs typeface="Arial"/>
              <a:sym typeface="Arial"/>
            </a:endParaRPr>
          </a:p>
        </p:txBody>
      </p:sp>
      <p:sp>
        <p:nvSpPr>
          <p:cNvPr id="412" name="Google Shape;412;p48"/>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Class Inheritance</a:t>
            </a:r>
            <a:endParaRPr b="0">
              <a:solidFill>
                <a:schemeClr val="accent1"/>
              </a:solidFill>
            </a:endParaRPr>
          </a:p>
        </p:txBody>
      </p:sp>
      <p:pic>
        <p:nvPicPr>
          <p:cNvPr id="413" name="Google Shape;413;p48"/>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14" name="Google Shape;414;p48"/>
          <p:cNvPicPr preferRelativeResize="0"/>
          <p:nvPr/>
        </p:nvPicPr>
        <p:blipFill>
          <a:blip r:embed="rId4">
            <a:alphaModFix/>
          </a:blip>
          <a:stretch>
            <a:fillRect/>
          </a:stretch>
        </p:blipFill>
        <p:spPr>
          <a:xfrm>
            <a:off x="1057275" y="2566218"/>
            <a:ext cx="1306000" cy="1186225"/>
          </a:xfrm>
          <a:prstGeom prst="rect">
            <a:avLst/>
          </a:prstGeom>
          <a:noFill/>
          <a:ln>
            <a:noFill/>
          </a:ln>
        </p:spPr>
      </p:pic>
      <p:sp>
        <p:nvSpPr>
          <p:cNvPr id="415" name="Google Shape;415;p48"/>
          <p:cNvSpPr txBox="1">
            <a:spLocks noGrp="1"/>
          </p:cNvSpPr>
          <p:nvPr>
            <p:ph type="body" idx="1"/>
          </p:nvPr>
        </p:nvSpPr>
        <p:spPr>
          <a:xfrm>
            <a:off x="848225" y="3690275"/>
            <a:ext cx="1724100" cy="635100"/>
          </a:xfrm>
          <a:prstGeom prst="rect">
            <a:avLst/>
          </a:prstGeom>
          <a:noFill/>
        </p:spPr>
        <p:txBody>
          <a:bodyPr spcFirstLastPara="1" wrap="square" lIns="91425" tIns="91425" rIns="91425" bIns="91425" anchor="t" anchorCtr="0">
            <a:noAutofit/>
          </a:bodyPr>
          <a:lstStyle/>
          <a:p>
            <a:pPr marL="12700" lvl="0" indent="0" algn="ctr" rtl="0">
              <a:spcBef>
                <a:spcPts val="940"/>
              </a:spcBef>
              <a:spcAft>
                <a:spcPts val="0"/>
              </a:spcAft>
              <a:buNone/>
            </a:pPr>
            <a:r>
              <a:rPr lang="en" sz="1000">
                <a:solidFill>
                  <a:srgbClr val="000000"/>
                </a:solidFill>
                <a:latin typeface="Helvetica Neue"/>
                <a:ea typeface="Helvetica Neue"/>
                <a:cs typeface="Helvetica Neue"/>
                <a:sym typeface="Helvetica Neue"/>
              </a:rPr>
              <a:t>There is a class student</a:t>
            </a:r>
            <a:endParaRPr sz="1000">
              <a:solidFill>
                <a:srgbClr val="000000"/>
              </a:solidFill>
              <a:latin typeface="Helvetica Neue"/>
              <a:ea typeface="Helvetica Neue"/>
              <a:cs typeface="Helvetica Neue"/>
              <a:sym typeface="Helvetica Neue"/>
            </a:endParaRPr>
          </a:p>
        </p:txBody>
      </p:sp>
      <p:pic>
        <p:nvPicPr>
          <p:cNvPr id="416" name="Google Shape;416;p48"/>
          <p:cNvPicPr preferRelativeResize="0"/>
          <p:nvPr/>
        </p:nvPicPr>
        <p:blipFill>
          <a:blip r:embed="rId5">
            <a:alphaModFix/>
          </a:blip>
          <a:stretch>
            <a:fillRect/>
          </a:stretch>
        </p:blipFill>
        <p:spPr>
          <a:xfrm>
            <a:off x="3396196" y="2947975"/>
            <a:ext cx="2660364" cy="635100"/>
          </a:xfrm>
          <a:prstGeom prst="rect">
            <a:avLst/>
          </a:prstGeom>
          <a:noFill/>
          <a:ln>
            <a:noFill/>
          </a:ln>
        </p:spPr>
      </p:pic>
      <p:sp>
        <p:nvSpPr>
          <p:cNvPr id="417" name="Google Shape;417;p48"/>
          <p:cNvSpPr txBox="1">
            <a:spLocks noGrp="1"/>
          </p:cNvSpPr>
          <p:nvPr>
            <p:ph type="body" idx="1"/>
          </p:nvPr>
        </p:nvSpPr>
        <p:spPr>
          <a:xfrm>
            <a:off x="3737075" y="3690275"/>
            <a:ext cx="1724100" cy="635100"/>
          </a:xfrm>
          <a:prstGeom prst="rect">
            <a:avLst/>
          </a:prstGeom>
          <a:noFill/>
        </p:spPr>
        <p:txBody>
          <a:bodyPr spcFirstLastPara="1" wrap="square" lIns="91425" tIns="91425" rIns="91425" bIns="91425" anchor="t" anchorCtr="0">
            <a:noAutofit/>
          </a:bodyPr>
          <a:lstStyle/>
          <a:p>
            <a:pPr marL="12700" lvl="0" indent="0" algn="ctr" rtl="0">
              <a:spcBef>
                <a:spcPts val="940"/>
              </a:spcBef>
              <a:spcAft>
                <a:spcPts val="0"/>
              </a:spcAft>
              <a:buNone/>
            </a:pPr>
            <a:r>
              <a:rPr lang="en" sz="1000">
                <a:solidFill>
                  <a:srgbClr val="000000"/>
                </a:solidFill>
                <a:latin typeface="Helvetica Neue"/>
                <a:ea typeface="Helvetica Neue"/>
                <a:cs typeface="Helvetica Neue"/>
                <a:sym typeface="Helvetica Neue"/>
              </a:rPr>
              <a:t>Create new class Teacher with the same properties of class Student</a:t>
            </a:r>
            <a:endParaRPr sz="1000">
              <a:solidFill>
                <a:srgbClr val="000000"/>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9"/>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Using the same concept to create a new class called “Trainer”</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Example:</a:t>
            </a:r>
            <a:endParaRPr sz="900">
              <a:solidFill>
                <a:srgbClr val="222222"/>
              </a:solidFill>
              <a:latin typeface="Arial"/>
              <a:ea typeface="Arial"/>
              <a:cs typeface="Arial"/>
              <a:sym typeface="Arial"/>
            </a:endParaRPr>
          </a:p>
        </p:txBody>
      </p:sp>
      <p:sp>
        <p:nvSpPr>
          <p:cNvPr id="423" name="Google Shape;423;p49"/>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Class Inheritance</a:t>
            </a:r>
            <a:endParaRPr b="0">
              <a:solidFill>
                <a:schemeClr val="accent1"/>
              </a:solidFill>
            </a:endParaRPr>
          </a:p>
        </p:txBody>
      </p:sp>
      <p:pic>
        <p:nvPicPr>
          <p:cNvPr id="424" name="Google Shape;424;p49"/>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25" name="Google Shape;425;p49"/>
          <p:cNvPicPr preferRelativeResize="0"/>
          <p:nvPr/>
        </p:nvPicPr>
        <p:blipFill>
          <a:blip r:embed="rId4">
            <a:alphaModFix/>
          </a:blip>
          <a:stretch>
            <a:fillRect/>
          </a:stretch>
        </p:blipFill>
        <p:spPr>
          <a:xfrm>
            <a:off x="1037899" y="2192550"/>
            <a:ext cx="2924850" cy="26634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0"/>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A class is called abstract when at least one of its methods or functions does not have an implementation (function body). It is the responsibility of the derived / child class to provide the implementation of the abstract members of the parent class.</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An abstract class needs to be qualified with the abstract keyword. An abstract class cannot be instantiated, and its only purpose is to be inherited.</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b="1">
                <a:solidFill>
                  <a:srgbClr val="222222"/>
                </a:solidFill>
                <a:latin typeface="Arial"/>
                <a:ea typeface="Arial"/>
                <a:cs typeface="Arial"/>
                <a:sym typeface="Arial"/>
              </a:rPr>
              <a:t>Example:</a:t>
            </a:r>
            <a:endParaRPr sz="900" b="1">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In the following example, Student is a normal class. If you added the contactInfo method to this class without a method body , you will get an error as illustrated in the following code: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31" name="Google Shape;431;p50"/>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32" name="Google Shape;432;p50"/>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33" name="Google Shape;433;p50"/>
          <p:cNvPicPr preferRelativeResize="0"/>
          <p:nvPr/>
        </p:nvPicPr>
        <p:blipFill>
          <a:blip r:embed="rId4">
            <a:alphaModFix/>
          </a:blip>
          <a:stretch>
            <a:fillRect/>
          </a:stretch>
        </p:blipFill>
        <p:spPr>
          <a:xfrm>
            <a:off x="1037300" y="3248100"/>
            <a:ext cx="2233525" cy="1603550"/>
          </a:xfrm>
          <a:prstGeom prst="rect">
            <a:avLst/>
          </a:prstGeom>
          <a:noFill/>
          <a:ln>
            <a:noFill/>
          </a:ln>
        </p:spPr>
      </p:pic>
      <p:pic>
        <p:nvPicPr>
          <p:cNvPr id="434" name="Google Shape;434;p50"/>
          <p:cNvPicPr preferRelativeResize="0"/>
          <p:nvPr/>
        </p:nvPicPr>
        <p:blipFill>
          <a:blip r:embed="rId5">
            <a:alphaModFix/>
          </a:blip>
          <a:stretch>
            <a:fillRect/>
          </a:stretch>
        </p:blipFill>
        <p:spPr>
          <a:xfrm>
            <a:off x="4548897" y="3248100"/>
            <a:ext cx="2062686" cy="1603550"/>
          </a:xfrm>
          <a:prstGeom prst="rect">
            <a:avLst/>
          </a:prstGeom>
          <a:noFill/>
          <a:ln>
            <a:noFill/>
          </a:ln>
        </p:spPr>
      </p:pic>
      <p:sp>
        <p:nvSpPr>
          <p:cNvPr id="435" name="Google Shape;435;p50"/>
          <p:cNvSpPr/>
          <p:nvPr/>
        </p:nvSpPr>
        <p:spPr>
          <a:xfrm>
            <a:off x="3684200" y="3818975"/>
            <a:ext cx="450300" cy="440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1"/>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Also, you can’t create an object directly using this abstract class. If you try, you will get an error (red underline) as illustrated in the following screenshot:</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Example: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41" name="Google Shape;441;p51"/>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42" name="Google Shape;442;p51"/>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43" name="Google Shape;443;p51"/>
          <p:cNvPicPr preferRelativeResize="0"/>
          <p:nvPr/>
        </p:nvPicPr>
        <p:blipFill>
          <a:blip r:embed="rId4">
            <a:alphaModFix/>
          </a:blip>
          <a:stretch>
            <a:fillRect/>
          </a:stretch>
        </p:blipFill>
        <p:spPr>
          <a:xfrm>
            <a:off x="1024025" y="2528669"/>
            <a:ext cx="3208325" cy="1282325"/>
          </a:xfrm>
          <a:prstGeom prst="rect">
            <a:avLst/>
          </a:prstGeom>
          <a:noFill/>
          <a:ln>
            <a:noFill/>
          </a:ln>
        </p:spPr>
      </p:pic>
      <p:pic>
        <p:nvPicPr>
          <p:cNvPr id="444" name="Google Shape;444;p51"/>
          <p:cNvPicPr preferRelativeResize="0"/>
          <p:nvPr/>
        </p:nvPicPr>
        <p:blipFill>
          <a:blip r:embed="rId5">
            <a:alphaModFix/>
          </a:blip>
          <a:stretch>
            <a:fillRect/>
          </a:stretch>
        </p:blipFill>
        <p:spPr>
          <a:xfrm>
            <a:off x="4510919" y="2934869"/>
            <a:ext cx="4455257" cy="377925"/>
          </a:xfrm>
          <a:prstGeom prst="rect">
            <a:avLst/>
          </a:prstGeom>
          <a:noFill/>
          <a:ln>
            <a:noFill/>
          </a:ln>
        </p:spPr>
      </p:pic>
      <p:sp>
        <p:nvSpPr>
          <p:cNvPr id="445" name="Google Shape;445;p51"/>
          <p:cNvSpPr txBox="1">
            <a:spLocks noGrp="1"/>
          </p:cNvSpPr>
          <p:nvPr>
            <p:ph type="body" idx="1"/>
          </p:nvPr>
        </p:nvSpPr>
        <p:spPr>
          <a:xfrm>
            <a:off x="4434725" y="2456600"/>
            <a:ext cx="787800" cy="4239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b="1">
                <a:solidFill>
                  <a:srgbClr val="222222"/>
                </a:solidFill>
                <a:latin typeface="Arial"/>
                <a:ea typeface="Arial"/>
                <a:cs typeface="Arial"/>
                <a:sym typeface="Arial"/>
              </a:rPr>
              <a:t>Error:</a:t>
            </a:r>
            <a:endParaRPr sz="900" b="1">
              <a:solidFill>
                <a:srgbClr val="22222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2"/>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Instead of that , you should create a child class that inherits these abstract class (Student) properties and abstract methods, then use this child class in creating new objects.</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In the following code, ITStudent is a child class, and will inherit all the Student (parent class) properties and methods. When you type the following code , you will see a red underline below ITStudent because the abstract class ITStudent includes an empty abstract method called contactInfo.</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51" name="Google Shape;451;p52"/>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52" name="Google Shape;452;p52"/>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53" name="Google Shape;453;p52"/>
          <p:cNvPicPr preferRelativeResize="0"/>
          <p:nvPr/>
        </p:nvPicPr>
        <p:blipFill>
          <a:blip r:embed="rId4">
            <a:alphaModFix/>
          </a:blip>
          <a:stretch>
            <a:fillRect/>
          </a:stretch>
        </p:blipFill>
        <p:spPr>
          <a:xfrm>
            <a:off x="1067350" y="2765669"/>
            <a:ext cx="2652800" cy="1395950"/>
          </a:xfrm>
          <a:prstGeom prst="rect">
            <a:avLst/>
          </a:prstGeom>
          <a:noFill/>
          <a:ln>
            <a:noFill/>
          </a:ln>
        </p:spPr>
      </p:pic>
      <p:pic>
        <p:nvPicPr>
          <p:cNvPr id="454" name="Google Shape;454;p52"/>
          <p:cNvPicPr preferRelativeResize="0"/>
          <p:nvPr/>
        </p:nvPicPr>
        <p:blipFill>
          <a:blip r:embed="rId5">
            <a:alphaModFix/>
          </a:blip>
          <a:stretch>
            <a:fillRect/>
          </a:stretch>
        </p:blipFill>
        <p:spPr>
          <a:xfrm>
            <a:off x="4176875" y="3223000"/>
            <a:ext cx="4404725" cy="266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3"/>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Now, you must add the abstract method: contactInfo to the child class body. When you try to do that, you will get the following menu as illustrated in the following screenshot:</a:t>
            </a:r>
            <a:endParaRPr sz="900">
              <a:solidFill>
                <a:srgbClr val="222222"/>
              </a:solidFill>
              <a:latin typeface="Arial"/>
              <a:ea typeface="Arial"/>
              <a:cs typeface="Arial"/>
              <a:sym typeface="Arial"/>
            </a:endParaRPr>
          </a:p>
        </p:txBody>
      </p:sp>
      <p:sp>
        <p:nvSpPr>
          <p:cNvPr id="460" name="Google Shape;460;p53"/>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61" name="Google Shape;461;p53"/>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62" name="Google Shape;462;p53"/>
          <p:cNvPicPr preferRelativeResize="0"/>
          <p:nvPr/>
        </p:nvPicPr>
        <p:blipFill>
          <a:blip r:embed="rId4">
            <a:alphaModFix/>
          </a:blip>
          <a:stretch>
            <a:fillRect/>
          </a:stretch>
        </p:blipFill>
        <p:spPr>
          <a:xfrm>
            <a:off x="1033469" y="2099675"/>
            <a:ext cx="2725025" cy="2208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4"/>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You can create the SoftwareStudent object from the ITStudent class as illustrated in the following code:</a:t>
            </a:r>
            <a:endParaRPr sz="900">
              <a:solidFill>
                <a:srgbClr val="222222"/>
              </a:solidFill>
              <a:latin typeface="Arial"/>
              <a:ea typeface="Arial"/>
              <a:cs typeface="Arial"/>
              <a:sym typeface="Arial"/>
            </a:endParaRPr>
          </a:p>
        </p:txBody>
      </p:sp>
      <p:sp>
        <p:nvSpPr>
          <p:cNvPr id="468" name="Google Shape;468;p54"/>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69" name="Google Shape;469;p54"/>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70" name="Google Shape;470;p54"/>
          <p:cNvPicPr preferRelativeResize="0"/>
          <p:nvPr/>
        </p:nvPicPr>
        <p:blipFill>
          <a:blip r:embed="rId4">
            <a:alphaModFix/>
          </a:blip>
          <a:stretch>
            <a:fillRect/>
          </a:stretch>
        </p:blipFill>
        <p:spPr>
          <a:xfrm>
            <a:off x="1023425" y="1884050"/>
            <a:ext cx="3232725" cy="2008999"/>
          </a:xfrm>
          <a:prstGeom prst="rect">
            <a:avLst/>
          </a:prstGeom>
          <a:noFill/>
          <a:ln>
            <a:noFill/>
          </a:ln>
        </p:spPr>
      </p:pic>
      <p:pic>
        <p:nvPicPr>
          <p:cNvPr id="471" name="Google Shape;471;p54"/>
          <p:cNvPicPr preferRelativeResize="0"/>
          <p:nvPr/>
        </p:nvPicPr>
        <p:blipFill>
          <a:blip r:embed="rId5">
            <a:alphaModFix/>
          </a:blip>
          <a:stretch>
            <a:fillRect/>
          </a:stretch>
        </p:blipFill>
        <p:spPr>
          <a:xfrm>
            <a:off x="5274675" y="2435724"/>
            <a:ext cx="3465849" cy="731525"/>
          </a:xfrm>
          <a:prstGeom prst="rect">
            <a:avLst/>
          </a:prstGeom>
          <a:noFill/>
          <a:ln>
            <a:noFill/>
          </a:ln>
        </p:spPr>
      </p:pic>
      <p:sp>
        <p:nvSpPr>
          <p:cNvPr id="472" name="Google Shape;472;p54"/>
          <p:cNvSpPr/>
          <p:nvPr/>
        </p:nvSpPr>
        <p:spPr>
          <a:xfrm>
            <a:off x="4555825" y="2602900"/>
            <a:ext cx="431400" cy="378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5"/>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Although this abstract class has abstract methods, it can include normal methods also. For example, you can add CourseInfo method with a method body to your abstract class: Student as illustrated in the following code :</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78" name="Google Shape;478;p55"/>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Abstract Class</a:t>
            </a:r>
            <a:endParaRPr b="0">
              <a:solidFill>
                <a:schemeClr val="accent1"/>
              </a:solidFill>
            </a:endParaRPr>
          </a:p>
        </p:txBody>
      </p:sp>
      <p:pic>
        <p:nvPicPr>
          <p:cNvPr id="479" name="Google Shape;479;p55"/>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80" name="Google Shape;480;p55"/>
          <p:cNvPicPr preferRelativeResize="0"/>
          <p:nvPr/>
        </p:nvPicPr>
        <p:blipFill>
          <a:blip r:embed="rId4">
            <a:alphaModFix/>
          </a:blip>
          <a:stretch>
            <a:fillRect/>
          </a:stretch>
        </p:blipFill>
        <p:spPr>
          <a:xfrm>
            <a:off x="1012650" y="2046425"/>
            <a:ext cx="3057950" cy="2411775"/>
          </a:xfrm>
          <a:prstGeom prst="rect">
            <a:avLst/>
          </a:prstGeom>
          <a:noFill/>
          <a:ln>
            <a:noFill/>
          </a:ln>
        </p:spPr>
      </p:pic>
      <p:sp>
        <p:nvSpPr>
          <p:cNvPr id="481" name="Google Shape;481;p55"/>
          <p:cNvSpPr/>
          <p:nvPr/>
        </p:nvSpPr>
        <p:spPr>
          <a:xfrm>
            <a:off x="4439000" y="2839525"/>
            <a:ext cx="521100" cy="476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pic>
        <p:nvPicPr>
          <p:cNvPr id="482" name="Google Shape;482;p55"/>
          <p:cNvPicPr preferRelativeResize="0"/>
          <p:nvPr/>
        </p:nvPicPr>
        <p:blipFill>
          <a:blip r:embed="rId5">
            <a:alphaModFix/>
          </a:blip>
          <a:stretch>
            <a:fillRect/>
          </a:stretch>
        </p:blipFill>
        <p:spPr>
          <a:xfrm>
            <a:off x="5239918" y="2668793"/>
            <a:ext cx="3338650" cy="705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6"/>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457200" marR="163195" lvl="0" indent="-285750" algn="l" rtl="0">
              <a:lnSpc>
                <a:spcPct val="115000"/>
              </a:lnSpc>
              <a:spcBef>
                <a:spcPts val="1000"/>
              </a:spcBef>
              <a:spcAft>
                <a:spcPts val="0"/>
              </a:spcAft>
              <a:buClr>
                <a:srgbClr val="222222"/>
              </a:buClr>
              <a:buSzPts val="900"/>
              <a:buFont typeface="Arial"/>
              <a:buAutoNum type="arabicPeriod"/>
            </a:pPr>
            <a:r>
              <a:rPr lang="en" sz="900">
                <a:solidFill>
                  <a:srgbClr val="222222"/>
                </a:solidFill>
                <a:latin typeface="Arial"/>
                <a:ea typeface="Arial"/>
                <a:cs typeface="Arial"/>
                <a:sym typeface="Arial"/>
              </a:rPr>
              <a:t>When creating a Flutter application, click on Ctrl + Shift + P (Show and Run Commands). Click on Flutter &gt; New Project</a:t>
            </a: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285750" algn="l" rtl="0">
              <a:lnSpc>
                <a:spcPct val="115000"/>
              </a:lnSpc>
              <a:spcBef>
                <a:spcPts val="1000"/>
              </a:spcBef>
              <a:spcAft>
                <a:spcPts val="0"/>
              </a:spcAft>
              <a:buClr>
                <a:srgbClr val="222222"/>
              </a:buClr>
              <a:buSzPts val="900"/>
              <a:buFont typeface="Arial"/>
              <a:buAutoNum type="arabicPeriod"/>
            </a:pPr>
            <a:r>
              <a:rPr lang="en" sz="900">
                <a:solidFill>
                  <a:srgbClr val="222222"/>
                </a:solidFill>
                <a:latin typeface="Arial"/>
                <a:ea typeface="Arial"/>
                <a:cs typeface="Arial"/>
                <a:sym typeface="Arial"/>
              </a:rPr>
              <a:t>Select a folder to save your application, and name the Flutter file accordingly.</a:t>
            </a: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88" name="Google Shape;488;p56"/>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489" name="Google Shape;489;p56"/>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90" name="Google Shape;490;p56"/>
          <p:cNvPicPr preferRelativeResize="0"/>
          <p:nvPr/>
        </p:nvPicPr>
        <p:blipFill>
          <a:blip r:embed="rId4">
            <a:alphaModFix/>
          </a:blip>
          <a:stretch>
            <a:fillRect/>
          </a:stretch>
        </p:blipFill>
        <p:spPr>
          <a:xfrm>
            <a:off x="2565425" y="1957325"/>
            <a:ext cx="3491024" cy="1533600"/>
          </a:xfrm>
          <a:prstGeom prst="rect">
            <a:avLst/>
          </a:prstGeom>
          <a:noFill/>
          <a:ln>
            <a:noFill/>
          </a:ln>
        </p:spPr>
      </p:pic>
      <p:pic>
        <p:nvPicPr>
          <p:cNvPr id="491" name="Google Shape;491;p56"/>
          <p:cNvPicPr preferRelativeResize="0"/>
          <p:nvPr/>
        </p:nvPicPr>
        <p:blipFill>
          <a:blip r:embed="rId5">
            <a:alphaModFix/>
          </a:blip>
          <a:stretch>
            <a:fillRect/>
          </a:stretch>
        </p:blipFill>
        <p:spPr>
          <a:xfrm>
            <a:off x="2651952" y="3959975"/>
            <a:ext cx="3317974" cy="4713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7"/>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    3. Your flutter project is ready.</a:t>
            </a: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497" name="Google Shape;497;p57"/>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498" name="Google Shape;498;p57"/>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499" name="Google Shape;499;p57"/>
          <p:cNvPicPr preferRelativeResize="0"/>
          <p:nvPr/>
        </p:nvPicPr>
        <p:blipFill>
          <a:blip r:embed="rId4">
            <a:alphaModFix/>
          </a:blip>
          <a:stretch>
            <a:fillRect/>
          </a:stretch>
        </p:blipFill>
        <p:spPr>
          <a:xfrm>
            <a:off x="1770563" y="1815800"/>
            <a:ext cx="5282023" cy="2665799"/>
          </a:xfrm>
          <a:prstGeom prst="rect">
            <a:avLst/>
          </a:prstGeom>
          <a:noFill/>
          <a:ln>
            <a:noFill/>
          </a:ln>
        </p:spPr>
      </p:pic>
      <p:sp>
        <p:nvSpPr>
          <p:cNvPr id="500" name="Google Shape;500;p57"/>
          <p:cNvSpPr txBox="1">
            <a:spLocks noGrp="1"/>
          </p:cNvSpPr>
          <p:nvPr>
            <p:ph type="body" idx="1"/>
          </p:nvPr>
        </p:nvSpPr>
        <p:spPr>
          <a:xfrm>
            <a:off x="140225" y="2301125"/>
            <a:ext cx="1273500" cy="16017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800" b="1">
                <a:solidFill>
                  <a:srgbClr val="188038"/>
                </a:solidFill>
                <a:latin typeface="Roboto Mono"/>
                <a:ea typeface="Roboto Mono"/>
                <a:cs typeface="Roboto Mono"/>
                <a:sym typeface="Roboto Mono"/>
              </a:rPr>
              <a:t>lib/</a:t>
            </a:r>
            <a:r>
              <a:rPr lang="en" sz="800">
                <a:solidFill>
                  <a:srgbClr val="000000"/>
                </a:solidFill>
                <a:latin typeface="Arial"/>
                <a:ea typeface="Arial"/>
                <a:cs typeface="Arial"/>
                <a:sym typeface="Arial"/>
              </a:rPr>
              <a:t>: This directory contains all your Dart library files. It’s common to place main code files and utility files here if you are building a package or a library. For a small project, you may skip this directory and keep all files at the root level.</a:t>
            </a:r>
            <a:endParaRPr sz="700">
              <a:solidFill>
                <a:srgbClr val="000000"/>
              </a:solidFill>
              <a:latin typeface="Helvetica Neue"/>
              <a:ea typeface="Helvetica Neue"/>
              <a:cs typeface="Helvetica Neue"/>
              <a:sym typeface="Helvetica Neue"/>
            </a:endParaRPr>
          </a:p>
        </p:txBody>
      </p:sp>
      <p:sp>
        <p:nvSpPr>
          <p:cNvPr id="501" name="Google Shape;501;p57"/>
          <p:cNvSpPr txBox="1">
            <a:spLocks noGrp="1"/>
          </p:cNvSpPr>
          <p:nvPr>
            <p:ph type="body" idx="1"/>
          </p:nvPr>
        </p:nvSpPr>
        <p:spPr>
          <a:xfrm>
            <a:off x="7409425" y="2399600"/>
            <a:ext cx="1273500" cy="9102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800" b="1">
                <a:solidFill>
                  <a:srgbClr val="188038"/>
                </a:solidFill>
                <a:latin typeface="Roboto Mono"/>
                <a:ea typeface="Roboto Mono"/>
                <a:cs typeface="Roboto Mono"/>
                <a:sym typeface="Roboto Mono"/>
              </a:rPr>
              <a:t>test/:</a:t>
            </a:r>
            <a:r>
              <a:rPr lang="en" sz="800">
                <a:solidFill>
                  <a:srgbClr val="000000"/>
                </a:solidFill>
                <a:latin typeface="Arial"/>
                <a:ea typeface="Arial"/>
                <a:cs typeface="Arial"/>
                <a:sym typeface="Arial"/>
              </a:rPr>
              <a:t> This directory is for testing files, where you can write and organize unit tests for your project.</a:t>
            </a:r>
            <a:endParaRPr sz="700">
              <a:solidFill>
                <a:srgbClr val="000000"/>
              </a:solidFill>
              <a:latin typeface="Helvetica Neue"/>
              <a:ea typeface="Helvetica Neue"/>
              <a:cs typeface="Helvetica Neue"/>
              <a:sym typeface="Helvetica Neue"/>
            </a:endParaRPr>
          </a:p>
        </p:txBody>
      </p:sp>
      <p:sp>
        <p:nvSpPr>
          <p:cNvPr id="502" name="Google Shape;502;p57"/>
          <p:cNvSpPr txBox="1">
            <a:spLocks noGrp="1"/>
          </p:cNvSpPr>
          <p:nvPr>
            <p:ph type="body" idx="1"/>
          </p:nvPr>
        </p:nvSpPr>
        <p:spPr>
          <a:xfrm>
            <a:off x="2046025" y="4515600"/>
            <a:ext cx="4057500" cy="627900"/>
          </a:xfrm>
          <a:prstGeom prst="rect">
            <a:avLst/>
          </a:prstGeom>
          <a:solidFill>
            <a:schemeClr val="dk2"/>
          </a:solidFill>
        </p:spPr>
        <p:txBody>
          <a:bodyPr spcFirstLastPara="1" wrap="square" lIns="91425" tIns="91425" rIns="91425" bIns="91425" anchor="t" anchorCtr="0">
            <a:noAutofit/>
          </a:bodyPr>
          <a:lstStyle/>
          <a:p>
            <a:pPr marL="12700" lvl="0" indent="0" algn="l" rtl="0">
              <a:spcBef>
                <a:spcPts val="940"/>
              </a:spcBef>
              <a:spcAft>
                <a:spcPts val="0"/>
              </a:spcAft>
              <a:buNone/>
            </a:pPr>
            <a:r>
              <a:rPr lang="en" sz="800" b="1">
                <a:solidFill>
                  <a:srgbClr val="188038"/>
                </a:solidFill>
                <a:latin typeface="Roboto Mono"/>
                <a:ea typeface="Roboto Mono"/>
                <a:cs typeface="Roboto Mono"/>
                <a:sym typeface="Roboto Mono"/>
              </a:rPr>
              <a:t>pubspec.yaml:</a:t>
            </a:r>
            <a:r>
              <a:rPr lang="en" sz="800">
                <a:solidFill>
                  <a:srgbClr val="000000"/>
                </a:solidFill>
                <a:latin typeface="Arial"/>
                <a:ea typeface="Arial"/>
                <a:cs typeface="Arial"/>
                <a:sym typeface="Arial"/>
              </a:rPr>
              <a:t> This file is the main configuration file for Dart projects. Here, you define project dependencies, environment settings, and metadata like the project name and version.</a:t>
            </a:r>
            <a:endParaRPr sz="700">
              <a:solidFill>
                <a:srgbClr val="000000"/>
              </a:solidFill>
              <a:latin typeface="Helvetica Neue"/>
              <a:ea typeface="Helvetica Neue"/>
              <a:cs typeface="Helvetica Neue"/>
              <a:sym typeface="Helvetica Neue"/>
            </a:endParaRPr>
          </a:p>
        </p:txBody>
      </p:sp>
      <p:sp>
        <p:nvSpPr>
          <p:cNvPr id="503" name="Google Shape;503;p57"/>
          <p:cNvSpPr/>
          <p:nvPr/>
        </p:nvSpPr>
        <p:spPr>
          <a:xfrm>
            <a:off x="1054350" y="2206405"/>
            <a:ext cx="907550" cy="396475"/>
          </a:xfrm>
          <a:custGeom>
            <a:avLst/>
            <a:gdLst/>
            <a:ahLst/>
            <a:cxnLst/>
            <a:rect l="l" t="t" r="r" b="b"/>
            <a:pathLst>
              <a:path w="36302" h="15859" extrusionOk="0">
                <a:moveTo>
                  <a:pt x="0" y="3639"/>
                </a:moveTo>
                <a:cubicBezTo>
                  <a:pt x="6230" y="2082"/>
                  <a:pt x="13038" y="-1492"/>
                  <a:pt x="19050" y="764"/>
                </a:cubicBezTo>
                <a:cubicBezTo>
                  <a:pt x="26204" y="3449"/>
                  <a:pt x="29467" y="12443"/>
                  <a:pt x="36302" y="15860"/>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504" name="Google Shape;504;p57"/>
          <p:cNvSpPr/>
          <p:nvPr/>
        </p:nvSpPr>
        <p:spPr>
          <a:xfrm>
            <a:off x="1994108" y="3699175"/>
            <a:ext cx="837450" cy="943525"/>
          </a:xfrm>
          <a:custGeom>
            <a:avLst/>
            <a:gdLst/>
            <a:ahLst/>
            <a:cxnLst/>
            <a:rect l="l" t="t" r="r" b="b"/>
            <a:pathLst>
              <a:path w="33498" h="37741" extrusionOk="0">
                <a:moveTo>
                  <a:pt x="1947" y="37741"/>
                </a:moveTo>
                <a:cubicBezTo>
                  <a:pt x="-8713" y="29211"/>
                  <a:pt x="27823" y="23016"/>
                  <a:pt x="32140" y="10064"/>
                </a:cubicBezTo>
                <a:cubicBezTo>
                  <a:pt x="32831" y="7990"/>
                  <a:pt x="34030" y="5624"/>
                  <a:pt x="33218" y="3594"/>
                </a:cubicBezTo>
                <a:cubicBezTo>
                  <a:pt x="32061" y="702"/>
                  <a:pt x="27379" y="1391"/>
                  <a:pt x="24592" y="0"/>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505" name="Google Shape;505;p57"/>
          <p:cNvSpPr/>
          <p:nvPr/>
        </p:nvSpPr>
        <p:spPr>
          <a:xfrm>
            <a:off x="2366275" y="2540000"/>
            <a:ext cx="5041050" cy="479325"/>
          </a:xfrm>
          <a:custGeom>
            <a:avLst/>
            <a:gdLst/>
            <a:ahLst/>
            <a:cxnLst/>
            <a:rect l="l" t="t" r="r" b="b"/>
            <a:pathLst>
              <a:path w="201642" h="19173" extrusionOk="0">
                <a:moveTo>
                  <a:pt x="201642" y="0"/>
                </a:moveTo>
                <a:cubicBezTo>
                  <a:pt x="173678" y="4656"/>
                  <a:pt x="145121" y="4538"/>
                  <a:pt x="116816" y="6110"/>
                </a:cubicBezTo>
                <a:cubicBezTo>
                  <a:pt x="96378" y="7245"/>
                  <a:pt x="76158" y="11249"/>
                  <a:pt x="55712" y="12221"/>
                </a:cubicBezTo>
                <a:cubicBezTo>
                  <a:pt x="42663" y="12842"/>
                  <a:pt x="29903" y="16427"/>
                  <a:pt x="16893" y="17612"/>
                </a:cubicBezTo>
                <a:cubicBezTo>
                  <a:pt x="11284" y="18123"/>
                  <a:pt x="5039" y="20488"/>
                  <a:pt x="0" y="17972"/>
                </a:cubicBezTo>
              </a:path>
            </a:pathLst>
          </a:custGeom>
          <a:noFill/>
          <a:ln w="9525" cap="flat" cmpd="sng">
            <a:solidFill>
              <a:schemeClr val="dk2"/>
            </a:solidFill>
            <a:prstDash val="solid"/>
            <a:round/>
            <a:headEnd type="none" w="med" len="med"/>
            <a:tailEnd type="none" w="med" len="med"/>
          </a:ln>
        </p:spPr>
        <p:txBody>
          <a:bodyPr/>
          <a:lstStyle/>
          <a:p>
            <a:endParaRPr lang="en-MY"/>
          </a:p>
        </p:txBody>
      </p:sp>
      <p:sp>
        <p:nvSpPr>
          <p:cNvPr id="506" name="Google Shape;506;p57"/>
          <p:cNvSpPr/>
          <p:nvPr/>
        </p:nvSpPr>
        <p:spPr>
          <a:xfrm rot="-10793501">
            <a:off x="2480431" y="3652255"/>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507" name="Google Shape;507;p57"/>
          <p:cNvSpPr/>
          <p:nvPr/>
        </p:nvSpPr>
        <p:spPr>
          <a:xfrm rot="-10793501">
            <a:off x="2260506" y="2935855"/>
            <a:ext cx="158700" cy="1002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
        <p:nvSpPr>
          <p:cNvPr id="508" name="Google Shape;508;p57"/>
          <p:cNvSpPr/>
          <p:nvPr/>
        </p:nvSpPr>
        <p:spPr>
          <a:xfrm rot="7976">
            <a:off x="1887326" y="2566850"/>
            <a:ext cx="129300" cy="771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missioner"/>
              <a:ea typeface="Commissioner"/>
              <a:cs typeface="Commissioner"/>
              <a:sym typeface="Commission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8"/>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The Dart SDK has the libraries and command-line tools that you need to develop Dart web, command-line, and mobile apps.You can use the Dart libraries which are already added to your IDE since installing the Dart SDK, or you can create your own libraries which you may use frequently in developing your Dart projects. It is recommended to consider these libraries similar to Microsoft Word templates which you may use for creating different types of documents such as resumes, invoices or reports.The Dart SDK includes a libraries directory for the Dart libraries. Also, you may use the External Libraries, installed with the Dart SDK directory, which includes the libraries created by Google developers. This directory is illustrated in the following figure:</a:t>
            </a:r>
            <a:endParaRPr sz="900">
              <a:solidFill>
                <a:srgbClr val="222222"/>
              </a:solidFill>
              <a:latin typeface="Arial"/>
              <a:ea typeface="Arial"/>
              <a:cs typeface="Arial"/>
              <a:sym typeface="Arial"/>
            </a:endParaRPr>
          </a:p>
          <a:p>
            <a:pPr marL="0" lvl="0" indent="0" algn="l" rtl="0">
              <a:lnSpc>
                <a:spcPct val="115000"/>
              </a:lnSpc>
              <a:spcBef>
                <a:spcPts val="1400"/>
              </a:spcBef>
              <a:spcAft>
                <a:spcPts val="0"/>
              </a:spcAft>
              <a:buNone/>
            </a:pPr>
            <a:r>
              <a:rPr lang="en" sz="1300" b="1">
                <a:solidFill>
                  <a:srgbClr val="000000"/>
                </a:solidFill>
                <a:latin typeface="Arial"/>
                <a:ea typeface="Arial"/>
                <a:cs typeface="Arial"/>
                <a:sym typeface="Arial"/>
              </a:rPr>
              <a:t>1. Check </a:t>
            </a:r>
            <a:r>
              <a:rPr lang="en" sz="1300" b="1">
                <a:solidFill>
                  <a:srgbClr val="188038"/>
                </a:solidFill>
                <a:latin typeface="Roboto Mono"/>
                <a:ea typeface="Roboto Mono"/>
                <a:cs typeface="Roboto Mono"/>
                <a:sym typeface="Roboto Mono"/>
              </a:rPr>
              <a:t>pubspec.yaml</a:t>
            </a:r>
            <a:r>
              <a:rPr lang="en" sz="1300" b="1">
                <a:solidFill>
                  <a:srgbClr val="000000"/>
                </a:solidFill>
                <a:latin typeface="Arial"/>
                <a:ea typeface="Arial"/>
                <a:cs typeface="Arial"/>
                <a:sym typeface="Arial"/>
              </a:rPr>
              <a:t> for Dependencies</a:t>
            </a:r>
            <a:endParaRPr sz="1300" b="1">
              <a:solidFill>
                <a:srgbClr val="000000"/>
              </a:solidFill>
              <a:latin typeface="Arial"/>
              <a:ea typeface="Arial"/>
              <a:cs typeface="Arial"/>
              <a:sym typeface="Arial"/>
            </a:endParaRPr>
          </a:p>
          <a:p>
            <a:pPr marL="457200" lvl="0" indent="-298450" algn="l" rtl="0">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In Dart projects, all external libraries (or dependencies) are listed in the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 file, located at the root of your project.</a:t>
            </a:r>
            <a:endParaRPr sz="1100">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Open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 to add or view the libraries under the </a:t>
            </a:r>
            <a:r>
              <a:rPr lang="en" sz="1100">
                <a:solidFill>
                  <a:srgbClr val="188038"/>
                </a:solidFill>
                <a:latin typeface="Roboto Mono"/>
                <a:ea typeface="Roboto Mono"/>
                <a:cs typeface="Roboto Mono"/>
                <a:sym typeface="Roboto Mono"/>
              </a:rPr>
              <a:t>dependencies</a:t>
            </a:r>
            <a:r>
              <a:rPr lang="en" sz="1100">
                <a:solidFill>
                  <a:srgbClr val="000000"/>
                </a:solidFill>
                <a:latin typeface="Arial"/>
                <a:ea typeface="Arial"/>
                <a:cs typeface="Arial"/>
                <a:sym typeface="Arial"/>
              </a:rPr>
              <a:t> or </a:t>
            </a:r>
            <a:r>
              <a:rPr lang="en" sz="1100">
                <a:solidFill>
                  <a:srgbClr val="188038"/>
                </a:solidFill>
                <a:latin typeface="Roboto Mono"/>
                <a:ea typeface="Roboto Mono"/>
                <a:cs typeface="Roboto Mono"/>
                <a:sym typeface="Roboto Mono"/>
              </a:rPr>
              <a:t>dev_dependencies</a:t>
            </a:r>
            <a:r>
              <a:rPr lang="en" sz="1100">
                <a:solidFill>
                  <a:srgbClr val="000000"/>
                </a:solidFill>
                <a:latin typeface="Arial"/>
                <a:ea typeface="Arial"/>
                <a:cs typeface="Arial"/>
                <a:sym typeface="Arial"/>
              </a:rPr>
              <a:t> sections.</a:t>
            </a:r>
            <a:endParaRPr sz="1100">
              <a:solidFill>
                <a:srgbClr val="000000"/>
              </a:solidFill>
              <a:latin typeface="Arial"/>
              <a:ea typeface="Arial"/>
              <a:cs typeface="Arial"/>
              <a:sym typeface="Arial"/>
            </a:endParaRPr>
          </a:p>
          <a:p>
            <a:pPr marL="0" marR="163195" lvl="0" indent="0" algn="l" rtl="0">
              <a:lnSpc>
                <a:spcPct val="115000"/>
              </a:lnSpc>
              <a:spcBef>
                <a:spcPts val="12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514" name="Google Shape;514;p58"/>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515" name="Google Shape;515;p58"/>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16" name="Google Shape;516;p58"/>
          <p:cNvPicPr preferRelativeResize="0"/>
          <p:nvPr/>
        </p:nvPicPr>
        <p:blipFill>
          <a:blip r:embed="rId4">
            <a:alphaModFix/>
          </a:blip>
          <a:stretch>
            <a:fillRect/>
          </a:stretch>
        </p:blipFill>
        <p:spPr>
          <a:xfrm>
            <a:off x="6005475" y="3843725"/>
            <a:ext cx="2881126" cy="1183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9"/>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The Dart SDK has the libraries and command-line tools that you need to develop Dart web, command-line, and mobile apps.You can use the Dart libraries which are already added to your IDE since installing the Dart SDK, or you can create your own libraries which you may use frequently in developing your Dart projects. It is recommended to consider these libraries similar to Microsoft Word templates which you may use for creating different types of documents such as resumes, invoices or reports.The Dart SDK includes a libraries directory for the Dart libraries. Also, you may use the External Libraries, installed with the Dart SDK directory, which includes the libraries created by Google developers. This directory is illustrated in the following figure:</a:t>
            </a:r>
            <a:endParaRPr sz="900">
              <a:solidFill>
                <a:srgbClr val="222222"/>
              </a:solidFill>
              <a:latin typeface="Arial"/>
              <a:ea typeface="Arial"/>
              <a:cs typeface="Arial"/>
              <a:sym typeface="Arial"/>
            </a:endParaRPr>
          </a:p>
          <a:p>
            <a:pPr marL="0" lvl="0" indent="0" algn="l" rtl="0">
              <a:lnSpc>
                <a:spcPct val="115000"/>
              </a:lnSpc>
              <a:spcBef>
                <a:spcPts val="1400"/>
              </a:spcBef>
              <a:spcAft>
                <a:spcPts val="0"/>
              </a:spcAft>
              <a:buNone/>
            </a:pPr>
            <a:r>
              <a:rPr lang="en" sz="1300" b="1">
                <a:solidFill>
                  <a:srgbClr val="000000"/>
                </a:solidFill>
                <a:latin typeface="Arial"/>
                <a:ea typeface="Arial"/>
                <a:cs typeface="Arial"/>
                <a:sym typeface="Arial"/>
              </a:rPr>
              <a:t>1. Check </a:t>
            </a:r>
            <a:r>
              <a:rPr lang="en" sz="1300" b="1">
                <a:solidFill>
                  <a:srgbClr val="188038"/>
                </a:solidFill>
                <a:latin typeface="Roboto Mono"/>
                <a:ea typeface="Roboto Mono"/>
                <a:cs typeface="Roboto Mono"/>
                <a:sym typeface="Roboto Mono"/>
              </a:rPr>
              <a:t>pubspec.yaml</a:t>
            </a:r>
            <a:r>
              <a:rPr lang="en" sz="1300" b="1">
                <a:solidFill>
                  <a:srgbClr val="000000"/>
                </a:solidFill>
                <a:latin typeface="Arial"/>
                <a:ea typeface="Arial"/>
                <a:cs typeface="Arial"/>
                <a:sym typeface="Arial"/>
              </a:rPr>
              <a:t> for Dependencies</a:t>
            </a:r>
            <a:endParaRPr sz="1300" b="1">
              <a:solidFill>
                <a:srgbClr val="000000"/>
              </a:solidFill>
              <a:latin typeface="Arial"/>
              <a:ea typeface="Arial"/>
              <a:cs typeface="Arial"/>
              <a:sym typeface="Arial"/>
            </a:endParaRPr>
          </a:p>
          <a:p>
            <a:pPr marL="457200" lvl="0" indent="-298450" algn="l" rtl="0">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In Dart projects, all external libraries (or dependencies) are listed in the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 file, located at the root of your project.</a:t>
            </a:r>
            <a:endParaRPr sz="1100">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Open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 to add or view the libraries under the </a:t>
            </a:r>
            <a:r>
              <a:rPr lang="en" sz="1100">
                <a:solidFill>
                  <a:srgbClr val="188038"/>
                </a:solidFill>
                <a:latin typeface="Roboto Mono"/>
                <a:ea typeface="Roboto Mono"/>
                <a:cs typeface="Roboto Mono"/>
                <a:sym typeface="Roboto Mono"/>
              </a:rPr>
              <a:t>dependencies</a:t>
            </a:r>
            <a:r>
              <a:rPr lang="en" sz="1100">
                <a:solidFill>
                  <a:srgbClr val="000000"/>
                </a:solidFill>
                <a:latin typeface="Arial"/>
                <a:ea typeface="Arial"/>
                <a:cs typeface="Arial"/>
                <a:sym typeface="Arial"/>
              </a:rPr>
              <a:t> or </a:t>
            </a:r>
            <a:r>
              <a:rPr lang="en" sz="1100">
                <a:solidFill>
                  <a:srgbClr val="188038"/>
                </a:solidFill>
                <a:latin typeface="Roboto Mono"/>
                <a:ea typeface="Roboto Mono"/>
                <a:cs typeface="Roboto Mono"/>
                <a:sym typeface="Roboto Mono"/>
              </a:rPr>
              <a:t>dev_dependencies</a:t>
            </a:r>
            <a:r>
              <a:rPr lang="en" sz="1100">
                <a:solidFill>
                  <a:srgbClr val="000000"/>
                </a:solidFill>
                <a:latin typeface="Arial"/>
                <a:ea typeface="Arial"/>
                <a:cs typeface="Arial"/>
                <a:sym typeface="Arial"/>
              </a:rPr>
              <a:t> sections.</a:t>
            </a:r>
            <a:endParaRPr sz="1100">
              <a:solidFill>
                <a:srgbClr val="000000"/>
              </a:solidFill>
              <a:latin typeface="Arial"/>
              <a:ea typeface="Arial"/>
              <a:cs typeface="Arial"/>
              <a:sym typeface="Arial"/>
            </a:endParaRPr>
          </a:p>
          <a:p>
            <a:pPr marL="0" marR="163195" lvl="0" indent="0" algn="l" rtl="0">
              <a:lnSpc>
                <a:spcPct val="115000"/>
              </a:lnSpc>
              <a:spcBef>
                <a:spcPts val="12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522" name="Google Shape;522;p59"/>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523" name="Google Shape;523;p59"/>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24" name="Google Shape;524;p59"/>
          <p:cNvPicPr preferRelativeResize="0"/>
          <p:nvPr/>
        </p:nvPicPr>
        <p:blipFill>
          <a:blip r:embed="rId4">
            <a:alphaModFix/>
          </a:blip>
          <a:stretch>
            <a:fillRect/>
          </a:stretch>
        </p:blipFill>
        <p:spPr>
          <a:xfrm>
            <a:off x="6005475" y="3843725"/>
            <a:ext cx="2881126" cy="1183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60"/>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300" b="1">
                <a:solidFill>
                  <a:srgbClr val="000000"/>
                </a:solidFill>
                <a:latin typeface="Arial"/>
                <a:ea typeface="Arial"/>
                <a:cs typeface="Arial"/>
                <a:sym typeface="Arial"/>
              </a:rPr>
              <a:t>2. Download Libraries Using </a:t>
            </a:r>
            <a:r>
              <a:rPr lang="en" sz="1300" b="1">
                <a:solidFill>
                  <a:srgbClr val="188038"/>
                </a:solidFill>
                <a:latin typeface="Roboto Mono"/>
                <a:ea typeface="Roboto Mono"/>
                <a:cs typeface="Roboto Mono"/>
                <a:sym typeface="Roboto Mono"/>
              </a:rPr>
              <a:t>pub get</a:t>
            </a:r>
            <a:endParaRPr sz="1300" b="1">
              <a:solidFill>
                <a:srgbClr val="188038"/>
              </a:solidFill>
              <a:latin typeface="Roboto Mono"/>
              <a:ea typeface="Roboto Mono"/>
              <a:cs typeface="Roboto Mono"/>
              <a:sym typeface="Roboto Mono"/>
            </a:endParaRPr>
          </a:p>
          <a:p>
            <a:pPr marL="457200" lvl="0" indent="-298450" algn="l" rtl="0">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Once you’ve added dependencies in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 run </a:t>
            </a:r>
            <a:r>
              <a:rPr lang="en" sz="1100">
                <a:solidFill>
                  <a:srgbClr val="188038"/>
                </a:solidFill>
                <a:latin typeface="Roboto Mono"/>
                <a:ea typeface="Roboto Mono"/>
                <a:cs typeface="Roboto Mono"/>
                <a:sym typeface="Roboto Mono"/>
              </a:rPr>
              <a:t>dart pub get</a:t>
            </a:r>
            <a:r>
              <a:rPr lang="en" sz="1100">
                <a:solidFill>
                  <a:srgbClr val="000000"/>
                </a:solidFill>
                <a:latin typeface="Arial"/>
                <a:ea typeface="Arial"/>
                <a:cs typeface="Arial"/>
                <a:sym typeface="Arial"/>
              </a:rPr>
              <a:t> in the terminal to fetch the libraries.</a:t>
            </a:r>
            <a:endParaRPr sz="1100">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VS Code’s Dart extension may also prompt you to fetch packages automatically when you save changes to </a:t>
            </a:r>
            <a:r>
              <a:rPr lang="en" sz="1100">
                <a:solidFill>
                  <a:srgbClr val="188038"/>
                </a:solidFill>
                <a:latin typeface="Roboto Mono"/>
                <a:ea typeface="Roboto Mono"/>
                <a:cs typeface="Roboto Mono"/>
                <a:sym typeface="Roboto Mono"/>
              </a:rPr>
              <a:t>pubspec.yaml</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marL="0" lvl="0" indent="0" algn="l" rtl="0">
              <a:lnSpc>
                <a:spcPct val="115000"/>
              </a:lnSpc>
              <a:spcBef>
                <a:spcPts val="1400"/>
              </a:spcBef>
              <a:spcAft>
                <a:spcPts val="0"/>
              </a:spcAft>
              <a:buNone/>
            </a:pPr>
            <a:endParaRPr sz="1300" b="1">
              <a:solidFill>
                <a:srgbClr val="000000"/>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530" name="Google Shape;530;p60"/>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531" name="Google Shape;531;p60"/>
          <p:cNvPicPr preferRelativeResize="0"/>
          <p:nvPr/>
        </p:nvPicPr>
        <p:blipFill>
          <a:blip r:embed="rId3">
            <a:alphaModFix/>
          </a:blip>
          <a:stretch>
            <a:fillRect/>
          </a:stretch>
        </p:blipFill>
        <p:spPr>
          <a:xfrm>
            <a:off x="7339974" y="77975"/>
            <a:ext cx="1724050" cy="377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61"/>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a:solidFill>
                  <a:srgbClr val="222222"/>
                </a:solidFill>
                <a:latin typeface="Arial"/>
                <a:ea typeface="Arial"/>
                <a:cs typeface="Arial"/>
                <a:sym typeface="Arial"/>
              </a:rPr>
              <a:t>Example: Importing Math library</a:t>
            </a:r>
            <a:endParaRPr sz="900">
              <a:solidFill>
                <a:srgbClr val="222222"/>
              </a:solidFill>
              <a:latin typeface="Arial"/>
              <a:ea typeface="Arial"/>
              <a:cs typeface="Arial"/>
              <a:sym typeface="Arial"/>
            </a:endParaRPr>
          </a:p>
          <a:p>
            <a:pPr marL="457200" marR="163195" lvl="0" indent="-285750" algn="l" rtl="0">
              <a:lnSpc>
                <a:spcPct val="115000"/>
              </a:lnSpc>
              <a:spcBef>
                <a:spcPts val="1000"/>
              </a:spcBef>
              <a:spcAft>
                <a:spcPts val="0"/>
              </a:spcAft>
              <a:buClr>
                <a:srgbClr val="222222"/>
              </a:buClr>
              <a:buSzPts val="900"/>
              <a:buFont typeface="Arial"/>
              <a:buAutoNum type="arabicPeriod"/>
            </a:pPr>
            <a:r>
              <a:rPr lang="en" sz="900">
                <a:solidFill>
                  <a:srgbClr val="222222"/>
                </a:solidFill>
                <a:latin typeface="Arial"/>
                <a:ea typeface="Arial"/>
                <a:cs typeface="Arial"/>
                <a:sym typeface="Arial"/>
              </a:rPr>
              <a:t>Write down the following at the top of your Main.dart file.</a:t>
            </a: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285750" algn="l" rtl="0">
              <a:lnSpc>
                <a:spcPct val="115000"/>
              </a:lnSpc>
              <a:spcBef>
                <a:spcPts val="1000"/>
              </a:spcBef>
              <a:spcAft>
                <a:spcPts val="0"/>
              </a:spcAft>
              <a:buClr>
                <a:srgbClr val="222222"/>
              </a:buClr>
              <a:buSzPts val="900"/>
              <a:buFont typeface="Arial"/>
              <a:buAutoNum type="arabicPeriod"/>
            </a:pPr>
            <a:r>
              <a:rPr lang="en" sz="900">
                <a:solidFill>
                  <a:srgbClr val="222222"/>
                </a:solidFill>
                <a:latin typeface="Arial"/>
                <a:ea typeface="Arial"/>
                <a:cs typeface="Arial"/>
                <a:sym typeface="Arial"/>
              </a:rPr>
              <a:t>Now, you are able to access all of the math methods.</a:t>
            </a: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a:solidFill>
                <a:srgbClr val="222222"/>
              </a:solidFill>
              <a:latin typeface="Arial"/>
              <a:ea typeface="Arial"/>
              <a:cs typeface="Arial"/>
              <a:sym typeface="Arial"/>
            </a:endParaRPr>
          </a:p>
        </p:txBody>
      </p:sp>
      <p:sp>
        <p:nvSpPr>
          <p:cNvPr id="537" name="Google Shape;537;p61"/>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538" name="Google Shape;538;p61"/>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39" name="Google Shape;539;p61"/>
          <p:cNvPicPr preferRelativeResize="0"/>
          <p:nvPr/>
        </p:nvPicPr>
        <p:blipFill>
          <a:blip r:embed="rId4">
            <a:alphaModFix/>
          </a:blip>
          <a:stretch>
            <a:fillRect/>
          </a:stretch>
        </p:blipFill>
        <p:spPr>
          <a:xfrm>
            <a:off x="2301300" y="2157325"/>
            <a:ext cx="3842675" cy="491750"/>
          </a:xfrm>
          <a:prstGeom prst="rect">
            <a:avLst/>
          </a:prstGeom>
          <a:noFill/>
          <a:ln>
            <a:noFill/>
          </a:ln>
        </p:spPr>
      </p:pic>
      <p:pic>
        <p:nvPicPr>
          <p:cNvPr id="540" name="Google Shape;540;p61"/>
          <p:cNvPicPr preferRelativeResize="0"/>
          <p:nvPr/>
        </p:nvPicPr>
        <p:blipFill>
          <a:blip r:embed="rId5">
            <a:alphaModFix/>
          </a:blip>
          <a:stretch>
            <a:fillRect/>
          </a:stretch>
        </p:blipFill>
        <p:spPr>
          <a:xfrm>
            <a:off x="2629998" y="3389948"/>
            <a:ext cx="2460125" cy="1502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2"/>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Example: Importing Math library for max function</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    3. Write down the following code.</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     4. This will be the output.</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45720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p:txBody>
      </p:sp>
      <p:sp>
        <p:nvSpPr>
          <p:cNvPr id="546" name="Google Shape;546;p62"/>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Dart Project Structure and Dart Libraries</a:t>
            </a:r>
            <a:endParaRPr b="0">
              <a:solidFill>
                <a:schemeClr val="accent1"/>
              </a:solidFill>
            </a:endParaRPr>
          </a:p>
        </p:txBody>
      </p:sp>
      <p:pic>
        <p:nvPicPr>
          <p:cNvPr id="547" name="Google Shape;547;p62"/>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48" name="Google Shape;548;p62"/>
          <p:cNvPicPr preferRelativeResize="0"/>
          <p:nvPr/>
        </p:nvPicPr>
        <p:blipFill>
          <a:blip r:embed="rId4">
            <a:alphaModFix/>
          </a:blip>
          <a:stretch>
            <a:fillRect/>
          </a:stretch>
        </p:blipFill>
        <p:spPr>
          <a:xfrm>
            <a:off x="2570725" y="2121625"/>
            <a:ext cx="2931476" cy="1485275"/>
          </a:xfrm>
          <a:prstGeom prst="rect">
            <a:avLst/>
          </a:prstGeom>
          <a:noFill/>
          <a:ln>
            <a:noFill/>
          </a:ln>
        </p:spPr>
      </p:pic>
      <p:pic>
        <p:nvPicPr>
          <p:cNvPr id="549" name="Google Shape;549;p62"/>
          <p:cNvPicPr preferRelativeResize="0"/>
          <p:nvPr/>
        </p:nvPicPr>
        <p:blipFill>
          <a:blip r:embed="rId5">
            <a:alphaModFix/>
          </a:blip>
          <a:stretch>
            <a:fillRect/>
          </a:stretch>
        </p:blipFill>
        <p:spPr>
          <a:xfrm>
            <a:off x="2202263" y="4240244"/>
            <a:ext cx="3668392" cy="3779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63"/>
          <p:cNvSpPr txBox="1">
            <a:spLocks noGrp="1"/>
          </p:cNvSpPr>
          <p:nvPr>
            <p:ph type="body" idx="1"/>
          </p:nvPr>
        </p:nvSpPr>
        <p:spPr>
          <a:xfrm>
            <a:off x="730607" y="967429"/>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b="1" dirty="0">
                <a:solidFill>
                  <a:srgbClr val="222222"/>
                </a:solidFill>
                <a:latin typeface="Arial"/>
                <a:ea typeface="Arial"/>
                <a:cs typeface="Arial"/>
                <a:sym typeface="Arial"/>
              </a:rPr>
              <a:t>Step 1: </a:t>
            </a:r>
            <a:r>
              <a:rPr lang="en" sz="900" dirty="0">
                <a:solidFill>
                  <a:srgbClr val="222222"/>
                </a:solidFill>
                <a:latin typeface="Arial"/>
                <a:ea typeface="Arial"/>
                <a:cs typeface="Arial"/>
                <a:sym typeface="Arial"/>
              </a:rPr>
              <a:t>Set Up the Project in Visual Studio Code</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1. Open Visual Studio Code  and click on `File → Open Folder`.</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2. Create a new folder named `Lab3` and open it in VS Code.</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b="1" dirty="0">
                <a:solidFill>
                  <a:srgbClr val="222222"/>
                </a:solidFill>
                <a:latin typeface="Arial"/>
                <a:ea typeface="Arial"/>
                <a:cs typeface="Arial"/>
                <a:sym typeface="Arial"/>
              </a:rPr>
              <a:t>Step 2:</a:t>
            </a:r>
            <a:r>
              <a:rPr lang="en" sz="900" dirty="0">
                <a:solidFill>
                  <a:srgbClr val="222222"/>
                </a:solidFill>
                <a:latin typeface="Arial"/>
                <a:ea typeface="Arial"/>
                <a:cs typeface="Arial"/>
                <a:sym typeface="Arial"/>
              </a:rPr>
              <a:t> Create `myLib.dart` Library File</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1. In VS Code, right-click on the `Lab3` folder in the file explorer, and select **New File**.</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2. Name the file `myLib.dart` and press Enter.</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r>
              <a:rPr lang="en" sz="900" dirty="0">
                <a:solidFill>
                  <a:srgbClr val="222222"/>
                </a:solidFill>
                <a:latin typeface="Arial"/>
                <a:ea typeface="Arial"/>
                <a:cs typeface="Arial"/>
                <a:sym typeface="Arial"/>
              </a:rPr>
              <a:t>3. In `myLib.dart`, define the `employee` class with its properties and methods. Write the following code: </a:t>
            </a:r>
            <a:endParaRPr sz="900" dirty="0">
              <a:solidFill>
                <a:srgbClr val="222222"/>
              </a:solidFill>
              <a:latin typeface="Arial"/>
              <a:ea typeface="Arial"/>
              <a:cs typeface="Arial"/>
              <a:sym typeface="Arial"/>
            </a:endParaRPr>
          </a:p>
          <a:p>
            <a:pPr marL="0" marR="163195" lvl="0" indent="0" algn="l" rtl="0">
              <a:lnSpc>
                <a:spcPct val="115000"/>
              </a:lnSpc>
              <a:spcBef>
                <a:spcPts val="1000"/>
              </a:spcBef>
              <a:spcAft>
                <a:spcPts val="0"/>
              </a:spcAft>
              <a:buNone/>
            </a:pPr>
            <a:endParaRPr sz="100" dirty="0">
              <a:solidFill>
                <a:srgbClr val="222222"/>
              </a:solidFill>
              <a:latin typeface="Arial"/>
              <a:ea typeface="Arial"/>
              <a:cs typeface="Arial"/>
              <a:sym typeface="Arial"/>
            </a:endParaRPr>
          </a:p>
          <a:p>
            <a:pPr marL="457200" lvl="0" indent="0" algn="l" rtl="0">
              <a:lnSpc>
                <a:spcPct val="135714"/>
              </a:lnSpc>
              <a:spcBef>
                <a:spcPts val="0"/>
              </a:spcBef>
              <a:spcAft>
                <a:spcPts val="0"/>
              </a:spcAft>
              <a:buNone/>
            </a:pPr>
            <a:r>
              <a:rPr lang="en" sz="750" dirty="0">
                <a:solidFill>
                  <a:srgbClr val="569CD6"/>
                </a:solidFill>
                <a:highlight>
                  <a:srgbClr val="1E1E1E"/>
                </a:highlight>
                <a:latin typeface="Consolas"/>
                <a:ea typeface="Consolas"/>
                <a:cs typeface="Consolas"/>
                <a:sym typeface="Consolas"/>
              </a:rPr>
              <a:t>class</a:t>
            </a:r>
            <a:r>
              <a:rPr lang="en" sz="750" dirty="0">
                <a:solidFill>
                  <a:srgbClr val="D4D4D4"/>
                </a:solidFill>
                <a:highlight>
                  <a:srgbClr val="1E1E1E"/>
                </a:highlight>
                <a:latin typeface="Consolas"/>
                <a:ea typeface="Consolas"/>
                <a:cs typeface="Consolas"/>
                <a:sym typeface="Consolas"/>
              </a:rPr>
              <a:t> </a:t>
            </a:r>
            <a:r>
              <a:rPr lang="en" sz="750" dirty="0">
                <a:solidFill>
                  <a:srgbClr val="4EC9B0"/>
                </a:solidFill>
                <a:highlight>
                  <a:srgbClr val="1E1E1E"/>
                </a:highlight>
                <a:latin typeface="Consolas"/>
                <a:ea typeface="Consolas"/>
                <a:cs typeface="Consolas"/>
                <a:sym typeface="Consolas"/>
              </a:rPr>
              <a:t>employee</a:t>
            </a: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late</a:t>
            </a:r>
            <a:r>
              <a:rPr lang="en" sz="750" dirty="0">
                <a:solidFill>
                  <a:srgbClr val="D4D4D4"/>
                </a:solidFill>
                <a:highlight>
                  <a:srgbClr val="1E1E1E"/>
                </a:highlight>
                <a:latin typeface="Consolas"/>
                <a:ea typeface="Consolas"/>
                <a:cs typeface="Consolas"/>
                <a:sym typeface="Consolas"/>
              </a:rPr>
              <a:t> </a:t>
            </a:r>
            <a:r>
              <a:rPr lang="en" sz="750" dirty="0">
                <a:solidFill>
                  <a:srgbClr val="4EC9B0"/>
                </a:solidFill>
                <a:highlight>
                  <a:srgbClr val="1E1E1E"/>
                </a:highlight>
                <a:latin typeface="Consolas"/>
                <a:ea typeface="Consolas"/>
                <a:cs typeface="Consolas"/>
                <a:sym typeface="Consolas"/>
              </a:rPr>
              <a:t>String</a:t>
            </a:r>
            <a:r>
              <a:rPr lang="en" sz="750" dirty="0">
                <a:solidFill>
                  <a:srgbClr val="D4D4D4"/>
                </a:solidFill>
                <a:highlight>
                  <a:srgbClr val="1E1E1E"/>
                </a:highlight>
                <a:latin typeface="Consolas"/>
                <a:ea typeface="Consolas"/>
                <a:cs typeface="Consolas"/>
                <a:sym typeface="Consolas"/>
              </a:rPr>
              <a:t> </a:t>
            </a:r>
            <a:r>
              <a:rPr lang="en" sz="750" dirty="0">
                <a:solidFill>
                  <a:srgbClr val="9CDCFE"/>
                </a:solidFill>
                <a:highlight>
                  <a:srgbClr val="1E1E1E"/>
                </a:highlight>
                <a:latin typeface="Consolas"/>
                <a:ea typeface="Consolas"/>
                <a:cs typeface="Consolas"/>
                <a:sym typeface="Consolas"/>
              </a:rPr>
              <a:t>jobTitle</a:t>
            </a: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late</a:t>
            </a:r>
            <a:r>
              <a:rPr lang="en" sz="750" dirty="0">
                <a:solidFill>
                  <a:srgbClr val="D4D4D4"/>
                </a:solidFill>
                <a:highlight>
                  <a:srgbClr val="1E1E1E"/>
                </a:highlight>
                <a:latin typeface="Consolas"/>
                <a:ea typeface="Consolas"/>
                <a:cs typeface="Consolas"/>
                <a:sym typeface="Consolas"/>
              </a:rPr>
              <a:t> </a:t>
            </a:r>
            <a:r>
              <a:rPr lang="en" sz="750" dirty="0">
                <a:solidFill>
                  <a:srgbClr val="4EC9B0"/>
                </a:solidFill>
                <a:highlight>
                  <a:srgbClr val="1E1E1E"/>
                </a:highlight>
                <a:latin typeface="Consolas"/>
                <a:ea typeface="Consolas"/>
                <a:cs typeface="Consolas"/>
                <a:sym typeface="Consolas"/>
              </a:rPr>
              <a:t>String</a:t>
            </a:r>
            <a:r>
              <a:rPr lang="en" sz="750" dirty="0">
                <a:solidFill>
                  <a:srgbClr val="D4D4D4"/>
                </a:solidFill>
                <a:highlight>
                  <a:srgbClr val="1E1E1E"/>
                </a:highlight>
                <a:latin typeface="Consolas"/>
                <a:ea typeface="Consolas"/>
                <a:cs typeface="Consolas"/>
                <a:sym typeface="Consolas"/>
              </a:rPr>
              <a:t> </a:t>
            </a:r>
            <a:r>
              <a:rPr lang="en" sz="750" dirty="0">
                <a:solidFill>
                  <a:srgbClr val="9CDCFE"/>
                </a:solidFill>
                <a:highlight>
                  <a:srgbClr val="1E1E1E"/>
                </a:highlight>
                <a:latin typeface="Consolas"/>
                <a:ea typeface="Consolas"/>
                <a:cs typeface="Consolas"/>
                <a:sym typeface="Consolas"/>
              </a:rPr>
              <a:t>location</a:t>
            </a: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late</a:t>
            </a:r>
            <a:r>
              <a:rPr lang="en" sz="750" dirty="0">
                <a:solidFill>
                  <a:srgbClr val="D4D4D4"/>
                </a:solidFill>
                <a:highlight>
                  <a:srgbClr val="1E1E1E"/>
                </a:highlight>
                <a:latin typeface="Consolas"/>
                <a:ea typeface="Consolas"/>
                <a:cs typeface="Consolas"/>
                <a:sym typeface="Consolas"/>
              </a:rPr>
              <a:t> </a:t>
            </a:r>
            <a:r>
              <a:rPr lang="en" sz="750" dirty="0">
                <a:solidFill>
                  <a:srgbClr val="4EC9B0"/>
                </a:solidFill>
                <a:highlight>
                  <a:srgbClr val="1E1E1E"/>
                </a:highlight>
                <a:latin typeface="Consolas"/>
                <a:ea typeface="Consolas"/>
                <a:cs typeface="Consolas"/>
                <a:sym typeface="Consolas"/>
              </a:rPr>
              <a:t>double</a:t>
            </a:r>
            <a:r>
              <a:rPr lang="en" sz="750" dirty="0">
                <a:solidFill>
                  <a:srgbClr val="D4D4D4"/>
                </a:solidFill>
                <a:highlight>
                  <a:srgbClr val="1E1E1E"/>
                </a:highlight>
                <a:latin typeface="Consolas"/>
                <a:ea typeface="Consolas"/>
                <a:cs typeface="Consolas"/>
                <a:sym typeface="Consolas"/>
              </a:rPr>
              <a:t> </a:t>
            </a:r>
            <a:r>
              <a:rPr lang="en" sz="750" dirty="0">
                <a:solidFill>
                  <a:srgbClr val="9CDCFE"/>
                </a:solidFill>
                <a:highlight>
                  <a:srgbClr val="1E1E1E"/>
                </a:highlight>
                <a:latin typeface="Consolas"/>
                <a:ea typeface="Consolas"/>
                <a:cs typeface="Consolas"/>
                <a:sym typeface="Consolas"/>
              </a:rPr>
              <a:t>salary</a:t>
            </a: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late</a:t>
            </a:r>
            <a:r>
              <a:rPr lang="en" sz="750" dirty="0">
                <a:solidFill>
                  <a:srgbClr val="D4D4D4"/>
                </a:solidFill>
                <a:highlight>
                  <a:srgbClr val="1E1E1E"/>
                </a:highlight>
                <a:latin typeface="Consolas"/>
                <a:ea typeface="Consolas"/>
                <a:cs typeface="Consolas"/>
                <a:sym typeface="Consolas"/>
              </a:rPr>
              <a:t> </a:t>
            </a:r>
            <a:r>
              <a:rPr lang="en" sz="750" dirty="0">
                <a:solidFill>
                  <a:srgbClr val="4EC9B0"/>
                </a:solidFill>
                <a:highlight>
                  <a:srgbClr val="1E1E1E"/>
                </a:highlight>
                <a:latin typeface="Consolas"/>
                <a:ea typeface="Consolas"/>
                <a:cs typeface="Consolas"/>
                <a:sym typeface="Consolas"/>
              </a:rPr>
              <a:t>double</a:t>
            </a:r>
            <a:r>
              <a:rPr lang="en" sz="750" dirty="0">
                <a:solidFill>
                  <a:srgbClr val="D4D4D4"/>
                </a:solidFill>
                <a:highlight>
                  <a:srgbClr val="1E1E1E"/>
                </a:highlight>
                <a:latin typeface="Consolas"/>
                <a:ea typeface="Consolas"/>
                <a:cs typeface="Consolas"/>
                <a:sym typeface="Consolas"/>
              </a:rPr>
              <a:t> </a:t>
            </a:r>
            <a:r>
              <a:rPr lang="en" sz="750" dirty="0">
                <a:solidFill>
                  <a:srgbClr val="9CDCFE"/>
                </a:solidFill>
                <a:highlight>
                  <a:srgbClr val="1E1E1E"/>
                </a:highlight>
                <a:latin typeface="Consolas"/>
                <a:ea typeface="Consolas"/>
                <a:cs typeface="Consolas"/>
                <a:sym typeface="Consolas"/>
              </a:rPr>
              <a:t>Overtimehr</a:t>
            </a:r>
            <a:r>
              <a:rPr lang="en" sz="750" dirty="0">
                <a:solidFill>
                  <a:srgbClr val="D4D4D4"/>
                </a:solidFill>
                <a:highlight>
                  <a:srgbClr val="1E1E1E"/>
                </a:highlight>
                <a:latin typeface="Consolas"/>
                <a:ea typeface="Consolas"/>
                <a:cs typeface="Consolas"/>
                <a:sym typeface="Consolas"/>
              </a:rPr>
              <a:t>; </a:t>
            </a:r>
            <a:r>
              <a:rPr lang="en" sz="750" dirty="0">
                <a:solidFill>
                  <a:srgbClr val="6A9955"/>
                </a:solidFill>
                <a:highlight>
                  <a:srgbClr val="1E1E1E"/>
                </a:highlight>
                <a:latin typeface="Consolas"/>
                <a:ea typeface="Consolas"/>
                <a:cs typeface="Consolas"/>
                <a:sym typeface="Consolas"/>
              </a:rPr>
              <a:t>//Number of Overtime hour</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4EC9B0"/>
                </a:solidFill>
                <a:highlight>
                  <a:srgbClr val="1E1E1E"/>
                </a:highlight>
                <a:latin typeface="Consolas"/>
                <a:ea typeface="Consolas"/>
                <a:cs typeface="Consolas"/>
                <a:sym typeface="Consolas"/>
              </a:rPr>
              <a:t>employee</a:t>
            </a:r>
            <a:r>
              <a:rPr lang="en" sz="750" dirty="0">
                <a:solidFill>
                  <a:srgbClr val="D4D4D4"/>
                </a:solidFill>
                <a:highlight>
                  <a:srgbClr val="1E1E1E"/>
                </a:highlight>
                <a:latin typeface="Consolas"/>
                <a:ea typeface="Consolas"/>
                <a:cs typeface="Consolas"/>
                <a:sym typeface="Consolas"/>
              </a:rPr>
              <a:t>(</a:t>
            </a:r>
            <a:r>
              <a:rPr lang="en" sz="750" dirty="0">
                <a:solidFill>
                  <a:srgbClr val="569CD6"/>
                </a:solidFill>
                <a:highlight>
                  <a:srgbClr val="1E1E1E"/>
                </a:highlight>
                <a:latin typeface="Consolas"/>
                <a:ea typeface="Consolas"/>
                <a:cs typeface="Consolas"/>
                <a:sym typeface="Consolas"/>
              </a:rPr>
              <a:t>this</a:t>
            </a:r>
            <a:r>
              <a:rPr lang="en" sz="750" dirty="0">
                <a:solidFill>
                  <a:srgbClr val="D4D4D4"/>
                </a:solidFill>
                <a:highlight>
                  <a:srgbClr val="1E1E1E"/>
                </a:highlight>
                <a:latin typeface="Consolas"/>
                <a:ea typeface="Consolas"/>
                <a:cs typeface="Consolas"/>
                <a:sym typeface="Consolas"/>
              </a:rPr>
              <a:t>.</a:t>
            </a:r>
            <a:r>
              <a:rPr lang="en" sz="750" dirty="0">
                <a:solidFill>
                  <a:srgbClr val="9CDCFE"/>
                </a:solidFill>
                <a:highlight>
                  <a:srgbClr val="1E1E1E"/>
                </a:highlight>
                <a:latin typeface="Consolas"/>
                <a:ea typeface="Consolas"/>
                <a:cs typeface="Consolas"/>
                <a:sym typeface="Consolas"/>
              </a:rPr>
              <a:t>jobTitle</a:t>
            </a: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this</a:t>
            </a:r>
            <a:r>
              <a:rPr lang="en" sz="750" dirty="0">
                <a:solidFill>
                  <a:srgbClr val="D4D4D4"/>
                </a:solidFill>
                <a:highlight>
                  <a:srgbClr val="1E1E1E"/>
                </a:highlight>
                <a:latin typeface="Consolas"/>
                <a:ea typeface="Consolas"/>
                <a:cs typeface="Consolas"/>
                <a:sym typeface="Consolas"/>
              </a:rPr>
              <a:t>.</a:t>
            </a:r>
            <a:r>
              <a:rPr lang="en" sz="750" dirty="0">
                <a:solidFill>
                  <a:srgbClr val="9CDCFE"/>
                </a:solidFill>
                <a:highlight>
                  <a:srgbClr val="1E1E1E"/>
                </a:highlight>
                <a:latin typeface="Consolas"/>
                <a:ea typeface="Consolas"/>
                <a:cs typeface="Consolas"/>
                <a:sym typeface="Consolas"/>
              </a:rPr>
              <a:t>location</a:t>
            </a:r>
            <a:r>
              <a:rPr lang="en" sz="750" dirty="0">
                <a:solidFill>
                  <a:srgbClr val="D4D4D4"/>
                </a:solidFill>
                <a:highlight>
                  <a:srgbClr val="1E1E1E"/>
                </a:highlight>
                <a:latin typeface="Consolas"/>
                <a:ea typeface="Consolas"/>
                <a:cs typeface="Consolas"/>
                <a:sym typeface="Consolas"/>
              </a:rPr>
              <a:t> , </a:t>
            </a:r>
            <a:r>
              <a:rPr lang="en" sz="750" dirty="0">
                <a:solidFill>
                  <a:srgbClr val="569CD6"/>
                </a:solidFill>
                <a:highlight>
                  <a:srgbClr val="1E1E1E"/>
                </a:highlight>
                <a:latin typeface="Consolas"/>
                <a:ea typeface="Consolas"/>
                <a:cs typeface="Consolas"/>
                <a:sym typeface="Consolas"/>
              </a:rPr>
              <a:t>this</a:t>
            </a:r>
            <a:r>
              <a:rPr lang="en" sz="750" dirty="0">
                <a:solidFill>
                  <a:srgbClr val="D4D4D4"/>
                </a:solidFill>
                <a:highlight>
                  <a:srgbClr val="1E1E1E"/>
                </a:highlight>
                <a:latin typeface="Consolas"/>
                <a:ea typeface="Consolas"/>
                <a:cs typeface="Consolas"/>
                <a:sym typeface="Consolas"/>
              </a:rPr>
              <a:t>.</a:t>
            </a:r>
            <a:r>
              <a:rPr lang="en" sz="750" dirty="0">
                <a:solidFill>
                  <a:srgbClr val="9CDCFE"/>
                </a:solidFill>
                <a:highlight>
                  <a:srgbClr val="1E1E1E"/>
                </a:highlight>
                <a:latin typeface="Consolas"/>
                <a:ea typeface="Consolas"/>
                <a:cs typeface="Consolas"/>
                <a:sym typeface="Consolas"/>
              </a:rPr>
              <a:t>salary</a:t>
            </a:r>
            <a:r>
              <a:rPr lang="en" sz="750" dirty="0">
                <a:solidFill>
                  <a:srgbClr val="D4D4D4"/>
                </a:solidFill>
                <a:highlight>
                  <a:srgbClr val="1E1E1E"/>
                </a:highlight>
                <a:latin typeface="Consolas"/>
                <a:ea typeface="Consolas"/>
                <a:cs typeface="Consolas"/>
                <a:sym typeface="Consolas"/>
              </a:rPr>
              <a:t>, </a:t>
            </a:r>
            <a:r>
              <a:rPr lang="en" sz="750" dirty="0">
                <a:solidFill>
                  <a:srgbClr val="569CD6"/>
                </a:solidFill>
                <a:highlight>
                  <a:srgbClr val="1E1E1E"/>
                </a:highlight>
                <a:latin typeface="Consolas"/>
                <a:ea typeface="Consolas"/>
                <a:cs typeface="Consolas"/>
                <a:sym typeface="Consolas"/>
              </a:rPr>
              <a:t>this</a:t>
            </a:r>
            <a:r>
              <a:rPr lang="en" sz="750" dirty="0">
                <a:solidFill>
                  <a:srgbClr val="D4D4D4"/>
                </a:solidFill>
                <a:highlight>
                  <a:srgbClr val="1E1E1E"/>
                </a:highlight>
                <a:latin typeface="Consolas"/>
                <a:ea typeface="Consolas"/>
                <a:cs typeface="Consolas"/>
                <a:sym typeface="Consolas"/>
              </a:rPr>
              <a:t>.</a:t>
            </a:r>
            <a:r>
              <a:rPr lang="en" sz="750" dirty="0">
                <a:solidFill>
                  <a:srgbClr val="9CDCFE"/>
                </a:solidFill>
                <a:highlight>
                  <a:srgbClr val="1E1E1E"/>
                </a:highlight>
                <a:latin typeface="Consolas"/>
                <a:ea typeface="Consolas"/>
                <a:cs typeface="Consolas"/>
                <a:sym typeface="Consolas"/>
              </a:rPr>
              <a:t>Overtimehr</a:t>
            </a: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750" dirty="0">
                <a:solidFill>
                  <a:srgbClr val="D4D4D4"/>
                </a:solidFill>
                <a:highlight>
                  <a:srgbClr val="1E1E1E"/>
                </a:highlight>
                <a:latin typeface="Consolas"/>
                <a:ea typeface="Consolas"/>
                <a:cs typeface="Consolas"/>
                <a:sym typeface="Consolas"/>
              </a:rPr>
              <a:t>}</a:t>
            </a:r>
            <a:endParaRPr sz="750" dirty="0">
              <a:solidFill>
                <a:srgbClr val="D4D4D4"/>
              </a:solidFill>
              <a:highlight>
                <a:srgbClr val="1E1E1E"/>
              </a:highlight>
              <a:latin typeface="Consolas"/>
              <a:ea typeface="Consolas"/>
              <a:cs typeface="Consolas"/>
              <a:sym typeface="Consolas"/>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p:txBody>
      </p:sp>
      <p:sp>
        <p:nvSpPr>
          <p:cNvPr id="555" name="Google Shape;555;p63"/>
          <p:cNvSpPr txBox="1">
            <a:spLocks noGrp="1"/>
          </p:cNvSpPr>
          <p:nvPr>
            <p:ph type="title"/>
          </p:nvPr>
        </p:nvSpPr>
        <p:spPr>
          <a:xfrm>
            <a:off x="665177" y="321377"/>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Lab 3: Create a Small Overtime Payment Program</a:t>
            </a:r>
            <a:endParaRPr b="0" dirty="0">
              <a:solidFill>
                <a:schemeClr val="accent1"/>
              </a:solidFill>
            </a:endParaRPr>
          </a:p>
        </p:txBody>
      </p:sp>
      <p:pic>
        <p:nvPicPr>
          <p:cNvPr id="556" name="Google Shape;556;p63"/>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57" name="Google Shape;557;p63"/>
          <p:cNvPicPr preferRelativeResize="0"/>
          <p:nvPr/>
        </p:nvPicPr>
        <p:blipFill>
          <a:blip r:embed="rId4">
            <a:alphaModFix/>
          </a:blip>
          <a:stretch>
            <a:fillRect/>
          </a:stretch>
        </p:blipFill>
        <p:spPr>
          <a:xfrm>
            <a:off x="5538481" y="3445277"/>
            <a:ext cx="3328749" cy="1087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64"/>
          <p:cNvSpPr txBox="1">
            <a:spLocks noGrp="1"/>
          </p:cNvSpPr>
          <p:nvPr>
            <p:ph type="body" idx="1"/>
          </p:nvPr>
        </p:nvSpPr>
        <p:spPr>
          <a:xfrm>
            <a:off x="799289" y="1089349"/>
            <a:ext cx="7334700" cy="3669600"/>
          </a:xfrm>
          <a:prstGeom prst="rect">
            <a:avLst/>
          </a:prstGeom>
        </p:spPr>
        <p:txBody>
          <a:bodyPr spcFirstLastPara="1" wrap="square" lIns="91425" tIns="91425" rIns="91425" bIns="91425" anchor="t" anchorCtr="0">
            <a:noAutofit/>
          </a:bodyPr>
          <a:lstStyle/>
          <a:p>
            <a:pPr marL="0" marR="163195" lvl="0" indent="0" algn="l" rtl="0">
              <a:lnSpc>
                <a:spcPct val="115000"/>
              </a:lnSpc>
              <a:spcBef>
                <a:spcPts val="1000"/>
              </a:spcBef>
              <a:spcAft>
                <a:spcPts val="0"/>
              </a:spcAft>
              <a:buNone/>
            </a:pPr>
            <a:r>
              <a:rPr lang="en" sz="900" b="1" dirty="0">
                <a:solidFill>
                  <a:srgbClr val="222222"/>
                </a:solidFill>
                <a:latin typeface="Arial"/>
                <a:ea typeface="Arial"/>
                <a:cs typeface="Arial"/>
                <a:sym typeface="Arial"/>
              </a:rPr>
              <a:t>Step 3: Create main.dart File</a:t>
            </a:r>
            <a:endParaRPr sz="900" b="1" dirty="0">
              <a:solidFill>
                <a:srgbClr val="222222"/>
              </a:solidFill>
              <a:latin typeface="Arial"/>
              <a:ea typeface="Arial"/>
              <a:cs typeface="Arial"/>
              <a:sym typeface="Arial"/>
            </a:endParaRPr>
          </a:p>
          <a:p>
            <a:pPr marL="457200" marR="163195" lvl="0" indent="-285750" algn="l" rtl="0">
              <a:lnSpc>
                <a:spcPct val="115000"/>
              </a:lnSpc>
              <a:spcBef>
                <a:spcPts val="1000"/>
              </a:spcBef>
              <a:spcAft>
                <a:spcPts val="0"/>
              </a:spcAft>
              <a:buClr>
                <a:srgbClr val="222222"/>
              </a:buClr>
              <a:buSzPts val="900"/>
              <a:buFont typeface="Arial"/>
              <a:buAutoNum type="arabicPeriod"/>
            </a:pPr>
            <a:r>
              <a:rPr lang="en" sz="900" dirty="0">
                <a:solidFill>
                  <a:srgbClr val="222222"/>
                </a:solidFill>
                <a:latin typeface="Arial"/>
                <a:ea typeface="Arial"/>
                <a:cs typeface="Arial"/>
                <a:sym typeface="Arial"/>
              </a:rPr>
              <a:t>Right-click on the Lab3 folder again and select New File.</a:t>
            </a:r>
            <a:endParaRPr sz="900" dirty="0">
              <a:solidFill>
                <a:srgbClr val="222222"/>
              </a:solidFill>
              <a:latin typeface="Arial"/>
              <a:ea typeface="Arial"/>
              <a:cs typeface="Arial"/>
              <a:sym typeface="Arial"/>
            </a:endParaRPr>
          </a:p>
          <a:p>
            <a:pPr marL="457200" marR="163195" lvl="0" indent="-285750" algn="l" rtl="0">
              <a:lnSpc>
                <a:spcPct val="115000"/>
              </a:lnSpc>
              <a:spcBef>
                <a:spcPts val="0"/>
              </a:spcBef>
              <a:spcAft>
                <a:spcPts val="0"/>
              </a:spcAft>
              <a:buClr>
                <a:srgbClr val="222222"/>
              </a:buClr>
              <a:buSzPts val="900"/>
              <a:buFont typeface="Arial"/>
              <a:buAutoNum type="arabicPeriod"/>
            </a:pPr>
            <a:r>
              <a:rPr lang="en" sz="900" dirty="0">
                <a:solidFill>
                  <a:srgbClr val="222222"/>
                </a:solidFill>
                <a:latin typeface="Arial"/>
                <a:ea typeface="Arial"/>
                <a:cs typeface="Arial"/>
                <a:sym typeface="Arial"/>
              </a:rPr>
              <a:t>Name the file main.dart and press Enter.</a:t>
            </a:r>
            <a:endParaRPr sz="900" dirty="0">
              <a:solidFill>
                <a:srgbClr val="222222"/>
              </a:solidFill>
              <a:latin typeface="Arial"/>
              <a:ea typeface="Arial"/>
              <a:cs typeface="Arial"/>
              <a:sym typeface="Arial"/>
            </a:endParaRPr>
          </a:p>
          <a:p>
            <a:pPr marL="457200" marR="163195" lvl="0" indent="-285750" algn="l" rtl="0">
              <a:lnSpc>
                <a:spcPct val="115000"/>
              </a:lnSpc>
              <a:spcBef>
                <a:spcPts val="0"/>
              </a:spcBef>
              <a:spcAft>
                <a:spcPts val="0"/>
              </a:spcAft>
              <a:buClr>
                <a:srgbClr val="222222"/>
              </a:buClr>
              <a:buSzPts val="900"/>
              <a:buFont typeface="Arial"/>
              <a:buAutoNum type="arabicPeriod"/>
            </a:pPr>
            <a:r>
              <a:rPr lang="en" sz="900" dirty="0">
                <a:solidFill>
                  <a:srgbClr val="222222"/>
                </a:solidFill>
                <a:latin typeface="Arial"/>
                <a:ea typeface="Arial"/>
                <a:cs typeface="Arial"/>
                <a:sym typeface="Arial"/>
              </a:rPr>
              <a:t>Open main.dart and type the following code:</a:t>
            </a:r>
            <a:endParaRPr sz="100" dirty="0">
              <a:solidFill>
                <a:srgbClr val="222222"/>
              </a:solidFill>
              <a:latin typeface="Arial"/>
              <a:ea typeface="Arial"/>
              <a:cs typeface="Arial"/>
              <a:sym typeface="Arial"/>
            </a:endParaRPr>
          </a:p>
          <a:p>
            <a:pPr marL="457200" lvl="0" indent="0" algn="l" rtl="0">
              <a:lnSpc>
                <a:spcPct val="135714"/>
              </a:lnSpc>
              <a:spcBef>
                <a:spcPts val="0"/>
              </a:spcBef>
              <a:spcAft>
                <a:spcPts val="0"/>
              </a:spcAft>
              <a:buNone/>
            </a:pPr>
            <a:r>
              <a:rPr lang="en" sz="850" dirty="0">
                <a:solidFill>
                  <a:srgbClr val="569CD6"/>
                </a:solidFill>
                <a:highlight>
                  <a:srgbClr val="1E1E1E"/>
                </a:highlight>
                <a:latin typeface="Consolas"/>
                <a:ea typeface="Consolas"/>
                <a:cs typeface="Consolas"/>
                <a:sym typeface="Consolas"/>
              </a:rPr>
              <a:t>import</a:t>
            </a:r>
            <a:r>
              <a:rPr lang="en" sz="850" dirty="0">
                <a:solidFill>
                  <a:srgbClr val="D4D4D4"/>
                </a:solidFill>
                <a:highlight>
                  <a:srgbClr val="1E1E1E"/>
                </a:highlight>
                <a:latin typeface="Consolas"/>
                <a:ea typeface="Consolas"/>
                <a:cs typeface="Consolas"/>
                <a:sym typeface="Consolas"/>
              </a:rPr>
              <a:t> </a:t>
            </a:r>
            <a:r>
              <a:rPr lang="en" sz="850" dirty="0">
                <a:solidFill>
                  <a:srgbClr val="CE9178"/>
                </a:solidFill>
                <a:highlight>
                  <a:srgbClr val="1E1E1E"/>
                </a:highlight>
                <a:latin typeface="Consolas"/>
                <a:ea typeface="Consolas"/>
                <a:cs typeface="Consolas"/>
                <a:sym typeface="Consolas"/>
              </a:rPr>
              <a:t>'mylib.dart'</a:t>
            </a:r>
            <a:r>
              <a:rPr lang="en" sz="850" dirty="0">
                <a:solidFill>
                  <a:srgbClr val="D4D4D4"/>
                </a:solidFill>
                <a:highlight>
                  <a:srgbClr val="1E1E1E"/>
                </a:highlight>
                <a:latin typeface="Consolas"/>
                <a:ea typeface="Consolas"/>
                <a:cs typeface="Consolas"/>
                <a:sym typeface="Consolas"/>
              </a:rPr>
              <a:t> </a:t>
            </a:r>
            <a:r>
              <a:rPr lang="en" sz="850" dirty="0">
                <a:solidFill>
                  <a:srgbClr val="569CD6"/>
                </a:solidFill>
                <a:highlight>
                  <a:srgbClr val="1E1E1E"/>
                </a:highlight>
                <a:latin typeface="Consolas"/>
                <a:ea typeface="Consolas"/>
                <a:cs typeface="Consolas"/>
                <a:sym typeface="Consolas"/>
              </a:rPr>
              <a:t>as</a:t>
            </a: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emp_Manager</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569CD6"/>
                </a:solidFill>
                <a:highlight>
                  <a:srgbClr val="1E1E1E"/>
                </a:highlight>
                <a:latin typeface="Consolas"/>
                <a:ea typeface="Consolas"/>
                <a:cs typeface="Consolas"/>
                <a:sym typeface="Consolas"/>
              </a:rPr>
              <a:t>void</a:t>
            </a:r>
            <a:r>
              <a:rPr lang="en" sz="850" dirty="0">
                <a:solidFill>
                  <a:srgbClr val="D4D4D4"/>
                </a:solidFill>
                <a:highlight>
                  <a:srgbClr val="1E1E1E"/>
                </a:highlight>
                <a:latin typeface="Consolas"/>
                <a:ea typeface="Consolas"/>
                <a:cs typeface="Consolas"/>
                <a:sym typeface="Consolas"/>
              </a:rPr>
              <a:t> </a:t>
            </a:r>
            <a:r>
              <a:rPr lang="en" sz="850" dirty="0">
                <a:solidFill>
                  <a:srgbClr val="DCDCAA"/>
                </a:solidFill>
                <a:highlight>
                  <a:srgbClr val="1E1E1E"/>
                </a:highlight>
                <a:latin typeface="Consolas"/>
                <a:ea typeface="Consolas"/>
                <a:cs typeface="Consolas"/>
                <a:sym typeface="Consolas"/>
              </a:rPr>
              <a:t>main</a:t>
            </a:r>
            <a:r>
              <a:rPr lang="en" sz="850" dirty="0">
                <a:solidFill>
                  <a:srgbClr val="D4D4D4"/>
                </a:solidFill>
                <a:highlight>
                  <a:srgbClr val="1E1E1E"/>
                </a:highlight>
                <a:latin typeface="Consolas"/>
                <a:ea typeface="Consolas"/>
                <a:cs typeface="Consolas"/>
                <a:sym typeface="Consolas"/>
              </a:rPr>
              <a:t>() {</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4EC9B0"/>
                </a:solidFill>
                <a:highlight>
                  <a:srgbClr val="1E1E1E"/>
                </a:highlight>
                <a:latin typeface="Consolas"/>
                <a:ea typeface="Consolas"/>
                <a:cs typeface="Consolas"/>
                <a:sym typeface="Consolas"/>
              </a:rPr>
              <a:t>double</a:t>
            </a: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extraPayPerHr</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569CD6"/>
                </a:solidFill>
                <a:highlight>
                  <a:srgbClr val="1E1E1E"/>
                </a:highlight>
                <a:latin typeface="Consolas"/>
                <a:ea typeface="Consolas"/>
                <a:cs typeface="Consolas"/>
                <a:sym typeface="Consolas"/>
              </a:rPr>
              <a:t>var</a:t>
            </a: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william</a:t>
            </a:r>
            <a:r>
              <a:rPr lang="en" sz="850" dirty="0">
                <a:solidFill>
                  <a:srgbClr val="D4D4D4"/>
                </a:solidFill>
                <a:highlight>
                  <a:srgbClr val="1E1E1E"/>
                </a:highlight>
                <a:latin typeface="Consolas"/>
                <a:ea typeface="Consolas"/>
                <a:cs typeface="Consolas"/>
                <a:sym typeface="Consolas"/>
              </a:rPr>
              <a:t> = </a:t>
            </a:r>
            <a:r>
              <a:rPr lang="en" sz="850" dirty="0">
                <a:solidFill>
                  <a:srgbClr val="9CDCFE"/>
                </a:solidFill>
                <a:highlight>
                  <a:srgbClr val="1E1E1E"/>
                </a:highlight>
                <a:latin typeface="Consolas"/>
                <a:ea typeface="Consolas"/>
                <a:cs typeface="Consolas"/>
                <a:sym typeface="Consolas"/>
              </a:rPr>
              <a:t>emp_Manager</a:t>
            </a:r>
            <a:r>
              <a:rPr lang="en" sz="850" dirty="0">
                <a:solidFill>
                  <a:srgbClr val="D4D4D4"/>
                </a:solidFill>
                <a:highlight>
                  <a:srgbClr val="1E1E1E"/>
                </a:highlight>
                <a:latin typeface="Consolas"/>
                <a:ea typeface="Consolas"/>
                <a:cs typeface="Consolas"/>
                <a:sym typeface="Consolas"/>
              </a:rPr>
              <a:t>.</a:t>
            </a:r>
            <a:r>
              <a:rPr lang="en" sz="850" dirty="0">
                <a:solidFill>
                  <a:srgbClr val="4EC9B0"/>
                </a:solidFill>
                <a:highlight>
                  <a:srgbClr val="1E1E1E"/>
                </a:highlight>
                <a:latin typeface="Consolas"/>
                <a:ea typeface="Consolas"/>
                <a:cs typeface="Consolas"/>
                <a:sym typeface="Consolas"/>
              </a:rPr>
              <a:t>employee</a:t>
            </a:r>
            <a:r>
              <a:rPr lang="en" sz="850" dirty="0">
                <a:solidFill>
                  <a:srgbClr val="D4D4D4"/>
                </a:solidFill>
                <a:highlight>
                  <a:srgbClr val="1E1E1E"/>
                </a:highlight>
                <a:latin typeface="Consolas"/>
                <a:ea typeface="Consolas"/>
                <a:cs typeface="Consolas"/>
                <a:sym typeface="Consolas"/>
              </a:rPr>
              <a:t>(</a:t>
            </a:r>
            <a:r>
              <a:rPr lang="en" sz="850" dirty="0">
                <a:solidFill>
                  <a:srgbClr val="CE9178"/>
                </a:solidFill>
                <a:highlight>
                  <a:srgbClr val="1E1E1E"/>
                </a:highlight>
                <a:latin typeface="Consolas"/>
                <a:ea typeface="Consolas"/>
                <a:cs typeface="Consolas"/>
                <a:sym typeface="Consolas"/>
              </a:rPr>
              <a:t>"Manager"</a:t>
            </a:r>
            <a:r>
              <a:rPr lang="en" sz="850" dirty="0">
                <a:solidFill>
                  <a:srgbClr val="D4D4D4"/>
                </a:solidFill>
                <a:highlight>
                  <a:srgbClr val="1E1E1E"/>
                </a:highlight>
                <a:latin typeface="Consolas"/>
                <a:ea typeface="Consolas"/>
                <a:cs typeface="Consolas"/>
                <a:sym typeface="Consolas"/>
              </a:rPr>
              <a:t>, </a:t>
            </a:r>
            <a:r>
              <a:rPr lang="en" sz="850" dirty="0">
                <a:solidFill>
                  <a:srgbClr val="CE9178"/>
                </a:solidFill>
                <a:highlight>
                  <a:srgbClr val="1E1E1E"/>
                </a:highlight>
                <a:latin typeface="Consolas"/>
                <a:ea typeface="Consolas"/>
                <a:cs typeface="Consolas"/>
                <a:sym typeface="Consolas"/>
              </a:rPr>
              <a:t>"Madrid"</a:t>
            </a:r>
            <a:r>
              <a:rPr lang="en" sz="850" dirty="0">
                <a:solidFill>
                  <a:srgbClr val="D4D4D4"/>
                </a:solidFill>
                <a:highlight>
                  <a:srgbClr val="1E1E1E"/>
                </a:highlight>
                <a:latin typeface="Consolas"/>
                <a:ea typeface="Consolas"/>
                <a:cs typeface="Consolas"/>
                <a:sym typeface="Consolas"/>
              </a:rPr>
              <a:t>, </a:t>
            </a:r>
            <a:r>
              <a:rPr lang="en" sz="850" dirty="0">
                <a:solidFill>
                  <a:srgbClr val="B5CEA8"/>
                </a:solidFill>
                <a:highlight>
                  <a:srgbClr val="1E1E1E"/>
                </a:highlight>
                <a:latin typeface="Consolas"/>
                <a:ea typeface="Consolas"/>
                <a:cs typeface="Consolas"/>
                <a:sym typeface="Consolas"/>
              </a:rPr>
              <a:t>5000</a:t>
            </a:r>
            <a:r>
              <a:rPr lang="en" sz="850" dirty="0">
                <a:solidFill>
                  <a:srgbClr val="D4D4D4"/>
                </a:solidFill>
                <a:highlight>
                  <a:srgbClr val="1E1E1E"/>
                </a:highlight>
                <a:latin typeface="Consolas"/>
                <a:ea typeface="Consolas"/>
                <a:cs typeface="Consolas"/>
                <a:sym typeface="Consolas"/>
              </a:rPr>
              <a:t>, </a:t>
            </a:r>
            <a:r>
              <a:rPr lang="en" sz="850" dirty="0">
                <a:solidFill>
                  <a:srgbClr val="B5CEA8"/>
                </a:solidFill>
                <a:highlight>
                  <a:srgbClr val="1E1E1E"/>
                </a:highlight>
                <a:latin typeface="Consolas"/>
                <a:ea typeface="Consolas"/>
                <a:cs typeface="Consolas"/>
                <a:sym typeface="Consolas"/>
              </a:rPr>
              <a:t>7</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C586C0"/>
                </a:solidFill>
                <a:highlight>
                  <a:srgbClr val="1E1E1E"/>
                </a:highlight>
                <a:latin typeface="Consolas"/>
                <a:ea typeface="Consolas"/>
                <a:cs typeface="Consolas"/>
                <a:sym typeface="Consolas"/>
              </a:rPr>
              <a:t>if</a:t>
            </a: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william</a:t>
            </a:r>
            <a:r>
              <a:rPr lang="en" sz="850" dirty="0">
                <a:solidFill>
                  <a:srgbClr val="D4D4D4"/>
                </a:solidFill>
                <a:highlight>
                  <a:srgbClr val="1E1E1E"/>
                </a:highlight>
                <a:latin typeface="Consolas"/>
                <a:ea typeface="Consolas"/>
                <a:cs typeface="Consolas"/>
                <a:sym typeface="Consolas"/>
              </a:rPr>
              <a:t>.</a:t>
            </a:r>
            <a:r>
              <a:rPr lang="en" sz="850" dirty="0">
                <a:solidFill>
                  <a:srgbClr val="9CDCFE"/>
                </a:solidFill>
                <a:highlight>
                  <a:srgbClr val="1E1E1E"/>
                </a:highlight>
                <a:latin typeface="Consolas"/>
                <a:ea typeface="Consolas"/>
                <a:cs typeface="Consolas"/>
                <a:sym typeface="Consolas"/>
              </a:rPr>
              <a:t>salary</a:t>
            </a:r>
            <a:r>
              <a:rPr lang="en" sz="850" dirty="0">
                <a:solidFill>
                  <a:srgbClr val="D4D4D4"/>
                </a:solidFill>
                <a:highlight>
                  <a:srgbClr val="1E1E1E"/>
                </a:highlight>
                <a:latin typeface="Consolas"/>
                <a:ea typeface="Consolas"/>
                <a:cs typeface="Consolas"/>
                <a:sym typeface="Consolas"/>
              </a:rPr>
              <a:t> &gt;= </a:t>
            </a:r>
            <a:r>
              <a:rPr lang="en" sz="850" dirty="0">
                <a:solidFill>
                  <a:srgbClr val="B5CEA8"/>
                </a:solidFill>
                <a:highlight>
                  <a:srgbClr val="1E1E1E"/>
                </a:highlight>
                <a:latin typeface="Consolas"/>
                <a:ea typeface="Consolas"/>
                <a:cs typeface="Consolas"/>
                <a:sym typeface="Consolas"/>
              </a:rPr>
              <a:t>4000</a:t>
            </a:r>
            <a:r>
              <a:rPr lang="en" sz="850" dirty="0">
                <a:solidFill>
                  <a:srgbClr val="D4D4D4"/>
                </a:solidFill>
                <a:highlight>
                  <a:srgbClr val="1E1E1E"/>
                </a:highlight>
                <a:latin typeface="Consolas"/>
                <a:ea typeface="Consolas"/>
                <a:cs typeface="Consolas"/>
                <a:sym typeface="Consolas"/>
              </a:rPr>
              <a:t>) {</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extraPayPerHr</a:t>
            </a:r>
            <a:r>
              <a:rPr lang="en" sz="850" dirty="0">
                <a:solidFill>
                  <a:srgbClr val="D4D4D4"/>
                </a:solidFill>
                <a:highlight>
                  <a:srgbClr val="1E1E1E"/>
                </a:highlight>
                <a:latin typeface="Consolas"/>
                <a:ea typeface="Consolas"/>
                <a:cs typeface="Consolas"/>
                <a:sym typeface="Consolas"/>
              </a:rPr>
              <a:t> = </a:t>
            </a:r>
            <a:r>
              <a:rPr lang="en" sz="850" dirty="0">
                <a:solidFill>
                  <a:srgbClr val="B5CEA8"/>
                </a:solidFill>
                <a:highlight>
                  <a:srgbClr val="1E1E1E"/>
                </a:highlight>
                <a:latin typeface="Consolas"/>
                <a:ea typeface="Consolas"/>
                <a:cs typeface="Consolas"/>
                <a:sym typeface="Consolas"/>
              </a:rPr>
              <a:t>10</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 </a:t>
            </a:r>
            <a:r>
              <a:rPr lang="en" sz="850" dirty="0">
                <a:solidFill>
                  <a:srgbClr val="C586C0"/>
                </a:solidFill>
                <a:highlight>
                  <a:srgbClr val="1E1E1E"/>
                </a:highlight>
                <a:latin typeface="Consolas"/>
                <a:ea typeface="Consolas"/>
                <a:cs typeface="Consolas"/>
                <a:sym typeface="Consolas"/>
              </a:rPr>
              <a:t>else</a:t>
            </a:r>
            <a:r>
              <a:rPr lang="en" sz="850" dirty="0">
                <a:solidFill>
                  <a:srgbClr val="D4D4D4"/>
                </a:solidFill>
                <a:highlight>
                  <a:srgbClr val="1E1E1E"/>
                </a:highlight>
                <a:latin typeface="Consolas"/>
                <a:ea typeface="Consolas"/>
                <a:cs typeface="Consolas"/>
                <a:sym typeface="Consolas"/>
              </a:rPr>
              <a:t> {</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extraPayPerHr</a:t>
            </a:r>
            <a:r>
              <a:rPr lang="en" sz="850" dirty="0">
                <a:solidFill>
                  <a:srgbClr val="D4D4D4"/>
                </a:solidFill>
                <a:highlight>
                  <a:srgbClr val="1E1E1E"/>
                </a:highlight>
                <a:latin typeface="Consolas"/>
                <a:ea typeface="Consolas"/>
                <a:cs typeface="Consolas"/>
                <a:sym typeface="Consolas"/>
              </a:rPr>
              <a:t> = </a:t>
            </a:r>
            <a:r>
              <a:rPr lang="en" sz="850" dirty="0">
                <a:solidFill>
                  <a:srgbClr val="B5CEA8"/>
                </a:solidFill>
                <a:highlight>
                  <a:srgbClr val="1E1E1E"/>
                </a:highlight>
                <a:latin typeface="Consolas"/>
                <a:ea typeface="Consolas"/>
                <a:cs typeface="Consolas"/>
                <a:sym typeface="Consolas"/>
              </a:rPr>
              <a:t>20</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4EC9B0"/>
                </a:solidFill>
                <a:highlight>
                  <a:srgbClr val="1E1E1E"/>
                </a:highlight>
                <a:latin typeface="Consolas"/>
                <a:ea typeface="Consolas"/>
                <a:cs typeface="Consolas"/>
                <a:sym typeface="Consolas"/>
              </a:rPr>
              <a:t>double</a:t>
            </a:r>
            <a:r>
              <a:rPr lang="en" sz="850" dirty="0">
                <a:solidFill>
                  <a:srgbClr val="D4D4D4"/>
                </a:solidFill>
                <a:highlight>
                  <a:srgbClr val="1E1E1E"/>
                </a:highlight>
                <a:latin typeface="Consolas"/>
                <a:ea typeface="Consolas"/>
                <a:cs typeface="Consolas"/>
                <a:sym typeface="Consolas"/>
              </a:rPr>
              <a:t> </a:t>
            </a:r>
            <a:r>
              <a:rPr lang="en" sz="850" dirty="0">
                <a:solidFill>
                  <a:srgbClr val="9CDCFE"/>
                </a:solidFill>
                <a:highlight>
                  <a:srgbClr val="1E1E1E"/>
                </a:highlight>
                <a:latin typeface="Consolas"/>
                <a:ea typeface="Consolas"/>
                <a:cs typeface="Consolas"/>
                <a:sym typeface="Consolas"/>
              </a:rPr>
              <a:t>totalSalary</a:t>
            </a:r>
            <a:r>
              <a:rPr lang="en" sz="850" dirty="0">
                <a:solidFill>
                  <a:srgbClr val="D4D4D4"/>
                </a:solidFill>
                <a:highlight>
                  <a:srgbClr val="1E1E1E"/>
                </a:highlight>
                <a:latin typeface="Consolas"/>
                <a:ea typeface="Consolas"/>
                <a:cs typeface="Consolas"/>
                <a:sym typeface="Consolas"/>
              </a:rPr>
              <a:t> = </a:t>
            </a:r>
            <a:r>
              <a:rPr lang="en" sz="850" dirty="0">
                <a:solidFill>
                  <a:srgbClr val="9CDCFE"/>
                </a:solidFill>
                <a:highlight>
                  <a:srgbClr val="1E1E1E"/>
                </a:highlight>
                <a:latin typeface="Consolas"/>
                <a:ea typeface="Consolas"/>
                <a:cs typeface="Consolas"/>
                <a:sym typeface="Consolas"/>
              </a:rPr>
              <a:t>william</a:t>
            </a:r>
            <a:r>
              <a:rPr lang="en" sz="850" dirty="0">
                <a:solidFill>
                  <a:srgbClr val="D4D4D4"/>
                </a:solidFill>
                <a:highlight>
                  <a:srgbClr val="1E1E1E"/>
                </a:highlight>
                <a:latin typeface="Consolas"/>
                <a:ea typeface="Consolas"/>
                <a:cs typeface="Consolas"/>
                <a:sym typeface="Consolas"/>
              </a:rPr>
              <a:t>.</a:t>
            </a:r>
            <a:r>
              <a:rPr lang="en" sz="850" dirty="0">
                <a:solidFill>
                  <a:srgbClr val="9CDCFE"/>
                </a:solidFill>
                <a:highlight>
                  <a:srgbClr val="1E1E1E"/>
                </a:highlight>
                <a:latin typeface="Consolas"/>
                <a:ea typeface="Consolas"/>
                <a:cs typeface="Consolas"/>
                <a:sym typeface="Consolas"/>
              </a:rPr>
              <a:t>salary</a:t>
            </a:r>
            <a:r>
              <a:rPr lang="en" sz="850" dirty="0">
                <a:solidFill>
                  <a:srgbClr val="D4D4D4"/>
                </a:solidFill>
                <a:highlight>
                  <a:srgbClr val="1E1E1E"/>
                </a:highlight>
                <a:latin typeface="Consolas"/>
                <a:ea typeface="Consolas"/>
                <a:cs typeface="Consolas"/>
                <a:sym typeface="Consolas"/>
              </a:rPr>
              <a:t> + (</a:t>
            </a:r>
            <a:r>
              <a:rPr lang="en" sz="850" dirty="0">
                <a:solidFill>
                  <a:srgbClr val="9CDCFE"/>
                </a:solidFill>
                <a:highlight>
                  <a:srgbClr val="1E1E1E"/>
                </a:highlight>
                <a:latin typeface="Consolas"/>
                <a:ea typeface="Consolas"/>
                <a:cs typeface="Consolas"/>
                <a:sym typeface="Consolas"/>
              </a:rPr>
              <a:t>william</a:t>
            </a:r>
            <a:r>
              <a:rPr lang="en" sz="850" dirty="0">
                <a:solidFill>
                  <a:srgbClr val="D4D4D4"/>
                </a:solidFill>
                <a:highlight>
                  <a:srgbClr val="1E1E1E"/>
                </a:highlight>
                <a:latin typeface="Consolas"/>
                <a:ea typeface="Consolas"/>
                <a:cs typeface="Consolas"/>
                <a:sym typeface="Consolas"/>
              </a:rPr>
              <a:t>.</a:t>
            </a:r>
            <a:r>
              <a:rPr lang="en" sz="850" dirty="0">
                <a:solidFill>
                  <a:srgbClr val="9CDCFE"/>
                </a:solidFill>
                <a:highlight>
                  <a:srgbClr val="1E1E1E"/>
                </a:highlight>
                <a:latin typeface="Consolas"/>
                <a:ea typeface="Consolas"/>
                <a:cs typeface="Consolas"/>
                <a:sym typeface="Consolas"/>
              </a:rPr>
              <a:t>Overtimehr</a:t>
            </a:r>
            <a:r>
              <a:rPr lang="en" sz="850" dirty="0">
                <a:solidFill>
                  <a:srgbClr val="D4D4D4"/>
                </a:solidFill>
                <a:highlight>
                  <a:srgbClr val="1E1E1E"/>
                </a:highlight>
                <a:latin typeface="Consolas"/>
                <a:ea typeface="Consolas"/>
                <a:cs typeface="Consolas"/>
                <a:sym typeface="Consolas"/>
              </a:rPr>
              <a:t> * </a:t>
            </a:r>
            <a:r>
              <a:rPr lang="en" sz="850" dirty="0">
                <a:solidFill>
                  <a:srgbClr val="9CDCFE"/>
                </a:solidFill>
                <a:highlight>
                  <a:srgbClr val="1E1E1E"/>
                </a:highlight>
                <a:latin typeface="Consolas"/>
                <a:ea typeface="Consolas"/>
                <a:cs typeface="Consolas"/>
                <a:sym typeface="Consolas"/>
              </a:rPr>
              <a:t>extraPayPerHr</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  </a:t>
            </a:r>
            <a:r>
              <a:rPr lang="en" sz="850" dirty="0">
                <a:solidFill>
                  <a:srgbClr val="DCDCAA"/>
                </a:solidFill>
                <a:highlight>
                  <a:srgbClr val="1E1E1E"/>
                </a:highlight>
                <a:latin typeface="Consolas"/>
                <a:ea typeface="Consolas"/>
                <a:cs typeface="Consolas"/>
                <a:sym typeface="Consolas"/>
              </a:rPr>
              <a:t>print</a:t>
            </a:r>
            <a:r>
              <a:rPr lang="en" sz="850" dirty="0">
                <a:solidFill>
                  <a:srgbClr val="D4D4D4"/>
                </a:solidFill>
                <a:highlight>
                  <a:srgbClr val="1E1E1E"/>
                </a:highlight>
                <a:latin typeface="Consolas"/>
                <a:ea typeface="Consolas"/>
                <a:cs typeface="Consolas"/>
                <a:sym typeface="Consolas"/>
              </a:rPr>
              <a:t>(</a:t>
            </a:r>
            <a:r>
              <a:rPr lang="en" sz="850" dirty="0">
                <a:solidFill>
                  <a:srgbClr val="CE9178"/>
                </a:solidFill>
                <a:highlight>
                  <a:srgbClr val="1E1E1E"/>
                </a:highlight>
                <a:latin typeface="Consolas"/>
                <a:ea typeface="Consolas"/>
                <a:cs typeface="Consolas"/>
                <a:sym typeface="Consolas"/>
              </a:rPr>
              <a:t>"Total Salary = \$</a:t>
            </a:r>
            <a:r>
              <a:rPr lang="en" sz="850" dirty="0">
                <a:solidFill>
                  <a:srgbClr val="D4D4D4"/>
                </a:solidFill>
                <a:highlight>
                  <a:srgbClr val="1E1E1E"/>
                </a:highlight>
                <a:latin typeface="Consolas"/>
                <a:ea typeface="Consolas"/>
                <a:cs typeface="Consolas"/>
                <a:sym typeface="Consolas"/>
              </a:rPr>
              <a:t>${</a:t>
            </a:r>
            <a:r>
              <a:rPr lang="en" sz="850" dirty="0">
                <a:solidFill>
                  <a:srgbClr val="9CDCFE"/>
                </a:solidFill>
                <a:highlight>
                  <a:srgbClr val="1E1E1E"/>
                </a:highlight>
                <a:latin typeface="Consolas"/>
                <a:ea typeface="Consolas"/>
                <a:cs typeface="Consolas"/>
                <a:sym typeface="Consolas"/>
              </a:rPr>
              <a:t>totalSalary</a:t>
            </a:r>
            <a:r>
              <a:rPr lang="en" sz="850" dirty="0">
                <a:solidFill>
                  <a:srgbClr val="D4D4D4"/>
                </a:solidFill>
                <a:highlight>
                  <a:srgbClr val="1E1E1E"/>
                </a:highlight>
                <a:latin typeface="Consolas"/>
                <a:ea typeface="Consolas"/>
                <a:cs typeface="Consolas"/>
                <a:sym typeface="Consolas"/>
              </a:rPr>
              <a:t>}</a:t>
            </a:r>
            <a:r>
              <a:rPr lang="en" sz="850" dirty="0">
                <a:solidFill>
                  <a:srgbClr val="CE9178"/>
                </a:solidFill>
                <a:highlight>
                  <a:srgbClr val="1E1E1E"/>
                </a:highlight>
                <a:latin typeface="Consolas"/>
                <a:ea typeface="Consolas"/>
                <a:cs typeface="Consolas"/>
                <a:sym typeface="Consolas"/>
              </a:rPr>
              <a:t> USD"</a:t>
            </a: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457200" lvl="0" indent="0" algn="l" rtl="0">
              <a:lnSpc>
                <a:spcPct val="135714"/>
              </a:lnSpc>
              <a:spcBef>
                <a:spcPts val="0"/>
              </a:spcBef>
              <a:spcAft>
                <a:spcPts val="0"/>
              </a:spcAft>
              <a:buNone/>
            </a:pPr>
            <a:r>
              <a:rPr lang="en" sz="850" dirty="0">
                <a:solidFill>
                  <a:srgbClr val="D4D4D4"/>
                </a:solidFill>
                <a:highlight>
                  <a:srgbClr val="1E1E1E"/>
                </a:highlight>
                <a:latin typeface="Consolas"/>
                <a:ea typeface="Consolas"/>
                <a:cs typeface="Consolas"/>
                <a:sym typeface="Consolas"/>
              </a:rPr>
              <a:t>}</a:t>
            </a:r>
            <a:endParaRPr sz="850" dirty="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endParaRPr sz="1050" dirty="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endParaRPr sz="1050" dirty="0">
              <a:solidFill>
                <a:srgbClr val="D4D4D4"/>
              </a:solidFill>
              <a:highlight>
                <a:srgbClr val="1E1E1E"/>
              </a:highlight>
              <a:latin typeface="Consolas"/>
              <a:ea typeface="Consolas"/>
              <a:cs typeface="Consolas"/>
              <a:sym typeface="Consolas"/>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p:txBody>
      </p:sp>
      <p:sp>
        <p:nvSpPr>
          <p:cNvPr id="563" name="Google Shape;563;p64"/>
          <p:cNvSpPr txBox="1">
            <a:spLocks noGrp="1"/>
          </p:cNvSpPr>
          <p:nvPr>
            <p:ph type="title"/>
          </p:nvPr>
        </p:nvSpPr>
        <p:spPr>
          <a:xfrm>
            <a:off x="799289" y="240726"/>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Lab 3: Create a Small Overtime Payment Program</a:t>
            </a:r>
            <a:endParaRPr b="0" dirty="0">
              <a:solidFill>
                <a:schemeClr val="accent1"/>
              </a:solidFill>
            </a:endParaRPr>
          </a:p>
        </p:txBody>
      </p:sp>
      <p:pic>
        <p:nvPicPr>
          <p:cNvPr id="564" name="Google Shape;564;p64"/>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65" name="Google Shape;565;p64"/>
          <p:cNvPicPr preferRelativeResize="0"/>
          <p:nvPr/>
        </p:nvPicPr>
        <p:blipFill>
          <a:blip r:embed="rId4">
            <a:alphaModFix/>
          </a:blip>
          <a:stretch>
            <a:fillRect/>
          </a:stretch>
        </p:blipFill>
        <p:spPr>
          <a:xfrm>
            <a:off x="5674283" y="1400977"/>
            <a:ext cx="3331382" cy="210474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65"/>
          <p:cNvSpPr txBox="1">
            <a:spLocks noGrp="1"/>
          </p:cNvSpPr>
          <p:nvPr>
            <p:ph type="body" idx="1"/>
          </p:nvPr>
        </p:nvSpPr>
        <p:spPr>
          <a:xfrm>
            <a:off x="931775" y="1430725"/>
            <a:ext cx="7334700" cy="36696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300" b="1" dirty="0">
                <a:solidFill>
                  <a:srgbClr val="000000"/>
                </a:solidFill>
                <a:latin typeface="Arial"/>
                <a:ea typeface="Arial"/>
                <a:cs typeface="Arial"/>
                <a:sym typeface="Arial"/>
              </a:rPr>
              <a:t>Step 4: Run the Program</a:t>
            </a:r>
            <a:endParaRPr sz="1300" b="1" dirty="0">
              <a:solidFill>
                <a:srgbClr val="000000"/>
              </a:solidFill>
              <a:latin typeface="Arial"/>
              <a:ea typeface="Arial"/>
              <a:cs typeface="Arial"/>
              <a:sym typeface="Arial"/>
            </a:endParaRPr>
          </a:p>
          <a:p>
            <a:pPr marL="457200" lvl="0" indent="-298450" algn="l" rtl="0">
              <a:lnSpc>
                <a:spcPct val="115000"/>
              </a:lnSpc>
              <a:spcBef>
                <a:spcPts val="1200"/>
              </a:spcBef>
              <a:spcAft>
                <a:spcPts val="0"/>
              </a:spcAft>
              <a:buClr>
                <a:srgbClr val="000000"/>
              </a:buClr>
              <a:buSzPts val="1100"/>
              <a:buFont typeface="Arial"/>
              <a:buAutoNum type="arabicPeriod"/>
            </a:pPr>
            <a:r>
              <a:rPr lang="en" sz="1100" dirty="0">
                <a:solidFill>
                  <a:srgbClr val="000000"/>
                </a:solidFill>
                <a:latin typeface="Arial"/>
                <a:ea typeface="Arial"/>
                <a:cs typeface="Arial"/>
                <a:sym typeface="Arial"/>
              </a:rPr>
              <a:t>In VS Code, open the </a:t>
            </a:r>
            <a:r>
              <a:rPr lang="en" sz="1100" b="1" dirty="0">
                <a:solidFill>
                  <a:srgbClr val="000000"/>
                </a:solidFill>
                <a:latin typeface="Arial"/>
                <a:ea typeface="Arial"/>
                <a:cs typeface="Arial"/>
                <a:sym typeface="Arial"/>
              </a:rPr>
              <a:t>Terminal</a:t>
            </a:r>
            <a:r>
              <a:rPr lang="en" sz="1100" dirty="0">
                <a:solidFill>
                  <a:srgbClr val="000000"/>
                </a:solidFill>
                <a:latin typeface="Arial"/>
                <a:ea typeface="Arial"/>
                <a:cs typeface="Arial"/>
                <a:sym typeface="Arial"/>
              </a:rPr>
              <a:t> by selecting </a:t>
            </a:r>
            <a:r>
              <a:rPr lang="en" sz="1100" dirty="0">
                <a:solidFill>
                  <a:srgbClr val="188038"/>
                </a:solidFill>
                <a:latin typeface="Roboto Mono"/>
                <a:ea typeface="Roboto Mono"/>
                <a:cs typeface="Roboto Mono"/>
                <a:sym typeface="Roboto Mono"/>
              </a:rPr>
              <a:t>Terminal → New Terminal</a:t>
            </a:r>
            <a:r>
              <a:rPr lang="en" sz="1100" dirty="0">
                <a:solidFill>
                  <a:srgbClr val="000000"/>
                </a:solidFill>
                <a:latin typeface="Arial"/>
                <a:ea typeface="Arial"/>
                <a:cs typeface="Arial"/>
                <a:sym typeface="Arial"/>
              </a:rPr>
              <a:t>.</a:t>
            </a:r>
            <a:endParaRPr sz="1100" dirty="0">
              <a:solidFill>
                <a:srgbClr val="000000"/>
              </a:solidFill>
              <a:latin typeface="Arial"/>
              <a:ea typeface="Arial"/>
              <a:cs typeface="Arial"/>
              <a:sym typeface="Arial"/>
            </a:endParaRPr>
          </a:p>
          <a:p>
            <a:pPr marL="457200" lvl="0" indent="0" algn="l" rtl="0">
              <a:lnSpc>
                <a:spcPct val="135714"/>
              </a:lnSpc>
              <a:spcBef>
                <a:spcPts val="1200"/>
              </a:spcBef>
              <a:spcAft>
                <a:spcPts val="0"/>
              </a:spcAft>
              <a:buNone/>
            </a:pPr>
            <a:r>
              <a:rPr lang="en" sz="1100" dirty="0">
                <a:solidFill>
                  <a:srgbClr val="000000"/>
                </a:solidFill>
                <a:latin typeface="Arial"/>
                <a:ea typeface="Arial"/>
                <a:cs typeface="Arial"/>
                <a:sym typeface="Arial"/>
              </a:rPr>
              <a:t>Run the program by typing:</a:t>
            </a:r>
            <a:br>
              <a:rPr lang="en" sz="1100" dirty="0">
                <a:solidFill>
                  <a:srgbClr val="000000"/>
                </a:solidFill>
                <a:latin typeface="Arial"/>
                <a:ea typeface="Arial"/>
                <a:cs typeface="Arial"/>
                <a:sym typeface="Arial"/>
              </a:rPr>
            </a:br>
            <a:r>
              <a:rPr lang="en" sz="1100" dirty="0">
                <a:solidFill>
                  <a:srgbClr val="000000"/>
                </a:solidFill>
                <a:latin typeface="Arial"/>
                <a:ea typeface="Arial"/>
                <a:cs typeface="Arial"/>
                <a:sym typeface="Arial"/>
              </a:rPr>
              <a:t>bash</a:t>
            </a:r>
            <a:br>
              <a:rPr lang="en" sz="1100" dirty="0">
                <a:solidFill>
                  <a:srgbClr val="000000"/>
                </a:solidFill>
                <a:latin typeface="Arial"/>
                <a:ea typeface="Arial"/>
                <a:cs typeface="Arial"/>
                <a:sym typeface="Arial"/>
              </a:rPr>
            </a:br>
            <a:r>
              <a:rPr lang="en" sz="1100" dirty="0">
                <a:solidFill>
                  <a:srgbClr val="000000"/>
                </a:solidFill>
                <a:latin typeface="Arial"/>
                <a:ea typeface="Arial"/>
                <a:cs typeface="Arial"/>
                <a:sym typeface="Arial"/>
              </a:rPr>
              <a:t>Copy code</a:t>
            </a:r>
            <a:br>
              <a:rPr lang="en" sz="1100" dirty="0">
                <a:solidFill>
                  <a:srgbClr val="000000"/>
                </a:solidFill>
                <a:latin typeface="Arial"/>
                <a:ea typeface="Arial"/>
                <a:cs typeface="Arial"/>
                <a:sym typeface="Arial"/>
              </a:rPr>
            </a:br>
            <a:r>
              <a:rPr lang="en" sz="1100" dirty="0">
                <a:solidFill>
                  <a:srgbClr val="188038"/>
                </a:solidFill>
                <a:latin typeface="Roboto Mono"/>
                <a:ea typeface="Roboto Mono"/>
                <a:cs typeface="Roboto Mono"/>
                <a:sym typeface="Roboto Mono"/>
              </a:rPr>
              <a:t>dart main.dart</a:t>
            </a:r>
            <a:endParaRPr sz="1100" dirty="0">
              <a:solidFill>
                <a:srgbClr val="000000"/>
              </a:solidFill>
              <a:latin typeface="Arial"/>
              <a:ea typeface="Arial"/>
              <a:cs typeface="Arial"/>
              <a:sym typeface="Arial"/>
            </a:endParaRPr>
          </a:p>
          <a:p>
            <a:pPr marL="457200" lvl="0" indent="0" algn="l" rtl="0">
              <a:lnSpc>
                <a:spcPct val="135714"/>
              </a:lnSpc>
              <a:spcBef>
                <a:spcPts val="0"/>
              </a:spcBef>
              <a:spcAft>
                <a:spcPts val="0"/>
              </a:spcAft>
              <a:buNone/>
            </a:pPr>
            <a:endParaRPr sz="900" b="1" dirty="0">
              <a:solidFill>
                <a:srgbClr val="222222"/>
              </a:solidFill>
              <a:latin typeface="Arial"/>
              <a:ea typeface="Arial"/>
              <a:cs typeface="Arial"/>
              <a:sym typeface="Arial"/>
            </a:endParaRPr>
          </a:p>
          <a:p>
            <a:pPr marL="0" lvl="0" indent="0" algn="l" rtl="0">
              <a:lnSpc>
                <a:spcPct val="135714"/>
              </a:lnSpc>
              <a:spcBef>
                <a:spcPts val="0"/>
              </a:spcBef>
              <a:spcAft>
                <a:spcPts val="0"/>
              </a:spcAft>
              <a:buNone/>
            </a:pPr>
            <a:endParaRPr sz="1050" dirty="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endParaRPr sz="1050" dirty="0">
              <a:solidFill>
                <a:srgbClr val="D4D4D4"/>
              </a:solidFill>
              <a:highlight>
                <a:srgbClr val="1E1E1E"/>
              </a:highlight>
              <a:latin typeface="Consolas"/>
              <a:ea typeface="Consolas"/>
              <a:cs typeface="Consolas"/>
              <a:sym typeface="Consolas"/>
            </a:endParaRPr>
          </a:p>
          <a:p>
            <a:pPr marL="0" marR="163195" lvl="0" indent="0" algn="l" rtl="0">
              <a:lnSpc>
                <a:spcPct val="115000"/>
              </a:lnSpc>
              <a:spcBef>
                <a:spcPts val="1000"/>
              </a:spcBef>
              <a:spcAft>
                <a:spcPts val="0"/>
              </a:spcAft>
              <a:buNone/>
            </a:pPr>
            <a:endParaRPr sz="900" dirty="0">
              <a:solidFill>
                <a:srgbClr val="222222"/>
              </a:solidFill>
              <a:latin typeface="Arial"/>
              <a:ea typeface="Arial"/>
              <a:cs typeface="Arial"/>
              <a:sym typeface="Arial"/>
            </a:endParaRPr>
          </a:p>
        </p:txBody>
      </p:sp>
      <p:sp>
        <p:nvSpPr>
          <p:cNvPr id="571" name="Google Shape;571;p65"/>
          <p:cNvSpPr txBox="1">
            <a:spLocks noGrp="1"/>
          </p:cNvSpPr>
          <p:nvPr>
            <p:ph type="title"/>
          </p:nvPr>
        </p:nvSpPr>
        <p:spPr>
          <a:xfrm>
            <a:off x="896825" y="490775"/>
            <a:ext cx="7088400" cy="99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Lab 3: Create a Small Overtime Payment Program</a:t>
            </a:r>
            <a:endParaRPr b="0">
              <a:solidFill>
                <a:schemeClr val="accent1"/>
              </a:solidFill>
            </a:endParaRPr>
          </a:p>
        </p:txBody>
      </p:sp>
      <p:pic>
        <p:nvPicPr>
          <p:cNvPr id="572" name="Google Shape;572;p65"/>
          <p:cNvPicPr preferRelativeResize="0"/>
          <p:nvPr/>
        </p:nvPicPr>
        <p:blipFill>
          <a:blip r:embed="rId3">
            <a:alphaModFix/>
          </a:blip>
          <a:stretch>
            <a:fillRect/>
          </a:stretch>
        </p:blipFill>
        <p:spPr>
          <a:xfrm>
            <a:off x="7339974" y="77975"/>
            <a:ext cx="1724050" cy="377925"/>
          </a:xfrm>
          <a:prstGeom prst="rect">
            <a:avLst/>
          </a:prstGeom>
          <a:noFill/>
          <a:ln>
            <a:noFill/>
          </a:ln>
        </p:spPr>
      </p:pic>
      <p:pic>
        <p:nvPicPr>
          <p:cNvPr id="573" name="Google Shape;573;p65"/>
          <p:cNvPicPr preferRelativeResize="0"/>
          <p:nvPr/>
        </p:nvPicPr>
        <p:blipFill>
          <a:blip r:embed="rId4">
            <a:alphaModFix/>
          </a:blip>
          <a:stretch>
            <a:fillRect/>
          </a:stretch>
        </p:blipFill>
        <p:spPr>
          <a:xfrm>
            <a:off x="1482800" y="3512073"/>
            <a:ext cx="6422525" cy="710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66"/>
          <p:cNvSpPr txBox="1">
            <a:spLocks noGrp="1"/>
          </p:cNvSpPr>
          <p:nvPr>
            <p:ph type="title"/>
          </p:nvPr>
        </p:nvSpPr>
        <p:spPr>
          <a:xfrm>
            <a:off x="720000" y="2285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Any Questions?</a:t>
            </a:r>
            <a:endParaRPr/>
          </a:p>
        </p:txBody>
      </p:sp>
      <p:pic>
        <p:nvPicPr>
          <p:cNvPr id="579" name="Google Shape;579;p66"/>
          <p:cNvPicPr preferRelativeResize="0"/>
          <p:nvPr/>
        </p:nvPicPr>
        <p:blipFill>
          <a:blip r:embed="rId3">
            <a:alphaModFix/>
          </a:blip>
          <a:stretch>
            <a:fillRect/>
          </a:stretch>
        </p:blipFill>
        <p:spPr>
          <a:xfrm>
            <a:off x="7339974" y="77975"/>
            <a:ext cx="1724050" cy="377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67"/>
          <p:cNvSpPr txBox="1">
            <a:spLocks noGrp="1"/>
          </p:cNvSpPr>
          <p:nvPr>
            <p:ph type="title"/>
          </p:nvPr>
        </p:nvSpPr>
        <p:spPr>
          <a:xfrm>
            <a:off x="720000" y="22854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You</a:t>
            </a:r>
            <a:endParaRPr/>
          </a:p>
        </p:txBody>
      </p:sp>
      <p:pic>
        <p:nvPicPr>
          <p:cNvPr id="585" name="Google Shape;585;p67"/>
          <p:cNvPicPr preferRelativeResize="0"/>
          <p:nvPr/>
        </p:nvPicPr>
        <p:blipFill>
          <a:blip r:embed="rId3">
            <a:alphaModFix/>
          </a:blip>
          <a:stretch>
            <a:fillRect/>
          </a:stretch>
        </p:blipFill>
        <p:spPr>
          <a:xfrm>
            <a:off x="7339974" y="77975"/>
            <a:ext cx="1724050" cy="377925"/>
          </a:xfrm>
          <a:prstGeom prst="rect">
            <a:avLst/>
          </a:prstGeom>
          <a:noFill/>
          <a:ln>
            <a:noFill/>
          </a:ln>
        </p:spPr>
      </p:pic>
    </p:spTree>
  </p:cSld>
  <p:clrMapOvr>
    <a:masterClrMapping/>
  </p:clrMapOvr>
</p:sld>
</file>

<file path=ppt/theme/theme1.xml><?xml version="1.0" encoding="utf-8"?>
<a:theme xmlns:a="http://schemas.openxmlformats.org/drawingml/2006/main" name="Premature Newborn Care Breakthrough by Slidesgo">
  <a:themeElements>
    <a:clrScheme name="Simple Light">
      <a:dk1>
        <a:srgbClr val="363232"/>
      </a:dk1>
      <a:lt1>
        <a:srgbClr val="FFFBFF"/>
      </a:lt1>
      <a:dk2>
        <a:srgbClr val="FFC1E4"/>
      </a:dk2>
      <a:lt2>
        <a:srgbClr val="B060E2"/>
      </a:lt2>
      <a:accent1>
        <a:srgbClr val="470FA7"/>
      </a:accent1>
      <a:accent2>
        <a:srgbClr val="FFFFFF"/>
      </a:accent2>
      <a:accent3>
        <a:srgbClr val="FFFFFF"/>
      </a:accent3>
      <a:accent4>
        <a:srgbClr val="FFFFFF"/>
      </a:accent4>
      <a:accent5>
        <a:srgbClr val="FFFFFF"/>
      </a:accent5>
      <a:accent6>
        <a:srgbClr val="FFFFFF"/>
      </a:accent6>
      <a:hlink>
        <a:srgbClr val="3632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2843</Words>
  <Application>Microsoft Office PowerPoint</Application>
  <PresentationFormat>On-screen Show (16:9)</PresentationFormat>
  <Paragraphs>337</Paragraphs>
  <Slides>41</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Commissioner</vt:lpstr>
      <vt:lpstr>Raleway</vt:lpstr>
      <vt:lpstr>Consolas</vt:lpstr>
      <vt:lpstr>Tajawal</vt:lpstr>
      <vt:lpstr>Helvetica Neue</vt:lpstr>
      <vt:lpstr>Arial</vt:lpstr>
      <vt:lpstr>Noto Sans Symbols</vt:lpstr>
      <vt:lpstr>Roboto Mono</vt:lpstr>
      <vt:lpstr>Premature Newborn Care Breakthrough by Slidesgo</vt:lpstr>
      <vt:lpstr>Lesson 3: Dart Functions &amp; Object-Oriented Programming (OOP)   TMA3084 - Software Engineering Laboratory Group 2</vt:lpstr>
      <vt:lpstr>Table of contents</vt:lpstr>
      <vt:lpstr>01- Functions</vt:lpstr>
      <vt:lpstr>Functions</vt:lpstr>
      <vt:lpstr>Functions</vt:lpstr>
      <vt:lpstr>Functions</vt:lpstr>
      <vt:lpstr>Functions</vt:lpstr>
      <vt:lpstr>Functions</vt:lpstr>
      <vt:lpstr>Functions</vt:lpstr>
      <vt:lpstr>Functions</vt:lpstr>
      <vt:lpstr>02- Object-Oriented Programming</vt:lpstr>
      <vt:lpstr>Object-Oriented Programming</vt:lpstr>
      <vt:lpstr>Object-Oriented Programming</vt:lpstr>
      <vt:lpstr>Object-Oriented Programming</vt:lpstr>
      <vt:lpstr>Object-Oriented Programming</vt:lpstr>
      <vt:lpstr>Object-Oriented Programming</vt:lpstr>
      <vt:lpstr>Providing Constructors to Your Classes</vt:lpstr>
      <vt:lpstr>Providing Constructors to Your Classes</vt:lpstr>
      <vt:lpstr>Providing Constructors to Your Classes</vt:lpstr>
      <vt:lpstr>Class - Getters and Setters</vt:lpstr>
      <vt:lpstr>Class - Getters and Setters</vt:lpstr>
      <vt:lpstr>Class Inheritance</vt:lpstr>
      <vt:lpstr>Class Inheritance</vt:lpstr>
      <vt:lpstr>Abstract Class</vt:lpstr>
      <vt:lpstr>Abstract Class</vt:lpstr>
      <vt:lpstr>Abstract Class</vt:lpstr>
      <vt:lpstr>Abstract Class</vt:lpstr>
      <vt:lpstr>Abstract Class</vt:lpstr>
      <vt:lpstr>Abstract Class</vt:lpstr>
      <vt:lpstr>Dart Project Structure and Dart Libraries</vt:lpstr>
      <vt:lpstr>Dart Project Structure and Dart Libraries</vt:lpstr>
      <vt:lpstr>Dart Project Structure and Dart Libraries</vt:lpstr>
      <vt:lpstr>Dart Project Structure and Dart Libraries</vt:lpstr>
      <vt:lpstr>Dart Project Structure and Dart Libraries</vt:lpstr>
      <vt:lpstr>Dart Project Structure and Dart Libraries</vt:lpstr>
      <vt:lpstr>Dart Project Structure and Dart Libraries</vt:lpstr>
      <vt:lpstr>Lab 3: Create a Small Overtime Payment Program</vt:lpstr>
      <vt:lpstr>Lab 3: Create a Small Overtime Payment Program</vt:lpstr>
      <vt:lpstr>Lab 3: Create a Small Overtime Payment Program</vt:lpstr>
      <vt:lpstr>Any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SHARIFAH AZLEEN ALEESYA BINTI WAN AWAT</cp:lastModifiedBy>
  <cp:revision>1</cp:revision>
  <dcterms:modified xsi:type="dcterms:W3CDTF">2025-10-27T10:36:44Z</dcterms:modified>
</cp:coreProperties>
</file>