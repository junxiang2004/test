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56FD346-5CCE-763A-5661-E4AEFF6998D7}">
          <p14:sldIdLst>
            <p14:sldId id="256"/>
            <p14:sldId id="257"/>
          </p14:sldIdLst>
        </p14:section>
        <p14:section name="01 Understanding Flutter" id="{CBB59895-646B-030F-123C-15BD0A9324A9}">
          <p14:sldIdLst>
            <p14:sldId id="258"/>
            <p14:sldId id="259"/>
          </p14:sldIdLst>
        </p14:section>
        <p14:section name="02 Flutter SDK" id="{EFE0F062-041A-97DD-878B-1DDD8B532068}">
          <p14:sldIdLst>
            <p14:sldId id="260"/>
            <p14:sldId id="261"/>
          </p14:sldIdLst>
        </p14:section>
        <p14:section name="03 Android Studio" id="{AA343F0D-7CFD-D85B-92AC-67C913AE2DA1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4 First Project" id="{D1E53D9E-2206-129B-3934-1539EA811B57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5 Physical Phone" id="{7EA0DE8E-4E70-4519-8F70-07B51783515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6 Debug Mode" id="{3D7BA907-7137-DBC3-77FD-A72A0B929142}">
          <p14:sldIdLst>
            <p14:sldId id="287"/>
          </p14:sldIdLst>
        </p14:section>
        <p14:section name="07 Widgets" id="{D56E71C1-E857-88A1-2199-330FB1E66663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08 GitHub &amp; CI/CD" id="{71429997-7EFB-79F5-830D-FD0477AE4809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09 Lab Exercise 2.2" id="{D9FD5CA0-05B4-7197-9318-05A198EBF3F4}">
          <p14:sldIdLst>
            <p14:sldId id="301"/>
          </p14:sldIdLst>
        </p14:section>
        <p14:section name="Closing" id="{8D0D38BC-AE03-E97A-F7E2-1E2CC5D495A2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23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62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2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5560c4f-98f8-5842-9106-41958065da3a/scratchpad/media/s01_GoogleShape_173_p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74320"/>
            <a:ext cx="2194560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TMA3084  |  Software Engineering Laboratory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flutter.dev/install/manu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youtu.be/N0tW9HGaJl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studio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35.png"/><Relationship Id="rId9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50.png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11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Hero outline"/>
          <p:cNvSpPr/>
          <p:nvPr/>
        </p:nvSpPr>
        <p:spPr>
          <a:xfrm rot="2700000">
            <a:off x="7315200" y="640080"/>
            <a:ext cx="5120640" cy="5120640"/>
          </a:xfrm>
          <a:prstGeom prst="roundRect">
            <a:avLst>
              <a:gd name="adj" fmla="val 17857"/>
            </a:avLst>
          </a:prstGeom>
          <a:solidFill>
            <a:schemeClr val="accent2">
              <a:alpha val="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" name="Image 0" descr="Mobile pho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>
                <a:solidFill>
                  <a:schemeClr val="bg1"/>
                </a:solidFill>
              </a:rPr>
              <a:t>Lesson 4: </a:t>
            </a:r>
            <a:r>
              <a:rPr lang="en-US" sz="4200" b="1" dirty="0">
                <a:solidFill>
                  <a:schemeClr val="bg1"/>
                </a:solidFill>
              </a:rPr>
              <a:t>Introduction to Flutter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TMA3084 - Software Engineering Laboratory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80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chemeClr val="accent2"/>
                </a:solidFill>
              </a:rPr>
              <a:t>Lab Demo: 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MD. Aminul Islam </a:t>
            </a:r>
            <a:r>
              <a:rPr lang="en-US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Rakib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Lecturer: </a:t>
            </a:r>
            <a:r>
              <a:rPr lang="en-US" sz="1800" dirty="0">
                <a:solidFill>
                  <a:schemeClr val="bg1"/>
                </a:solidFill>
              </a:rPr>
              <a:t>Madam Nurfauza Binti Jali</a:t>
            </a:r>
            <a:endParaRPr lang="en-US" sz="1800" dirty="0"/>
          </a:p>
        </p:txBody>
      </p:sp>
      <p:sp>
        <p:nvSpPr>
          <p:cNvPr id="9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6291" y="6185363"/>
            <a:ext cx="3778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Created By: 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Raynold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Kabai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60934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00 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01  Flutter Basics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Flutter and the framework layers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37304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4620768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Downloa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04" y="21717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1744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02  Flutter SDK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571744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Install and configure, Mac, iOS from Windows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25968" y="1691640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409432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Deskto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168" y="21717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60408" y="1947672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03  Android Studio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360408" y="2350008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What it is, prerequisites, installation, tips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832104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1" name="Image 3" descr="Pla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536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04  First Project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783080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New project, run it, virtual device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337304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Diamond"/>
          <p:cNvSpPr/>
          <p:nvPr/>
        </p:nvSpPr>
        <p:spPr>
          <a:xfrm rot="2700000">
            <a:off x="4620768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4" descr="Usb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504" y="375361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71744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05  Physical Phone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5571744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 on Android phone and iPhone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125968" y="3273552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Diamond"/>
          <p:cNvSpPr/>
          <p:nvPr/>
        </p:nvSpPr>
        <p:spPr>
          <a:xfrm rot="2700000">
            <a:off x="8409432" y="3579876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1" name="Image 5" descr="Bu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168" y="375361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60408" y="3529584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06  Debug Mode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9360408" y="3931920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Emulator debugging with breakpoints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548640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Diamond"/>
          <p:cNvSpPr/>
          <p:nvPr/>
        </p:nvSpPr>
        <p:spPr>
          <a:xfrm rot="2700000">
            <a:off x="832104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6" name="Image 6" descr="LayerGrou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5335524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783080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07  Widgets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1783080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Widgets, MaterialApp, Material 3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4337304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Diamond"/>
          <p:cNvSpPr/>
          <p:nvPr/>
        </p:nvSpPr>
        <p:spPr>
          <a:xfrm rot="2700000">
            <a:off x="4620768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1" name="Image 7" descr="Github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4504" y="5335524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571744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08  GitHub &amp; CI/CD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5571744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Team repository, branches, pull requests</a:t>
            </a:r>
            <a:endParaRPr lang="en-US" sz="1400" dirty="0"/>
          </a:p>
        </p:txBody>
      </p:sp>
      <p:sp>
        <p:nvSpPr>
          <p:cNvPr id="44" name="Card"/>
          <p:cNvSpPr/>
          <p:nvPr/>
        </p:nvSpPr>
        <p:spPr>
          <a:xfrm>
            <a:off x="8125968" y="4855464"/>
            <a:ext cx="351434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5" name="Diamond"/>
          <p:cNvSpPr/>
          <p:nvPr/>
        </p:nvSpPr>
        <p:spPr>
          <a:xfrm rot="2700000">
            <a:off x="8409432" y="5161788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6" name="Image 8" descr="Cod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3168" y="5335524"/>
            <a:ext cx="365760" cy="36576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360408" y="5111496"/>
            <a:ext cx="214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09  Lab Exercise 2.2</a:t>
            </a:r>
            <a:endParaRPr lang="en-US" sz="1700" dirty="0"/>
          </a:p>
        </p:txBody>
      </p:sp>
      <p:sp>
        <p:nvSpPr>
          <p:cNvPr id="48" name="Text 37"/>
          <p:cNvSpPr txBox="1"/>
          <p:nvPr/>
        </p:nvSpPr>
        <p:spPr>
          <a:xfrm>
            <a:off x="9360408" y="5513832"/>
            <a:ext cx="2142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Creating a simple Flutter app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8575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  UNDERSTANDING FLUTTER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Flutter?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About Flutter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Google's SDK for creating beautiful and fast apps from a single codebase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Builds high-performance apps for iOS, Android, and Web with one set of code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52544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4636008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CodeBran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32704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Before Flutter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iOS apps: Objective-C or Swift (Xcode)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Android apps: Java or Kotlin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Separate teams for iOS and Android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Multiple languages to learn for both platforms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156448" y="1691640"/>
            <a:ext cx="3483864" cy="452628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439912" y="20208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Rock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36608" y="214884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With Flutter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76488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Write once, run anywhere (Android and iOS)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 on Google Play and the Apple Store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Saves time, cost, and effort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Works with existing code, free and open source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Beautiful, fast, modern apps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47345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  FLUTTER FRAMEWORK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Layers of the Flutter framework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Each layer is built upon the one below it. Together they create beautiful, fast, and flexible apps.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37744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804215" y="25872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708660" y="24917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Framework Layer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07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Widgets, rendering, and animation libraries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65760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804215" y="38674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708660" y="37719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Engine Layer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879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Written in C++: graphics rendering (Skia), text layout, low-level APIs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937760"/>
            <a:ext cx="493776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04215" y="514761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708660" y="50520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093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Embedder Layer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4681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Integrates Flutter into iOS, Android, Web, or Desktop</a:t>
            </a:r>
            <a:endParaRPr lang="en-US" sz="1400" dirty="0"/>
          </a:p>
        </p:txBody>
      </p:sp>
      <p:sp>
        <p:nvSpPr>
          <p:cNvPr id="20" name="Screenshot frame"/>
          <p:cNvSpPr/>
          <p:nvPr/>
        </p:nvSpPr>
        <p:spPr>
          <a:xfrm>
            <a:off x="5760720" y="2377440"/>
            <a:ext cx="5879592" cy="365760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Flutter architecture layers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723286"/>
            <a:ext cx="5696712" cy="29659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 FLUTTER SDK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and configuring the Flutter SDK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548640" y="1691640"/>
            <a:ext cx="2331720" cy="1188720"/>
          </a:xfrm>
          <a:prstGeom prst="roundRect">
            <a:avLst>
              <a:gd name="adj" fmla="val 10769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3.13+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Flutter version</a:t>
            </a:r>
            <a:endParaRPr lang="en-US" sz="1500" dirty="0"/>
          </a:p>
        </p:txBody>
      </p:sp>
      <p:sp>
        <p:nvSpPr>
          <p:cNvPr id="7" name="Stat card"/>
          <p:cNvSpPr/>
          <p:nvPr/>
        </p:nvSpPr>
        <p:spPr>
          <a:xfrm>
            <a:off x="3063240" y="1691640"/>
            <a:ext cx="233172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3063240" y="18013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3.0+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Dart version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108960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756209" y="3188513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685800" y="3118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08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 the Flutter SDK bundle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877056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756209" y="3956609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68580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770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Extract it to a folder without spaces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4645152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Diamond"/>
          <p:cNvSpPr/>
          <p:nvPr/>
        </p:nvSpPr>
        <p:spPr>
          <a:xfrm rot="2700000">
            <a:off x="756209" y="4724705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 txBox="1"/>
          <p:nvPr/>
        </p:nvSpPr>
        <p:spPr>
          <a:xfrm>
            <a:off x="6858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451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flutter/bin to your PATH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5413248"/>
            <a:ext cx="4846320" cy="658368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756209" y="5492801"/>
            <a:ext cx="499262" cy="49926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 txBox="1"/>
          <p:nvPr/>
        </p:nvSpPr>
        <p:spPr>
          <a:xfrm>
            <a:off x="685800" y="5422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4132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flutter doctor and fix every red item</a:t>
            </a:r>
            <a:endParaRPr lang="en-US" sz="1500" dirty="0"/>
          </a:p>
        </p:txBody>
      </p:sp>
      <p:sp>
        <p:nvSpPr>
          <p:cNvPr id="26" name="Screenshot frame"/>
          <p:cNvSpPr/>
          <p:nvPr/>
        </p:nvSpPr>
        <p:spPr>
          <a:xfrm>
            <a:off x="5669280" y="1691640"/>
            <a:ext cx="5971032" cy="26060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7" name="Image 0" descr="Flutter installation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91" y="1783080"/>
            <a:ext cx="5499810" cy="24231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669280" y="4389120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docs.flutter.dev/install/manual</a:t>
            </a:r>
            <a:endParaRPr lang="en-US" sz="1500" dirty="0"/>
          </a:p>
        </p:txBody>
      </p:sp>
      <p:sp>
        <p:nvSpPr>
          <p:cNvPr id="29" name="Code panel"/>
          <p:cNvSpPr/>
          <p:nvPr/>
        </p:nvSpPr>
        <p:spPr>
          <a:xfrm>
            <a:off x="5669280" y="4846320"/>
            <a:ext cx="597103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5879592" y="504748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Window dot"/>
          <p:cNvSpPr/>
          <p:nvPr/>
        </p:nvSpPr>
        <p:spPr>
          <a:xfrm>
            <a:off x="6062472" y="504748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Window dot"/>
          <p:cNvSpPr/>
          <p:nvPr/>
        </p:nvSpPr>
        <p:spPr>
          <a:xfrm>
            <a:off x="6245352" y="504748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30"/>
          <p:cNvSpPr txBox="1"/>
          <p:nvPr/>
        </p:nvSpPr>
        <p:spPr>
          <a:xfrm>
            <a:off x="5943600" y="5394960"/>
            <a:ext cx="55138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--version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doctor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 FLUTTER SDK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Flutter on Mac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84098" y="1808226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08660" y="17327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 the macOS Flutter SDK (Apple silicon or Intel) and extract it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596896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784098" y="2713482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08660" y="26380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96896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flutter/bin to your PATH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502152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784098" y="3618738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08660" y="35433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0215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Install Xcode from the App Store and complete its first launch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407408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84098" y="4523994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08660" y="44485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07408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Install CocoaPods for iOS plugins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5312664"/>
            <a:ext cx="5852160" cy="76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784098" y="5429250"/>
            <a:ext cx="534924" cy="53492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708660" y="53538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31266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flutter doctor and fix every red item</a:t>
            </a:r>
            <a:endParaRPr lang="en-US" sz="1500" dirty="0"/>
          </a:p>
        </p:txBody>
      </p:sp>
      <p:sp>
        <p:nvSpPr>
          <p:cNvPr id="24" name="Code panel"/>
          <p:cNvSpPr/>
          <p:nvPr/>
        </p:nvSpPr>
        <p:spPr>
          <a:xfrm>
            <a:off x="6675120" y="1691640"/>
            <a:ext cx="4965192" cy="1635760"/>
          </a:xfrm>
          <a:prstGeom prst="roundRect">
            <a:avLst>
              <a:gd name="adj" fmla="val 7826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Window dot"/>
          <p:cNvSpPr/>
          <p:nvPr/>
        </p:nvSpPr>
        <p:spPr>
          <a:xfrm>
            <a:off x="688543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Window dot"/>
          <p:cNvSpPr/>
          <p:nvPr/>
        </p:nvSpPr>
        <p:spPr>
          <a:xfrm>
            <a:off x="706831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Window dot"/>
          <p:cNvSpPr/>
          <p:nvPr/>
        </p:nvSpPr>
        <p:spPr>
          <a:xfrm>
            <a:off x="725119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 txBox="1"/>
          <p:nvPr/>
        </p:nvSpPr>
        <p:spPr>
          <a:xfrm>
            <a:off x="7543800" y="18196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240280"/>
            <a:ext cx="4507992" cy="977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PATH="$PATH:$HOME/dev/flutter/bin"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xcodebuild 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-runFirstLaunch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gem install cocoapods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doctor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675120" y="3601720"/>
            <a:ext cx="4965192" cy="1554480"/>
          </a:xfrm>
          <a:prstGeom prst="roundRect">
            <a:avLst>
              <a:gd name="adj" fmla="val 8235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Diamond"/>
          <p:cNvSpPr/>
          <p:nvPr/>
        </p:nvSpPr>
        <p:spPr>
          <a:xfrm rot="2700000">
            <a:off x="6958584" y="40223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0" descr="App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9608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8001000" y="378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Goal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001000" y="413207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flutter doctor shows green ticks for Flutter, Xcode, and CocoaPods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Android Studio?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93776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97941" y="2086661"/>
            <a:ext cx="855878" cy="85587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337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official Integrated Development Environment (IDE) for Android app development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572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Based on IntelliJ IDEA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Includes the Android emulator and SDK manager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the Flutter and Dart </a:t>
            </a:r>
            <a:r>
              <a:rPr lang="en-US" sz="1500" dirty="0" smtClean="0">
                <a:solidFill>
                  <a:schemeClr val="tx1"/>
                </a:solidFill>
              </a:rPr>
              <a:t>plugins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 smtClean="0"/>
              <a:t>Video Tutorial: </a:t>
            </a:r>
            <a:r>
              <a:rPr lang="en-US" sz="1500" dirty="0" smtClean="0">
                <a:hlinkClick r:id="rId4"/>
              </a:rPr>
              <a:t>Click Here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Software prerequisites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5760720" y="21945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960516" y="23943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5420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64-bit OS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Windows, macOS, or Linux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778240" y="21945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978036" y="23943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Mem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5420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73836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 GB RAM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006840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Minimum; 16 GB recommended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760720" y="37947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5960516" y="39945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3" descr="Hd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41422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2084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 GB disk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989320" y="4690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Free space minimum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8778240" y="3794760"/>
            <a:ext cx="2862072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Diamond"/>
          <p:cNvSpPr/>
          <p:nvPr/>
        </p:nvSpPr>
        <p:spPr>
          <a:xfrm rot="2700000">
            <a:off x="8978036" y="399455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7" name="Image 4" descr="Tv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414223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73836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1280 x 800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006840" y="4690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Minimum screen resolution</a:t>
            </a:r>
            <a:endParaRPr lang="en-US" sz="1300" dirty="0"/>
          </a:p>
        </p:txBody>
      </p:sp>
      <p:sp>
        <p:nvSpPr>
          <p:cNvPr id="30" name="Note card"/>
          <p:cNvSpPr/>
          <p:nvPr/>
        </p:nvSpPr>
        <p:spPr>
          <a:xfrm>
            <a:off x="5760720" y="5486400"/>
            <a:ext cx="5879592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4"/>
          <p:cNvSpPr txBox="1"/>
          <p:nvPr/>
        </p:nvSpPr>
        <p:spPr>
          <a:xfrm>
            <a:off x="598932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Install the Flutter SDK first, then add the Flutter and Dart plugins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Installing Android Studio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Download the installer from the official page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88233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developer.android.com/studio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49935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Downloa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4955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Download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4352544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4653839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la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54955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41264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 the installer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156448" y="5120640"/>
            <a:ext cx="3483864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457743" y="5330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Cog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549554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45168" y="51206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Follow the setup wizard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660" y="1532565"/>
            <a:ext cx="4860212" cy="3213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Setup wizard: welcome and components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Welcome to Android Studio Setup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elcome to Android Studio Set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0" y="2423160"/>
            <a:ext cx="4915677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components to install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components to inst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753" y="2423160"/>
            <a:ext cx="4869303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Setup wizard: install and finish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 for the installation to finish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ait for the installation to fini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2" y="2423160"/>
            <a:ext cx="4856053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Finish and start Android Studio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Finish and start Android Stu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440" y="2423160"/>
            <a:ext cx="4875928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welcome and install type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Welcome screen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Welcome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5985"/>
            <a:ext cx="5202936" cy="347767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the Standard install type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the Standard install ty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18189"/>
            <a:ext cx="5202936" cy="3513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SDK and licences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SDK components setup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DK components set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0380"/>
            <a:ext cx="5202936" cy="352888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Accept the licence agreement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Accept the licence agre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34636"/>
            <a:ext cx="5202936" cy="34803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First-run wizard: downloads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Components start downloading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Components start downloa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829"/>
            <a:ext cx="5202936" cy="3519982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 for the log to finish, then click Finish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Wait for the log to finish, then click Finis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18340"/>
            <a:ext cx="5202936" cy="351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 ANDROID STUDIO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Android Studio sugar and spice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04215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Hot Reload</a:t>
            </a:r>
            <a:endParaRPr lang="en-US" sz="1600" dirty="0"/>
          </a:p>
        </p:txBody>
      </p:sp>
      <p:sp>
        <p:nvSpPr>
          <p:cNvPr id="8" name="Pill"/>
          <p:cNvSpPr/>
          <p:nvPr/>
        </p:nvSpPr>
        <p:spPr>
          <a:xfrm>
            <a:off x="777240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\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Update the UI and keep the app state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90138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3645713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762" y="20665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7418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Hot Restart</a:t>
            </a:r>
            <a:endParaRPr lang="en-US" sz="1600" dirty="0"/>
          </a:p>
        </p:txBody>
      </p:sp>
      <p:sp>
        <p:nvSpPr>
          <p:cNvPr id="14" name="Pill"/>
          <p:cNvSpPr/>
          <p:nvPr/>
        </p:nvSpPr>
        <p:spPr>
          <a:xfrm>
            <a:off x="3618738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Shift + \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18738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Restart the app with fresh state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231636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6487211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Pla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206654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28916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</a:t>
            </a:r>
            <a:endParaRPr lang="en-US" sz="1600" dirty="0"/>
          </a:p>
        </p:txBody>
      </p:sp>
      <p:sp>
        <p:nvSpPr>
          <p:cNvPr id="20" name="Pill"/>
          <p:cNvSpPr/>
          <p:nvPr/>
        </p:nvSpPr>
        <p:spPr>
          <a:xfrm>
            <a:off x="6460236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Shift + F10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60236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Launch on the selected device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9073134" y="169164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9328709" y="190149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3" descr="Magi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758" y="20665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170414" y="187452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Quick Fix</a:t>
            </a:r>
            <a:endParaRPr lang="en-US" sz="1600" dirty="0"/>
          </a:p>
        </p:txBody>
      </p:sp>
      <p:sp>
        <p:nvSpPr>
          <p:cNvPr id="26" name="Pill"/>
          <p:cNvSpPr/>
          <p:nvPr/>
        </p:nvSpPr>
        <p:spPr>
          <a:xfrm>
            <a:off x="9301734" y="278892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Alt + Enter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301734" y="322783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Fix errors and wrap widgets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Diamond"/>
          <p:cNvSpPr/>
          <p:nvPr/>
        </p:nvSpPr>
        <p:spPr>
          <a:xfrm rot="2700000">
            <a:off x="804215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0" name="Image 4" descr="AlignLef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48970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45920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Reformat Code</a:t>
            </a:r>
            <a:endParaRPr lang="en-US" sz="1600" dirty="0"/>
          </a:p>
        </p:txBody>
      </p:sp>
      <p:sp>
        <p:nvSpPr>
          <p:cNvPr id="32" name="Pill"/>
          <p:cNvSpPr/>
          <p:nvPr/>
        </p:nvSpPr>
        <p:spPr>
          <a:xfrm>
            <a:off x="777240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Ctrl + Alt + L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Clean up Dart formatting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3390138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Diamond"/>
          <p:cNvSpPr/>
          <p:nvPr/>
        </p:nvSpPr>
        <p:spPr>
          <a:xfrm rot="2700000">
            <a:off x="3645713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6" name="Image 5" descr="Search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762" y="448970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487418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Everywhere</a:t>
            </a:r>
            <a:endParaRPr lang="en-US" sz="1600" dirty="0"/>
          </a:p>
        </p:txBody>
      </p:sp>
      <p:sp>
        <p:nvSpPr>
          <p:cNvPr id="38" name="Pill"/>
          <p:cNvSpPr/>
          <p:nvPr/>
        </p:nvSpPr>
        <p:spPr>
          <a:xfrm>
            <a:off x="3618738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Shift twice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3618738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Find files, classes, and actions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6231636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Diamond"/>
          <p:cNvSpPr/>
          <p:nvPr/>
        </p:nvSpPr>
        <p:spPr>
          <a:xfrm rot="2700000">
            <a:off x="6487211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2" name="Image 6" descr="Sitema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2260" y="4489704"/>
            <a:ext cx="347472" cy="34747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328916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Flutter Inspector</a:t>
            </a:r>
            <a:endParaRPr lang="en-US" sz="1600" dirty="0"/>
          </a:p>
        </p:txBody>
      </p:sp>
      <p:sp>
        <p:nvSpPr>
          <p:cNvPr id="44" name="Pill"/>
          <p:cNvSpPr/>
          <p:nvPr/>
        </p:nvSpPr>
        <p:spPr>
          <a:xfrm>
            <a:off x="6460236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Tool window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6460236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Explore the live widget tree</a:t>
            </a:r>
            <a:endParaRPr lang="en-US" sz="1300" dirty="0"/>
          </a:p>
        </p:txBody>
      </p:sp>
      <p:sp>
        <p:nvSpPr>
          <p:cNvPr id="46" name="Card"/>
          <p:cNvSpPr/>
          <p:nvPr/>
        </p:nvSpPr>
        <p:spPr>
          <a:xfrm>
            <a:off x="9073134" y="4114800"/>
            <a:ext cx="256717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7" name="Diamond"/>
          <p:cNvSpPr/>
          <p:nvPr/>
        </p:nvSpPr>
        <p:spPr>
          <a:xfrm rot="2700000">
            <a:off x="9328709" y="43246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8" name="Image 7" descr="Tool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3758" y="4489704"/>
            <a:ext cx="347472" cy="34747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170414" y="4297680"/>
            <a:ext cx="1378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Dart DevTools</a:t>
            </a:r>
            <a:endParaRPr lang="en-US" sz="1600" dirty="0"/>
          </a:p>
        </p:txBody>
      </p:sp>
      <p:sp>
        <p:nvSpPr>
          <p:cNvPr id="50" name="Pill"/>
          <p:cNvSpPr/>
          <p:nvPr/>
        </p:nvSpPr>
        <p:spPr>
          <a:xfrm>
            <a:off x="9301734" y="5212080"/>
            <a:ext cx="2109978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Tool window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301734" y="5650992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Profile performance and memory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 the Dart plugin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Android Studio and select Plugins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Open Android Studio and select Plugi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59" y="2423160"/>
            <a:ext cx="4490178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for Dart and install it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Search for Dart and install 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282" y="2423160"/>
            <a:ext cx="4516244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 the Flutter plugin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for Flutter and install it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earch for Flutter and install 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5" y="2423160"/>
            <a:ext cx="4539807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Restart IDE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Restart 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579" y="2423160"/>
            <a:ext cx="47596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new Flutter project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New Flutter Project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Select New Flutter Pro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70" y="2423160"/>
            <a:ext cx="4511956" cy="3703320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Flutter and set the SDK path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hoose Flutter and set the SDK 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681" y="2423160"/>
            <a:ext cx="4433446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691640"/>
            <a:ext cx="576072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5" name="Image 0" descr="New Project di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18" y="1783080"/>
            <a:ext cx="5045364" cy="434340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583680" y="169164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Diamond"/>
          <p:cNvSpPr/>
          <p:nvPr/>
        </p:nvSpPr>
        <p:spPr>
          <a:xfrm rot="2700000">
            <a:off x="6839255" y="187863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1" descr="Folder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0436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 name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valid Dart package name, such as untitled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583680" y="288036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Diamond"/>
          <p:cNvSpPr/>
          <p:nvPr/>
        </p:nvSpPr>
        <p:spPr>
          <a:xfrm rot="2700000">
            <a:off x="6839255" y="306735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2" descr="Sitema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2324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7240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Organization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reverse-domain name, such as com.example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583680" y="4069080"/>
            <a:ext cx="5056632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6839255" y="425607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Mobile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44211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724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Platforms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0" y="4572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Android, iOS, Web, Linux, macOS, Windows</a:t>
            </a:r>
            <a:endParaRPr lang="en-US" sz="1400" dirty="0"/>
          </a:p>
        </p:txBody>
      </p:sp>
      <p:sp>
        <p:nvSpPr>
          <p:cNvPr id="21" name="Package card"/>
          <p:cNvSpPr/>
          <p:nvPr/>
        </p:nvSpPr>
        <p:spPr>
          <a:xfrm>
            <a:off x="6583680" y="5303520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6"/>
          <p:cNvSpPr txBox="1"/>
          <p:nvPr/>
        </p:nvSpPr>
        <p:spPr>
          <a:xfrm>
            <a:off x="68580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Package name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com.example.untitled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setup done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691640"/>
            <a:ext cx="1109167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5" name="Image 0" descr="Flutter project opened in Android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39" y="1783080"/>
            <a:ext cx="8932275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a Flutter app</a:t>
            </a:r>
            <a:endParaRPr lang="en-US" sz="3000" dirty="0"/>
          </a:p>
        </p:txBody>
      </p:sp>
      <p:sp>
        <p:nvSpPr>
          <p:cNvPr id="4" name="Diamond"/>
          <p:cNvSpPr/>
          <p:nvPr/>
        </p:nvSpPr>
        <p:spPr>
          <a:xfrm rot="2700000">
            <a:off x="608990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a run target, such as Chrome (web)</a:t>
            </a:r>
            <a:endParaRPr lang="en-US" sz="1600" dirty="0"/>
          </a:p>
        </p:txBody>
      </p:sp>
      <p:sp>
        <p:nvSpPr>
          <p:cNvPr id="7" name="Screenshot frame"/>
          <p:cNvSpPr/>
          <p:nvPr/>
        </p:nvSpPr>
        <p:spPr>
          <a:xfrm>
            <a:off x="548640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0" descr="Choose a run target, such as Chrome (web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06269"/>
            <a:ext cx="5202936" cy="2737102"/>
          </a:xfrm>
          <a:prstGeom prst="rect">
            <a:avLst/>
          </a:prstGeom>
        </p:spPr>
      </p:pic>
      <p:sp>
        <p:nvSpPr>
          <p:cNvPr id="9" name="Diamond"/>
          <p:cNvSpPr/>
          <p:nvPr/>
        </p:nvSpPr>
        <p:spPr>
          <a:xfrm rot="2700000">
            <a:off x="6314846" y="1733702"/>
            <a:ext cx="427939" cy="42793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6254496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0296" y="169164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Run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6254496" y="2331720"/>
            <a:ext cx="5385816" cy="3886200"/>
          </a:xfrm>
          <a:prstGeom prst="roundRect">
            <a:avLst>
              <a:gd name="adj" fmla="val 329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Click R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941688"/>
            <a:ext cx="5202936" cy="26662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08940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 FIRST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 up an Android Virtual Device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11987" y="18864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8059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916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Device Manager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07208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11987" y="300197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31520" y="29215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807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the Plus icon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922776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11987" y="411754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31520" y="40370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92277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Click Create Virtual Device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5038344"/>
            <a:ext cx="448056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11987" y="52331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31520" y="51526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0383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your device and download it</a:t>
            </a:r>
            <a:endParaRPr lang="en-US" sz="1600" dirty="0"/>
          </a:p>
        </p:txBody>
      </p:sp>
      <p:sp>
        <p:nvSpPr>
          <p:cNvPr id="20" name="Screenshot frame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Device Manager in Android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4" y="1783080"/>
            <a:ext cx="5768104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use a physical device?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04215" y="1832915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Mobile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979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9164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Check the UI and workflow before release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07208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04215" y="2948483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1135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2807208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Test on real Android and iPhone devices before publishing to the app stores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922776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04215" y="4064051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Mem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2291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83080" y="3922776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Lower RAM and CPU load than an emulator on your computer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5038344"/>
            <a:ext cx="6583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04215" y="5179619"/>
            <a:ext cx="677570" cy="67757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Deskto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3446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5038344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Emulators struggle on computers with limited hardware</a:t>
            </a:r>
            <a:endParaRPr lang="en-US" sz="1600" dirty="0"/>
          </a:p>
        </p:txBody>
      </p:sp>
      <p:sp>
        <p:nvSpPr>
          <p:cNvPr id="20" name="Screenshot frame"/>
          <p:cNvSpPr/>
          <p:nvPr/>
        </p:nvSpPr>
        <p:spPr>
          <a:xfrm>
            <a:off x="7406640" y="2514600"/>
            <a:ext cx="4233672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4" descr="Phone connected to a laptop by USB ca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986649"/>
            <a:ext cx="4050792" cy="12504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Configure your phone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Settings, then About phone, then Software information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2926080" y="2240280"/>
            <a:ext cx="6309360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Settings about phone scre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504" y="2331720"/>
            <a:ext cx="5728512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Turn on Developer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Tap Build number 7 times until the message “Developer mode has been turned on” appears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5943600" y="1691640"/>
            <a:ext cx="5696712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Tap Build number seven ti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59451"/>
            <a:ext cx="5513832" cy="3990658"/>
          </a:xfrm>
          <a:prstGeom prst="rect">
            <a:avLst/>
          </a:prstGeom>
        </p:spPr>
      </p:pic>
      <p:sp>
        <p:nvSpPr>
          <p:cNvPr id="7" name="Diamond"/>
          <p:cNvSpPr/>
          <p:nvPr/>
        </p:nvSpPr>
        <p:spPr>
          <a:xfrm rot="2700000">
            <a:off x="836676" y="4174236"/>
            <a:ext cx="1069848" cy="106984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 txBox="1"/>
          <p:nvPr/>
        </p:nvSpPr>
        <p:spPr>
          <a:xfrm>
            <a:off x="685800" y="4023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Enable USB debugging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Settings, select Developer options, make sure it is On, then enable USB debugging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1645920" y="2240280"/>
            <a:ext cx="8869680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Developer options and USB debugg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04" y="2331720"/>
            <a:ext cx="5742513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Allow USB debugging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Select OK on the “Allow USB debugging?” message. Your phone is then ready to connect to your computer by USB cable.</a:t>
            </a:r>
            <a:endParaRPr lang="en-US" sz="1700" dirty="0"/>
          </a:p>
        </p:txBody>
      </p:sp>
      <p:sp>
        <p:nvSpPr>
          <p:cNvPr id="5" name="Screenshot frame"/>
          <p:cNvSpPr/>
          <p:nvPr/>
        </p:nvSpPr>
        <p:spPr>
          <a:xfrm>
            <a:off x="6766560" y="1691640"/>
            <a:ext cx="487375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Allow USB debugging di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141" y="1783080"/>
            <a:ext cx="4220590" cy="29260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548640" y="3063240"/>
            <a:ext cx="5760720" cy="3154680"/>
          </a:xfrm>
          <a:prstGeom prst="roundRect">
            <a:avLst>
              <a:gd name="adj" fmla="val 405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Diamond"/>
          <p:cNvSpPr/>
          <p:nvPr/>
        </p:nvSpPr>
        <p:spPr>
          <a:xfrm rot="2700000">
            <a:off x="887882" y="340248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1" descr="Us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59359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6596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Check your USB cable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Some cables only carry power, not data. A charging phone does not prove the cable transfers data. Use the original cable that came with your device.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 your device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the device menu in the toolbar and pick your connected phone</a:t>
            </a:r>
            <a:endParaRPr lang="en-US" sz="1800" dirty="0"/>
          </a:p>
        </p:txBody>
      </p:sp>
      <p:sp>
        <p:nvSpPr>
          <p:cNvPr id="5" name="Screenshot frame"/>
          <p:cNvSpPr/>
          <p:nvPr/>
        </p:nvSpPr>
        <p:spPr>
          <a:xfrm>
            <a:off x="548640" y="2331720"/>
            <a:ext cx="548640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Device selector in the tool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25998"/>
            <a:ext cx="5303520" cy="2354644"/>
          </a:xfrm>
          <a:prstGeom prst="rect">
            <a:avLst/>
          </a:prstGeom>
        </p:spPr>
      </p:pic>
      <p:sp>
        <p:nvSpPr>
          <p:cNvPr id="7" name="Screenshot frame"/>
          <p:cNvSpPr/>
          <p:nvPr/>
        </p:nvSpPr>
        <p:spPr>
          <a:xfrm>
            <a:off x="6309360" y="2331720"/>
            <a:ext cx="5330952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List of connected dev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39894"/>
            <a:ext cx="5148072" cy="212685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4737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 txBox="1"/>
          <p:nvPr/>
        </p:nvSpPr>
        <p:spPr>
          <a:xfrm>
            <a:off x="914400" y="53492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Your phone appears in the list once USB debugging is on and the cable carries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your Android phone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874520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11987" y="204642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 the phone with a data USB cable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2953512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811987" y="312541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31520" y="3044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9535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Select the phone in the device menu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48640" y="4032504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811987" y="42044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731520" y="4123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0325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Run in Android Studio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5111496"/>
            <a:ext cx="64008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811987" y="528340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731520" y="52029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1114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Flutter app opens on your phone</a:t>
            </a:r>
            <a:endParaRPr lang="en-US" sz="1700" dirty="0"/>
          </a:p>
        </p:txBody>
      </p:sp>
      <p:sp>
        <p:nvSpPr>
          <p:cNvPr id="20" name="Screenshot frame"/>
          <p:cNvSpPr/>
          <p:nvPr/>
        </p:nvSpPr>
        <p:spPr>
          <a:xfrm>
            <a:off x="8138160" y="1645920"/>
            <a:ext cx="2423160" cy="461772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0" descr="Flutter demo app running on an Android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176" y="1737360"/>
            <a:ext cx="2199128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an iPhone: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Your computer must run macOS to run a Flutter app on a connected iPhone from Android Studio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1826971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App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30998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Apple ID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Registered with Apple. A developer account is not required for this step.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352544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630875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Mobile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309981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52544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An iPhone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72584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Flutter apps run on iPhone or iPad, not on a watch or other Apple devices.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156448" y="2468880"/>
            <a:ext cx="3483864" cy="3749040"/>
          </a:xfrm>
          <a:prstGeom prst="roundRect">
            <a:avLst>
              <a:gd name="adj" fmla="val 367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9434779" y="2873959"/>
            <a:ext cx="927202" cy="92720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Tool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30998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56448" y="41605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Xcode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76488" y="4709160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Installed with Flutter on a Mac. Keep it current to match your iPhone software version.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 PHYSICAL PHONE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Run on an iPhone: steps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22046" y="1859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731520" y="1769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47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Connect the iPhone to the Mac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21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Tap Trust on the iPhone when asked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834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822046" y="3002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731520" y="2912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90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Turn on Developer Mode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364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Settings, Privacy &amp; Security, Developer Mode, then restart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977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22046" y="4145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731520" y="4055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133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 in with your Apple ID in Xcode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507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Set a signing team for the Runner target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5120640"/>
            <a:ext cx="11091672" cy="978408"/>
          </a:xfrm>
          <a:prstGeom prst="roundRect">
            <a:avLst>
              <a:gd name="adj" fmla="val 1308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822046" y="5288890"/>
            <a:ext cx="641909" cy="641909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 txBox="1"/>
          <p:nvPr/>
        </p:nvSpPr>
        <p:spPr>
          <a:xfrm>
            <a:off x="731520" y="51983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276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 the iPhone and click Run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650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Trust the developer profile in Settings on first launch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80136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06  DEBUG MODE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Emulator debug mode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66267" y="18864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85800" y="18059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Start an emulator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21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Pick it in the device menu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807208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766267" y="300197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685800" y="29215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44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Set a breakpoint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Click the gutter beside a line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922776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766267" y="411754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685800" y="40370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Debug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Shift + F9 starts the app in debug mode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5038344"/>
            <a:ext cx="548640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Diamond"/>
          <p:cNvSpPr/>
          <p:nvPr/>
        </p:nvSpPr>
        <p:spPr>
          <a:xfrm rot="2700000">
            <a:off x="766267" y="523311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 txBox="1"/>
          <p:nvPr/>
        </p:nvSpPr>
        <p:spPr>
          <a:xfrm>
            <a:off x="685800" y="51526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175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Step through the code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568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Inspect variables when it pauses</a:t>
            </a:r>
            <a:endParaRPr lang="en-US" sz="1400" dirty="0"/>
          </a:p>
        </p:txBody>
      </p:sp>
      <p:sp>
        <p:nvSpPr>
          <p:cNvPr id="24" name="Editor mock"/>
          <p:cNvSpPr/>
          <p:nvPr/>
        </p:nvSpPr>
        <p:spPr>
          <a:xfrm>
            <a:off x="6309360" y="1691640"/>
            <a:ext cx="5330952" cy="2331720"/>
          </a:xfrm>
          <a:prstGeom prst="roundRect">
            <a:avLst>
              <a:gd name="adj" fmla="val 549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Paused line"/>
          <p:cNvSpPr/>
          <p:nvPr/>
        </p:nvSpPr>
        <p:spPr>
          <a:xfrm>
            <a:off x="6400800" y="2697480"/>
            <a:ext cx="5148072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Breakpoint"/>
          <p:cNvSpPr/>
          <p:nvPr/>
        </p:nvSpPr>
        <p:spPr>
          <a:xfrm>
            <a:off x="6492240" y="2761488"/>
            <a:ext cx="237744" cy="237744"/>
          </a:xfrm>
          <a:prstGeom prst="ellipse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6949440" y="2011680"/>
            <a:ext cx="4507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_incrementCounter() {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{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_counter++;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6309360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9" name="Image 0" descr="Resu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443484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309360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Resume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F9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7397496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3" name="Image 1" descr="Step O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4434840"/>
            <a:ext cx="292608" cy="29260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397496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Over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397496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F8</a:t>
            </a:r>
            <a:endParaRPr lang="en-US" sz="1100" dirty="0"/>
          </a:p>
        </p:txBody>
      </p:sp>
      <p:sp>
        <p:nvSpPr>
          <p:cNvPr id="36" name="Card"/>
          <p:cNvSpPr/>
          <p:nvPr/>
        </p:nvSpPr>
        <p:spPr>
          <a:xfrm>
            <a:off x="8485632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7" name="Image 2" descr="Step Into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532" y="4434840"/>
            <a:ext cx="292608" cy="292608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485632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Into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485632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F7</a:t>
            </a:r>
            <a:endParaRPr lang="en-US" sz="1100" dirty="0"/>
          </a:p>
        </p:txBody>
      </p:sp>
      <p:sp>
        <p:nvSpPr>
          <p:cNvPr id="40" name="Card"/>
          <p:cNvSpPr/>
          <p:nvPr/>
        </p:nvSpPr>
        <p:spPr>
          <a:xfrm>
            <a:off x="9573768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41" name="Image 3" descr="Step Ou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668" y="4434840"/>
            <a:ext cx="292608" cy="29260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573768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Step Out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9573768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Shift + F8</a:t>
            </a:r>
            <a:endParaRPr lang="en-US" sz="1100" dirty="0"/>
          </a:p>
        </p:txBody>
      </p:sp>
      <p:sp>
        <p:nvSpPr>
          <p:cNvPr id="44" name="Card"/>
          <p:cNvSpPr/>
          <p:nvPr/>
        </p:nvSpPr>
        <p:spPr>
          <a:xfrm>
            <a:off x="10661904" y="4297680"/>
            <a:ext cx="978408" cy="1234440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45" name="Image 4" descr="Sto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4804" y="4434840"/>
            <a:ext cx="292608" cy="29260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0661904" y="48280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Stop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10661904" y="510235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Ctrl + F2</a:t>
            </a:r>
            <a:endParaRPr lang="en-US" sz="1100" dirty="0"/>
          </a:p>
        </p:txBody>
      </p:sp>
      <p:sp>
        <p:nvSpPr>
          <p:cNvPr id="48" name="Card"/>
          <p:cNvSpPr/>
          <p:nvPr/>
        </p:nvSpPr>
        <p:spPr>
          <a:xfrm>
            <a:off x="6309360" y="5715000"/>
            <a:ext cx="5330952" cy="502920"/>
          </a:xfrm>
          <a:prstGeom prst="roundRect">
            <a:avLst>
              <a:gd name="adj" fmla="val 25455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9" name="Text 42"/>
          <p:cNvSpPr txBox="1"/>
          <p:nvPr/>
        </p:nvSpPr>
        <p:spPr>
          <a:xfrm>
            <a:off x="6537960" y="571500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Flutter Inspector and Debug console open beside the editor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 to Flutter widgets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66267" y="17995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916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Flutter builds its UI directly in code, not in XML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6060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Diamond"/>
          <p:cNvSpPr/>
          <p:nvPr/>
        </p:nvSpPr>
        <p:spPr>
          <a:xfrm rot="2700000">
            <a:off x="766267" y="27139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LayerGrou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8529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6060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Widgets are the basic building blocks of every Flutter app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5204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766267" y="36283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Mobile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7673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35204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Almost everything is a widget: Text, Image, Icon, Button, Row, Column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44348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66267" y="45427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6817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44348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widget is an immutable object that describes part of the user interface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5349240"/>
            <a:ext cx="676656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766267" y="545713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4" descr="Sitema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5961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534924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Combine widgets to create more complex layouts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7680960" y="1691640"/>
            <a:ext cx="3959352" cy="4526280"/>
          </a:xfrm>
          <a:prstGeom prst="roundRect">
            <a:avLst>
              <a:gd name="adj" fmla="val 323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Pill"/>
          <p:cNvSpPr/>
          <p:nvPr/>
        </p:nvSpPr>
        <p:spPr>
          <a:xfrm>
            <a:off x="7955280" y="1920240"/>
            <a:ext cx="118872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Column</a:t>
            </a:r>
            <a:endParaRPr lang="en-US" sz="1200" dirty="0"/>
          </a:p>
        </p:txBody>
      </p:sp>
      <p:sp>
        <p:nvSpPr>
          <p:cNvPr id="26" name="Row"/>
          <p:cNvSpPr/>
          <p:nvPr/>
        </p:nvSpPr>
        <p:spPr>
          <a:xfrm>
            <a:off x="7955280" y="242316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Pill"/>
          <p:cNvSpPr/>
          <p:nvPr/>
        </p:nvSpPr>
        <p:spPr>
          <a:xfrm>
            <a:off x="8092440" y="249631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28" name="Image placeholder"/>
          <p:cNvSpPr/>
          <p:nvPr/>
        </p:nvSpPr>
        <p:spPr>
          <a:xfrm>
            <a:off x="813816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Image placeholder"/>
          <p:cNvSpPr/>
          <p:nvPr/>
        </p:nvSpPr>
        <p:spPr>
          <a:xfrm>
            <a:off x="918972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Image placeholder"/>
          <p:cNvSpPr/>
          <p:nvPr/>
        </p:nvSpPr>
        <p:spPr>
          <a:xfrm>
            <a:off x="10241280" y="280720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Row"/>
          <p:cNvSpPr/>
          <p:nvPr/>
        </p:nvSpPr>
        <p:spPr>
          <a:xfrm>
            <a:off x="7955280" y="365760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Pill"/>
          <p:cNvSpPr/>
          <p:nvPr/>
        </p:nvSpPr>
        <p:spPr>
          <a:xfrm>
            <a:off x="8092440" y="373075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33" name="Image placeholder"/>
          <p:cNvSpPr/>
          <p:nvPr/>
        </p:nvSpPr>
        <p:spPr>
          <a:xfrm>
            <a:off x="813816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4" name="Image placeholder"/>
          <p:cNvSpPr/>
          <p:nvPr/>
        </p:nvSpPr>
        <p:spPr>
          <a:xfrm>
            <a:off x="918972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5" name="Image placeholder"/>
          <p:cNvSpPr/>
          <p:nvPr/>
        </p:nvSpPr>
        <p:spPr>
          <a:xfrm>
            <a:off x="10241280" y="404164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6" name="Row"/>
          <p:cNvSpPr/>
          <p:nvPr/>
        </p:nvSpPr>
        <p:spPr>
          <a:xfrm>
            <a:off x="7955280" y="4892040"/>
            <a:ext cx="341071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Pill"/>
          <p:cNvSpPr/>
          <p:nvPr/>
        </p:nvSpPr>
        <p:spPr>
          <a:xfrm>
            <a:off x="8092440" y="496519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Row</a:t>
            </a:r>
            <a:endParaRPr lang="en-US" sz="1100" dirty="0"/>
          </a:p>
        </p:txBody>
      </p:sp>
      <p:sp>
        <p:nvSpPr>
          <p:cNvPr id="38" name="Image placeholder"/>
          <p:cNvSpPr/>
          <p:nvPr/>
        </p:nvSpPr>
        <p:spPr>
          <a:xfrm>
            <a:off x="813816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Image placeholder"/>
          <p:cNvSpPr/>
          <p:nvPr/>
        </p:nvSpPr>
        <p:spPr>
          <a:xfrm>
            <a:off x="918972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0" name="Image placeholder"/>
          <p:cNvSpPr/>
          <p:nvPr/>
        </p:nvSpPr>
        <p:spPr>
          <a:xfrm>
            <a:off x="10241280" y="5276088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Text 34"/>
          <p:cNvSpPr txBox="1"/>
          <p:nvPr/>
        </p:nvSpPr>
        <p:spPr>
          <a:xfrm>
            <a:off x="7955280" y="58064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Three Rows inside a Column, with an Image in each Row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Widget types and the widget tree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832104" y="19979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StatelessWidget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04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Fixed content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20040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Diamond"/>
          <p:cNvSpPr/>
          <p:nvPr/>
        </p:nvSpPr>
        <p:spPr>
          <a:xfrm rot="2700000">
            <a:off x="832104" y="350672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04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StatefulWidget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Content that changes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4709160"/>
            <a:ext cx="438912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Diamond"/>
          <p:cNvSpPr/>
          <p:nvPr/>
        </p:nvSpPr>
        <p:spPr>
          <a:xfrm rot="2700000">
            <a:off x="832104" y="501548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1892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Layout widgets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422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Row, Column, Stack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212080" y="1691640"/>
            <a:ext cx="6428232" cy="4526280"/>
          </a:xfrm>
          <a:prstGeom prst="roundRect">
            <a:avLst>
              <a:gd name="adj" fmla="val 282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ree node MaterialApp"/>
          <p:cNvSpPr/>
          <p:nvPr/>
        </p:nvSpPr>
        <p:spPr>
          <a:xfrm>
            <a:off x="7498080" y="1947672"/>
            <a:ext cx="1828800" cy="402336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MaterialApp</a:t>
            </a:r>
            <a:endParaRPr lang="en-US" sz="1300" dirty="0"/>
          </a:p>
        </p:txBody>
      </p:sp>
      <p:sp>
        <p:nvSpPr>
          <p:cNvPr id="21" name="Tree link"/>
          <p:cNvSpPr/>
          <p:nvPr/>
        </p:nvSpPr>
        <p:spPr>
          <a:xfrm>
            <a:off x="8412480" y="2350008"/>
            <a:ext cx="0" cy="39319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ree node Scaffold"/>
          <p:cNvSpPr/>
          <p:nvPr/>
        </p:nvSpPr>
        <p:spPr>
          <a:xfrm>
            <a:off x="7589520" y="2743200"/>
            <a:ext cx="164592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Scaffold</a:t>
            </a:r>
            <a:endParaRPr lang="en-US" sz="1300" dirty="0"/>
          </a:p>
        </p:txBody>
      </p:sp>
      <p:sp>
        <p:nvSpPr>
          <p:cNvPr id="23" name="Tree link"/>
          <p:cNvSpPr/>
          <p:nvPr/>
        </p:nvSpPr>
        <p:spPr>
          <a:xfrm flipH="1">
            <a:off x="6949440" y="3145536"/>
            <a:ext cx="146304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ree link"/>
          <p:cNvSpPr/>
          <p:nvPr/>
        </p:nvSpPr>
        <p:spPr>
          <a:xfrm>
            <a:off x="8412480" y="3145536"/>
            <a:ext cx="146304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ree node AppBar"/>
          <p:cNvSpPr/>
          <p:nvPr/>
        </p:nvSpPr>
        <p:spPr>
          <a:xfrm>
            <a:off x="6263640" y="361188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AppBar</a:t>
            </a:r>
            <a:endParaRPr lang="en-US" sz="1300" dirty="0"/>
          </a:p>
        </p:txBody>
      </p:sp>
      <p:sp>
        <p:nvSpPr>
          <p:cNvPr id="26" name="Tree node Center"/>
          <p:cNvSpPr/>
          <p:nvPr/>
        </p:nvSpPr>
        <p:spPr>
          <a:xfrm>
            <a:off x="9189720" y="361188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Center</a:t>
            </a:r>
            <a:endParaRPr lang="en-US" sz="1300" dirty="0"/>
          </a:p>
        </p:txBody>
      </p:sp>
      <p:sp>
        <p:nvSpPr>
          <p:cNvPr id="27" name="Tree link"/>
          <p:cNvSpPr/>
          <p:nvPr/>
        </p:nvSpPr>
        <p:spPr>
          <a:xfrm>
            <a:off x="9875520" y="4014216"/>
            <a:ext cx="0" cy="37490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ree node Column"/>
          <p:cNvSpPr/>
          <p:nvPr/>
        </p:nvSpPr>
        <p:spPr>
          <a:xfrm>
            <a:off x="9189720" y="4389120"/>
            <a:ext cx="1371600" cy="402336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Column</a:t>
            </a:r>
            <a:endParaRPr lang="en-US" sz="1300" dirty="0"/>
          </a:p>
        </p:txBody>
      </p:sp>
      <p:sp>
        <p:nvSpPr>
          <p:cNvPr id="29" name="Tree link"/>
          <p:cNvSpPr/>
          <p:nvPr/>
        </p:nvSpPr>
        <p:spPr>
          <a:xfrm flipH="1">
            <a:off x="9052560" y="4791456"/>
            <a:ext cx="82296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ree link"/>
          <p:cNvSpPr/>
          <p:nvPr/>
        </p:nvSpPr>
        <p:spPr>
          <a:xfrm>
            <a:off x="9875520" y="4791456"/>
            <a:ext cx="822960" cy="4663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ree node Icon"/>
          <p:cNvSpPr/>
          <p:nvPr/>
        </p:nvSpPr>
        <p:spPr>
          <a:xfrm>
            <a:off x="8503920" y="525780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Icon</a:t>
            </a:r>
            <a:endParaRPr lang="en-US" sz="1300" dirty="0"/>
          </a:p>
        </p:txBody>
      </p:sp>
      <p:sp>
        <p:nvSpPr>
          <p:cNvPr id="32" name="Tree node Text"/>
          <p:cNvSpPr/>
          <p:nvPr/>
        </p:nvSpPr>
        <p:spPr>
          <a:xfrm>
            <a:off x="10149840" y="525780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Text</a:t>
            </a:r>
            <a:endParaRPr lang="en-US" sz="1300" dirty="0"/>
          </a:p>
        </p:txBody>
      </p:sp>
      <p:sp>
        <p:nvSpPr>
          <p:cNvPr id="33" name="Tree link"/>
          <p:cNvSpPr/>
          <p:nvPr/>
        </p:nvSpPr>
        <p:spPr>
          <a:xfrm>
            <a:off x="6949440" y="4014216"/>
            <a:ext cx="0" cy="37490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ree node Text"/>
          <p:cNvSpPr/>
          <p:nvPr/>
        </p:nvSpPr>
        <p:spPr>
          <a:xfrm>
            <a:off x="6400800" y="4389120"/>
            <a:ext cx="1097280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Text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Flutter app using widgets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7589520" cy="4192270"/>
          </a:xfrm>
          <a:prstGeom prst="roundRect">
            <a:avLst>
              <a:gd name="adj" fmla="val 3054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7132320" cy="3533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'package:flutter/material.dart'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=&gt; runApp(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StatelessWidget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.key});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BuildContext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context)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appBar: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AppBar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(title: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 First App'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Flutter!'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Phone body"/>
          <p:cNvSpPr/>
          <p:nvPr/>
        </p:nvSpPr>
        <p:spPr>
          <a:xfrm>
            <a:off x="8961120" y="1645920"/>
            <a:ext cx="2286000" cy="4572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Phone screen"/>
          <p:cNvSpPr/>
          <p:nvPr/>
        </p:nvSpPr>
        <p:spPr>
          <a:xfrm>
            <a:off x="9052560" y="1737360"/>
            <a:ext cx="2103120" cy="4389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App bar"/>
          <p:cNvSpPr/>
          <p:nvPr/>
        </p:nvSpPr>
        <p:spPr>
          <a:xfrm>
            <a:off x="9052560" y="1901952"/>
            <a:ext cx="210312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 First App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Hello, Flutter!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Layout widgets: Column and Row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7315200" cy="3386582"/>
          </a:xfrm>
          <a:prstGeom prst="roundRect">
            <a:avLst>
              <a:gd name="adj" fmla="val 378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of three Rows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6858000" cy="272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.home),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.search),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.person),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.favorite),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.settings),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(children: [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.camera),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.mail),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8183880" y="1691640"/>
            <a:ext cx="3456432" cy="45262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Icon tile"/>
          <p:cNvSpPr/>
          <p:nvPr/>
        </p:nvSpPr>
        <p:spPr>
          <a:xfrm>
            <a:off x="832104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0" descr="Ho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365760" cy="365760"/>
          </a:xfrm>
          <a:prstGeom prst="rect">
            <a:avLst/>
          </a:prstGeom>
        </p:spPr>
      </p:pic>
      <p:sp>
        <p:nvSpPr>
          <p:cNvPr id="13" name="Icon tile"/>
          <p:cNvSpPr/>
          <p:nvPr/>
        </p:nvSpPr>
        <p:spPr>
          <a:xfrm>
            <a:off x="937260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331720"/>
            <a:ext cx="365760" cy="365760"/>
          </a:xfrm>
          <a:prstGeom prst="rect">
            <a:avLst/>
          </a:prstGeom>
        </p:spPr>
      </p:pic>
      <p:sp>
        <p:nvSpPr>
          <p:cNvPr id="15" name="Icon tile"/>
          <p:cNvSpPr/>
          <p:nvPr/>
        </p:nvSpPr>
        <p:spPr>
          <a:xfrm>
            <a:off x="10424160" y="21031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Us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2331720"/>
            <a:ext cx="365760" cy="365760"/>
          </a:xfrm>
          <a:prstGeom prst="rect">
            <a:avLst/>
          </a:prstGeom>
        </p:spPr>
      </p:pic>
      <p:sp>
        <p:nvSpPr>
          <p:cNvPr id="17" name="Icon tile"/>
          <p:cNvSpPr/>
          <p:nvPr/>
        </p:nvSpPr>
        <p:spPr>
          <a:xfrm>
            <a:off x="832104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St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703320"/>
            <a:ext cx="365760" cy="365760"/>
          </a:xfrm>
          <a:prstGeom prst="rect">
            <a:avLst/>
          </a:prstGeom>
        </p:spPr>
      </p:pic>
      <p:sp>
        <p:nvSpPr>
          <p:cNvPr id="19" name="Icon tile"/>
          <p:cNvSpPr/>
          <p:nvPr/>
        </p:nvSpPr>
        <p:spPr>
          <a:xfrm>
            <a:off x="937260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Hear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703320"/>
            <a:ext cx="365760" cy="365760"/>
          </a:xfrm>
          <a:prstGeom prst="rect">
            <a:avLst/>
          </a:prstGeom>
        </p:spPr>
      </p:pic>
      <p:sp>
        <p:nvSpPr>
          <p:cNvPr id="21" name="Icon tile"/>
          <p:cNvSpPr/>
          <p:nvPr/>
        </p:nvSpPr>
        <p:spPr>
          <a:xfrm>
            <a:off x="10424160" y="34747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5" descr="Co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3703320"/>
            <a:ext cx="365760" cy="365760"/>
          </a:xfrm>
          <a:prstGeom prst="rect">
            <a:avLst/>
          </a:prstGeom>
        </p:spPr>
      </p:pic>
      <p:sp>
        <p:nvSpPr>
          <p:cNvPr id="23" name="Icon tile"/>
          <p:cNvSpPr/>
          <p:nvPr/>
        </p:nvSpPr>
        <p:spPr>
          <a:xfrm>
            <a:off x="832104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6" descr="MapMarkedAl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5074920"/>
            <a:ext cx="365760" cy="365760"/>
          </a:xfrm>
          <a:prstGeom prst="rect">
            <a:avLst/>
          </a:prstGeom>
        </p:spPr>
      </p:pic>
      <p:sp>
        <p:nvSpPr>
          <p:cNvPr id="25" name="Icon tile"/>
          <p:cNvSpPr/>
          <p:nvPr/>
        </p:nvSpPr>
        <p:spPr>
          <a:xfrm>
            <a:off x="937260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7" descr="Camera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5074920"/>
            <a:ext cx="365760" cy="365760"/>
          </a:xfrm>
          <a:prstGeom prst="rect">
            <a:avLst/>
          </a:prstGeom>
        </p:spPr>
      </p:pic>
      <p:sp>
        <p:nvSpPr>
          <p:cNvPr id="27" name="Icon tile"/>
          <p:cNvSpPr/>
          <p:nvPr/>
        </p:nvSpPr>
        <p:spPr>
          <a:xfrm>
            <a:off x="10424160" y="4846320"/>
            <a:ext cx="82296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8" name="Image 8" descr="Envelop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2760" y="5074920"/>
            <a:ext cx="365760" cy="36576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 MaterialApp widget?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48056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is MaterialApp?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starting point of every Flutter app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Tells Flutter to use Material Design, Google's standard for clean, modern UI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Acts as the root that contains all other widgets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4297680"/>
            <a:ext cx="4480560" cy="19202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Why it is important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Makes your app look modern and consistent on both Android and iOS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303520" y="1691640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5566867" y="1900123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5486400" y="18196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783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AppBar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951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Top navigation bar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303520" y="2825496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5566867" y="3033979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548640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169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Scaffold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Main page layout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303520" y="3959352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5566867" y="4167835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5486400" y="4087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050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Body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5628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Where your content goes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303520" y="5093208"/>
            <a:ext cx="393192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Diamond"/>
          <p:cNvSpPr/>
          <p:nvPr/>
        </p:nvSpPr>
        <p:spPr>
          <a:xfrm rot="2700000">
            <a:off x="5566867" y="5301691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5486400" y="52212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84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BottomNavigationBar, FloatingActionButton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696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More ready-made parts</a:t>
            </a:r>
            <a:endParaRPr lang="en-US" sz="1300" dirty="0"/>
          </a:p>
        </p:txBody>
      </p:sp>
      <p:sp>
        <p:nvSpPr>
          <p:cNvPr id="30" name="Screenshot frame"/>
          <p:cNvSpPr/>
          <p:nvPr/>
        </p:nvSpPr>
        <p:spPr>
          <a:xfrm>
            <a:off x="9509760" y="1691640"/>
            <a:ext cx="2130552" cy="4526280"/>
          </a:xfrm>
          <a:prstGeom prst="roundRect">
            <a:avLst>
              <a:gd name="adj" fmla="val 60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1" name="Image 0" descr="App with app bar, tabs, and bod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195095"/>
            <a:ext cx="1947672" cy="3519369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151333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 WIDGETS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Material 3: useMaterial3 and ColorScheme</a:t>
            </a:r>
            <a:endParaRPr lang="en-US" sz="3000" dirty="0"/>
          </a:p>
        </p:txBody>
      </p:sp>
      <p:sp>
        <p:nvSpPr>
          <p:cNvPr id="4" name="Code panel"/>
          <p:cNvSpPr/>
          <p:nvPr/>
        </p:nvSpPr>
        <p:spPr>
          <a:xfrm>
            <a:off x="548640" y="1691640"/>
            <a:ext cx="6858000" cy="4393692"/>
          </a:xfrm>
          <a:prstGeom prst="roundRect">
            <a:avLst>
              <a:gd name="adj" fmla="val 2914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Window dot"/>
          <p:cNvSpPr/>
          <p:nvPr/>
        </p:nvSpPr>
        <p:spPr>
          <a:xfrm>
            <a:off x="758952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Window dot"/>
          <p:cNvSpPr/>
          <p:nvPr/>
        </p:nvSpPr>
        <p:spPr>
          <a:xfrm>
            <a:off x="94183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Window dot"/>
          <p:cNvSpPr/>
          <p:nvPr/>
        </p:nvSpPr>
        <p:spPr>
          <a:xfrm>
            <a:off x="1124712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1417320" y="18196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6400800" cy="373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</a:t>
            </a: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'Flutter Lab'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debugShowCheckedModeBanner: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ThemeData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ColorScheme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.fromSeed(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seedColor: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.teal,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darkTheme: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ThemeData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ColorScheme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.fromSeed(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seedColor: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.teal,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brightness: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Brightness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home: 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680960" y="1691640"/>
            <a:ext cx="3959352" cy="4526280"/>
          </a:xfrm>
          <a:prstGeom prst="roundRect">
            <a:avLst>
              <a:gd name="adj" fmla="val 32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79552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Colours generated from one seed</a:t>
            </a:r>
            <a:endParaRPr lang="en-US" sz="1700" dirty="0"/>
          </a:p>
        </p:txBody>
      </p:sp>
      <p:sp>
        <p:nvSpPr>
          <p:cNvPr id="12" name="Swatch primary"/>
          <p:cNvSpPr/>
          <p:nvPr/>
        </p:nvSpPr>
        <p:spPr>
          <a:xfrm>
            <a:off x="7955280" y="26517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2F8F83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primary</a:t>
            </a:r>
            <a:endParaRPr lang="en-US" sz="1500" dirty="0"/>
          </a:p>
        </p:txBody>
      </p:sp>
      <p:sp>
        <p:nvSpPr>
          <p:cNvPr id="13" name="Swatch secondary"/>
          <p:cNvSpPr/>
          <p:nvPr/>
        </p:nvSpPr>
        <p:spPr>
          <a:xfrm>
            <a:off x="7955280" y="33375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4ED8A4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secondary</a:t>
            </a:r>
            <a:endParaRPr lang="en-US" sz="1500" dirty="0"/>
          </a:p>
        </p:txBody>
      </p:sp>
      <p:sp>
        <p:nvSpPr>
          <p:cNvPr id="14" name="Swatch tertiary"/>
          <p:cNvSpPr/>
          <p:nvPr/>
        </p:nvSpPr>
        <p:spPr>
          <a:xfrm>
            <a:off x="7955280" y="40233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7AB8FF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tertiary</a:t>
            </a:r>
            <a:endParaRPr lang="en-US" sz="1500" dirty="0"/>
          </a:p>
        </p:txBody>
      </p:sp>
      <p:sp>
        <p:nvSpPr>
          <p:cNvPr id="15" name="Swatch surface"/>
          <p:cNvSpPr/>
          <p:nvPr/>
        </p:nvSpPr>
        <p:spPr>
          <a:xfrm>
            <a:off x="7955280" y="47091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B40"/>
                </a:solidFill>
              </a:rPr>
              <a:t>surface</a:t>
            </a:r>
            <a:endParaRPr lang="en-US" sz="1500" dirty="0"/>
          </a:p>
        </p:txBody>
      </p:sp>
      <p:sp>
        <p:nvSpPr>
          <p:cNvPr id="16" name="Swatch error"/>
          <p:cNvSpPr/>
          <p:nvPr/>
        </p:nvSpPr>
        <p:spPr>
          <a:xfrm>
            <a:off x="7955280" y="5394960"/>
            <a:ext cx="3410712" cy="566928"/>
          </a:xfrm>
          <a:prstGeom prst="roundRect">
            <a:avLst>
              <a:gd name="adj" fmla="val 16129"/>
            </a:avLst>
          </a:prstGeom>
          <a:solidFill>
            <a:srgbClr val="E5484D"/>
          </a:solidFill>
          <a:ln w="9525">
            <a:solidFill>
              <a:srgbClr val="D5D9E2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Team repository setup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Part 2: Team repository, branching, and pull requests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40280"/>
            <a:ext cx="5120640" cy="3977640"/>
          </a:xfrm>
          <a:prstGeom prst="roundRect">
            <a:avLst>
              <a:gd name="adj" fmla="val 321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team-repo/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process_forms/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2000" dirty="0"/>
          </a:p>
        </p:txBody>
      </p:sp>
      <p:sp>
        <p:nvSpPr>
          <p:cNvPr id="7" name="Pill"/>
          <p:cNvSpPr/>
          <p:nvPr/>
        </p:nvSpPr>
        <p:spPr>
          <a:xfrm>
            <a:off x="100584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Flutter app</a:t>
            </a:r>
            <a:endParaRPr lang="en-US" sz="1200" dirty="0"/>
          </a:p>
        </p:txBody>
      </p:sp>
      <p:sp>
        <p:nvSpPr>
          <p:cNvPr id="8" name="Pill"/>
          <p:cNvSpPr/>
          <p:nvPr/>
        </p:nvSpPr>
        <p:spPr>
          <a:xfrm>
            <a:off x="251460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Documents</a:t>
            </a:r>
            <a:endParaRPr lang="en-US" sz="1200" dirty="0"/>
          </a:p>
        </p:txBody>
      </p:sp>
      <p:sp>
        <p:nvSpPr>
          <p:cNvPr id="9" name="Pill"/>
          <p:cNvSpPr/>
          <p:nvPr/>
        </p:nvSpPr>
        <p:spPr>
          <a:xfrm>
            <a:off x="4023360" y="53035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Forms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943600" y="2240280"/>
            <a:ext cx="5696712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6227064" y="25237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Never commit</a:t>
            </a:r>
            <a:endParaRPr lang="en-US" sz="2200" dirty="0"/>
          </a:p>
        </p:txBody>
      </p:sp>
      <p:sp>
        <p:nvSpPr>
          <p:cNvPr id="14" name="Code panel"/>
          <p:cNvSpPr/>
          <p:nvPr/>
        </p:nvSpPr>
        <p:spPr>
          <a:xfrm>
            <a:off x="6263640" y="3520440"/>
            <a:ext cx="5056632" cy="2069592"/>
          </a:xfrm>
          <a:prstGeom prst="roundRect">
            <a:avLst>
              <a:gd name="adj" fmla="val 6186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Window dot"/>
          <p:cNvSpPr/>
          <p:nvPr/>
        </p:nvSpPr>
        <p:spPr>
          <a:xfrm>
            <a:off x="6473952" y="37216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Window dot"/>
          <p:cNvSpPr/>
          <p:nvPr/>
        </p:nvSpPr>
        <p:spPr>
          <a:xfrm>
            <a:off x="6656832" y="37216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Window dot"/>
          <p:cNvSpPr/>
          <p:nvPr/>
        </p:nvSpPr>
        <p:spPr>
          <a:xfrm>
            <a:off x="6839712" y="37216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 txBox="1"/>
          <p:nvPr/>
        </p:nvSpPr>
        <p:spPr>
          <a:xfrm>
            <a:off x="6537960" y="4069080"/>
            <a:ext cx="4599432" cy="1411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.dart_tool/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key.properties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*.jks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google-services.json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580644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Build outputs, API keys, and keystores stay out of the repository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Branching strategy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1091672" cy="2926080"/>
          </a:xfrm>
          <a:prstGeom prst="roundRect">
            <a:avLst>
              <a:gd name="adj" fmla="val 4375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main branch"/>
          <p:cNvSpPr/>
          <p:nvPr/>
        </p:nvSpPr>
        <p:spPr>
          <a:xfrm>
            <a:off x="914400" y="2340864"/>
            <a:ext cx="10360152" cy="731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Pill"/>
          <p:cNvSpPr/>
          <p:nvPr/>
        </p:nvSpPr>
        <p:spPr>
          <a:xfrm>
            <a:off x="914400" y="187452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main</a:t>
            </a:r>
            <a:endParaRPr lang="en-US" sz="1200" dirty="0"/>
          </a:p>
        </p:txBody>
      </p:sp>
      <p:sp>
        <p:nvSpPr>
          <p:cNvPr id="7" name="Commit"/>
          <p:cNvSpPr/>
          <p:nvPr/>
        </p:nvSpPr>
        <p:spPr>
          <a:xfrm>
            <a:off x="190195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Commit"/>
          <p:cNvSpPr/>
          <p:nvPr/>
        </p:nvSpPr>
        <p:spPr>
          <a:xfrm>
            <a:off x="482803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Commit"/>
          <p:cNvSpPr/>
          <p:nvPr/>
        </p:nvSpPr>
        <p:spPr>
          <a:xfrm>
            <a:off x="775411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Commit"/>
          <p:cNvSpPr/>
          <p:nvPr/>
        </p:nvSpPr>
        <p:spPr>
          <a:xfrm>
            <a:off x="10131552" y="22677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feature branch"/>
          <p:cNvSpPr/>
          <p:nvPr/>
        </p:nvSpPr>
        <p:spPr>
          <a:xfrm>
            <a:off x="2377440" y="3383280"/>
            <a:ext cx="2194560" cy="731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branch out"/>
          <p:cNvSpPr/>
          <p:nvPr/>
        </p:nvSpPr>
        <p:spPr>
          <a:xfrm>
            <a:off x="2011680" y="2377440"/>
            <a:ext cx="365760" cy="1042416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merge in"/>
          <p:cNvSpPr/>
          <p:nvPr/>
        </p:nvSpPr>
        <p:spPr>
          <a:xfrm flipV="1">
            <a:off x="4572000" y="2377440"/>
            <a:ext cx="365760" cy="1042416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219456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feature/12-login-ui</a:t>
            </a:r>
            <a:endParaRPr lang="en-US" sz="1400" dirty="0"/>
          </a:p>
        </p:txBody>
      </p:sp>
      <p:sp>
        <p:nvSpPr>
          <p:cNvPr id="15" name="feature branch"/>
          <p:cNvSpPr/>
          <p:nvPr/>
        </p:nvSpPr>
        <p:spPr>
          <a:xfrm>
            <a:off x="5303520" y="3383280"/>
            <a:ext cx="2194560" cy="731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branch out"/>
          <p:cNvSpPr/>
          <p:nvPr/>
        </p:nvSpPr>
        <p:spPr>
          <a:xfrm>
            <a:off x="4937760" y="2377440"/>
            <a:ext cx="365760" cy="104241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merge in"/>
          <p:cNvSpPr/>
          <p:nvPr/>
        </p:nvSpPr>
        <p:spPr>
          <a:xfrm flipV="1">
            <a:off x="7498080" y="2377440"/>
            <a:ext cx="365760" cy="104241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512064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feature/15-quiz-list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bg2"/>
                </a:solidFill>
              </a:rPr>
              <a:t>Merged by pull request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48640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Pill"/>
          <p:cNvSpPr/>
          <p:nvPr/>
        </p:nvSpPr>
        <p:spPr>
          <a:xfrm>
            <a:off x="822960" y="5120640"/>
            <a:ext cx="932688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Always stable and ready to demo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52544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Pill"/>
          <p:cNvSpPr/>
          <p:nvPr/>
        </p:nvSpPr>
        <p:spPr>
          <a:xfrm>
            <a:off x="4626864" y="5120640"/>
            <a:ext cx="2935224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feature/&lt;issue-id&gt;-&lt;short-name&gt;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branch per issue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8156448" y="4892040"/>
            <a:ext cx="3483864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Pill"/>
          <p:cNvSpPr/>
          <p:nvPr/>
        </p:nvSpPr>
        <p:spPr>
          <a:xfrm>
            <a:off x="8430768" y="5120640"/>
            <a:ext cx="176479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Short-lived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30768" y="56235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Merge back through a pull request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Pull request workflow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1301648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CodeBran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6791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Open PR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Push the feature branch and open a pull request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083052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Card"/>
          <p:cNvSpPr/>
          <p:nvPr/>
        </p:nvSpPr>
        <p:spPr>
          <a:xfrm>
            <a:off x="3422904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4175912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User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456" y="26791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2904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Request review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51504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Ask a teammate to review the changes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957316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Card"/>
          <p:cNvSpPr/>
          <p:nvPr/>
        </p:nvSpPr>
        <p:spPr>
          <a:xfrm>
            <a:off x="6297168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Diamond"/>
          <p:cNvSpPr/>
          <p:nvPr/>
        </p:nvSpPr>
        <p:spPr>
          <a:xfrm rot="2700000">
            <a:off x="7050176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720" y="267919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9716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Approve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525768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The reviewer approves or asks for changes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8831580" y="33832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Card"/>
          <p:cNvSpPr/>
          <p:nvPr/>
        </p:nvSpPr>
        <p:spPr>
          <a:xfrm>
            <a:off x="9171432" y="2057400"/>
            <a:ext cx="2468880" cy="283464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Diamond"/>
          <p:cNvSpPr/>
          <p:nvPr/>
        </p:nvSpPr>
        <p:spPr>
          <a:xfrm rot="2700000">
            <a:off x="9924440" y="2444648"/>
            <a:ext cx="962863" cy="962863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3" descr="Githu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67919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71432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Merge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400032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Merge into main and delete the branch</a:t>
            </a:r>
            <a:endParaRPr lang="en-US" sz="1400" dirty="0"/>
          </a:p>
        </p:txBody>
      </p:sp>
      <p:sp>
        <p:nvSpPr>
          <p:cNvPr id="27" name="Code panel"/>
          <p:cNvSpPr/>
          <p:nvPr/>
        </p:nvSpPr>
        <p:spPr>
          <a:xfrm>
            <a:off x="548640" y="5212080"/>
            <a:ext cx="1109167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Window dot"/>
          <p:cNvSpPr/>
          <p:nvPr/>
        </p:nvSpPr>
        <p:spPr>
          <a:xfrm>
            <a:off x="758952" y="541324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Window dot"/>
          <p:cNvSpPr/>
          <p:nvPr/>
        </p:nvSpPr>
        <p:spPr>
          <a:xfrm>
            <a:off x="941832" y="541324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1124712" y="541324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5"/>
          <p:cNvSpPr txBox="1"/>
          <p:nvPr/>
        </p:nvSpPr>
        <p:spPr>
          <a:xfrm>
            <a:off x="1417320" y="534009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760720"/>
            <a:ext cx="1063447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feature/12-login-ui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feature/12-login-ui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Branch protection on main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40080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Settings &gt; Branches &gt; Branch protection rule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914400" y="242316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</a:t>
            </a:r>
            <a:endParaRPr lang="en-US" sz="1300" dirty="0"/>
          </a:p>
        </p:txBody>
      </p:sp>
      <p:sp>
        <p:nvSpPr>
          <p:cNvPr id="7" name="Checkbox"/>
          <p:cNvSpPr/>
          <p:nvPr/>
        </p:nvSpPr>
        <p:spPr>
          <a:xfrm>
            <a:off x="914400" y="317296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644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30632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Require a pull request before merging</a:t>
            </a:r>
            <a:endParaRPr lang="en-US" sz="1600" dirty="0"/>
          </a:p>
        </p:txBody>
      </p:sp>
      <p:sp>
        <p:nvSpPr>
          <p:cNvPr id="10" name="Checkbox"/>
          <p:cNvSpPr/>
          <p:nvPr/>
        </p:nvSpPr>
        <p:spPr>
          <a:xfrm>
            <a:off x="914400" y="395020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416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8404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Require at least 1 approval</a:t>
            </a:r>
            <a:endParaRPr lang="en-US" sz="1600" dirty="0"/>
          </a:p>
        </p:txBody>
      </p:sp>
      <p:sp>
        <p:nvSpPr>
          <p:cNvPr id="13" name="Checkbox"/>
          <p:cNvSpPr/>
          <p:nvPr/>
        </p:nvSpPr>
        <p:spPr>
          <a:xfrm>
            <a:off x="914400" y="472744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4" name="Image 2" descr="Chec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1888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6177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direct pushes to main</a:t>
            </a:r>
            <a:endParaRPr lang="en-US" sz="1600" dirty="0"/>
          </a:p>
        </p:txBody>
      </p:sp>
      <p:sp>
        <p:nvSpPr>
          <p:cNvPr id="16" name="Checkbox"/>
          <p:cNvSpPr/>
          <p:nvPr/>
        </p:nvSpPr>
        <p:spPr>
          <a:xfrm>
            <a:off x="914400" y="5504688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2"/>
          <p:cNvSpPr txBox="1"/>
          <p:nvPr/>
        </p:nvSpPr>
        <p:spPr>
          <a:xfrm>
            <a:off x="1554480" y="539496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Allow force pushes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7269480" y="1691640"/>
            <a:ext cx="4370832" cy="4526280"/>
          </a:xfrm>
          <a:prstGeom prst="roundRect">
            <a:avLst>
              <a:gd name="adj" fmla="val 2929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Diamond"/>
          <p:cNvSpPr/>
          <p:nvPr/>
        </p:nvSpPr>
        <p:spPr>
          <a:xfrm rot="2700000">
            <a:off x="8848649" y="2182673"/>
            <a:ext cx="1212494" cy="121249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3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478024"/>
            <a:ext cx="621792" cy="6217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379476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direct push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38912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2"/>
                </a:solidFill>
              </a:rPr>
              <a:t>At least one peer approval before merge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Issues, labels, milestones, and board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Board column title"/>
          <p:cNvSpPr/>
          <p:nvPr/>
        </p:nvSpPr>
        <p:spPr>
          <a:xfrm>
            <a:off x="731520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 do</a:t>
            </a:r>
            <a:endParaRPr lang="en-US" sz="1400" dirty="0"/>
          </a:p>
        </p:txBody>
      </p:sp>
      <p:sp>
        <p:nvSpPr>
          <p:cNvPr id="6" name="Issue card"/>
          <p:cNvSpPr/>
          <p:nvPr/>
        </p:nvSpPr>
        <p:spPr>
          <a:xfrm>
            <a:off x="731520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Design login screen</a:t>
            </a:r>
            <a:endParaRPr lang="en-US" sz="1400" dirty="0"/>
          </a:p>
        </p:txBody>
      </p:sp>
      <p:sp>
        <p:nvSpPr>
          <p:cNvPr id="7" name="Issue card"/>
          <p:cNvSpPr/>
          <p:nvPr/>
        </p:nvSpPr>
        <p:spPr>
          <a:xfrm>
            <a:off x="731520" y="342900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Set up Firebase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78708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Board column title"/>
          <p:cNvSpPr/>
          <p:nvPr/>
        </p:nvSpPr>
        <p:spPr>
          <a:xfrm>
            <a:off x="3561588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 progress</a:t>
            </a:r>
            <a:endParaRPr lang="en-US" sz="1400" dirty="0"/>
          </a:p>
        </p:txBody>
      </p:sp>
      <p:sp>
        <p:nvSpPr>
          <p:cNvPr id="10" name="Issue card"/>
          <p:cNvSpPr/>
          <p:nvPr/>
        </p:nvSpPr>
        <p:spPr>
          <a:xfrm>
            <a:off x="3561588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Build home page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208776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Board column title"/>
          <p:cNvSpPr/>
          <p:nvPr/>
        </p:nvSpPr>
        <p:spPr>
          <a:xfrm>
            <a:off x="6391656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 review</a:t>
            </a:r>
            <a:endParaRPr lang="en-US" sz="1400" dirty="0"/>
          </a:p>
        </p:txBody>
      </p:sp>
      <p:sp>
        <p:nvSpPr>
          <p:cNvPr id="13" name="Issue card"/>
          <p:cNvSpPr/>
          <p:nvPr/>
        </p:nvSpPr>
        <p:spPr>
          <a:xfrm>
            <a:off x="6391656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 quiz list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9038844" y="1691640"/>
            <a:ext cx="2601468" cy="3017520"/>
          </a:xfrm>
          <a:prstGeom prst="roundRect">
            <a:avLst>
              <a:gd name="adj" fmla="val 492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Board column title"/>
          <p:cNvSpPr/>
          <p:nvPr/>
        </p:nvSpPr>
        <p:spPr>
          <a:xfrm>
            <a:off x="9221724" y="1874520"/>
            <a:ext cx="2235708" cy="411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Done</a:t>
            </a:r>
            <a:endParaRPr lang="en-US" sz="1400" dirty="0"/>
          </a:p>
        </p:txBody>
      </p:sp>
      <p:sp>
        <p:nvSpPr>
          <p:cNvPr id="16" name="Issue card"/>
          <p:cNvSpPr/>
          <p:nvPr/>
        </p:nvSpPr>
        <p:spPr>
          <a:xfrm>
            <a:off x="9221724" y="2468880"/>
            <a:ext cx="2235708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Create repository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4983480"/>
            <a:ext cx="548640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Labels</a:t>
            </a:r>
            <a:endParaRPr lang="en-US" sz="1500" dirty="0"/>
          </a:p>
        </p:txBody>
      </p:sp>
      <p:sp>
        <p:nvSpPr>
          <p:cNvPr id="19" name="Pill"/>
          <p:cNvSpPr/>
          <p:nvPr/>
        </p:nvSpPr>
        <p:spPr>
          <a:xfrm>
            <a:off x="8229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</a:t>
            </a:r>
            <a:endParaRPr lang="en-US" sz="1400" dirty="0"/>
          </a:p>
        </p:txBody>
      </p:sp>
      <p:sp>
        <p:nvSpPr>
          <p:cNvPr id="20" name="Pill"/>
          <p:cNvSpPr/>
          <p:nvPr/>
        </p:nvSpPr>
        <p:spPr>
          <a:xfrm>
            <a:off x="24231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bug</a:t>
            </a:r>
            <a:endParaRPr lang="en-US" sz="1400" dirty="0"/>
          </a:p>
        </p:txBody>
      </p:sp>
      <p:sp>
        <p:nvSpPr>
          <p:cNvPr id="21" name="Pill"/>
          <p:cNvSpPr/>
          <p:nvPr/>
        </p:nvSpPr>
        <p:spPr>
          <a:xfrm>
            <a:off x="4023360" y="5532120"/>
            <a:ext cx="141732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docs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263640" y="4983480"/>
            <a:ext cx="5376672" cy="1234440"/>
          </a:xfrm>
          <a:prstGeom prst="roundRect">
            <a:avLst>
              <a:gd name="adj" fmla="val 1037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 txBox="1"/>
          <p:nvPr/>
        </p:nvSpPr>
        <p:spPr>
          <a:xfrm>
            <a:off x="65379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Milestones</a:t>
            </a:r>
            <a:endParaRPr lang="en-US" sz="1500" dirty="0"/>
          </a:p>
        </p:txBody>
      </p:sp>
      <p:sp>
        <p:nvSpPr>
          <p:cNvPr id="24" name="Diamond"/>
          <p:cNvSpPr/>
          <p:nvPr/>
        </p:nvSpPr>
        <p:spPr>
          <a:xfrm rot="2700000">
            <a:off x="670986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 txBox="1"/>
          <p:nvPr/>
        </p:nvSpPr>
        <p:spPr>
          <a:xfrm>
            <a:off x="662940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400" dirty="0"/>
          </a:p>
        </p:txBody>
      </p:sp>
      <p:sp>
        <p:nvSpPr>
          <p:cNvPr id="26" name="Diamond"/>
          <p:cNvSpPr/>
          <p:nvPr/>
        </p:nvSpPr>
        <p:spPr>
          <a:xfrm rot="2700000">
            <a:off x="789858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 txBox="1"/>
          <p:nvPr/>
        </p:nvSpPr>
        <p:spPr>
          <a:xfrm>
            <a:off x="781812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400" dirty="0"/>
          </a:p>
        </p:txBody>
      </p:sp>
      <p:sp>
        <p:nvSpPr>
          <p:cNvPr id="28" name="Diamond"/>
          <p:cNvSpPr/>
          <p:nvPr/>
        </p:nvSpPr>
        <p:spPr>
          <a:xfrm rot="2700000">
            <a:off x="908730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 txBox="1"/>
          <p:nvPr/>
        </p:nvSpPr>
        <p:spPr>
          <a:xfrm>
            <a:off x="900684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400" dirty="0"/>
          </a:p>
        </p:txBody>
      </p:sp>
      <p:sp>
        <p:nvSpPr>
          <p:cNvPr id="30" name="Diamond"/>
          <p:cNvSpPr/>
          <p:nvPr/>
        </p:nvSpPr>
        <p:spPr>
          <a:xfrm rot="2700000">
            <a:off x="10276027" y="5429707"/>
            <a:ext cx="570586" cy="57058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 txBox="1"/>
          <p:nvPr/>
        </p:nvSpPr>
        <p:spPr>
          <a:xfrm>
            <a:off x="1019556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2"/>
                </a:solidFill>
              </a:rPr>
              <a:t>Sprint tracking on the GitHub Projects board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Traceability to SRS requirement IDs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Link every issue to an SRS requirement ID so each requirement can be traced to code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1390802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Task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28620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FR-01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SRS requirement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083052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Card"/>
          <p:cNvSpPr/>
          <p:nvPr/>
        </p:nvSpPr>
        <p:spPr>
          <a:xfrm>
            <a:off x="3422904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Diamond"/>
          <p:cNvSpPr/>
          <p:nvPr/>
        </p:nvSpPr>
        <p:spPr>
          <a:xfrm rot="2700000">
            <a:off x="4265066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1" descr="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176" y="28620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2904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Issue #12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560064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Title starts with FR-01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957316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Card"/>
          <p:cNvSpPr/>
          <p:nvPr/>
        </p:nvSpPr>
        <p:spPr>
          <a:xfrm>
            <a:off x="6297168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Diamond"/>
          <p:cNvSpPr/>
          <p:nvPr/>
        </p:nvSpPr>
        <p:spPr>
          <a:xfrm rot="2700000">
            <a:off x="7139330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9" name="Image 2" descr="CodeBran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440" y="286207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9716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Branch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34328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feature/12-login-ui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831580" y="324612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Card"/>
          <p:cNvSpPr/>
          <p:nvPr/>
        </p:nvSpPr>
        <p:spPr>
          <a:xfrm>
            <a:off x="9171432" y="2286000"/>
            <a:ext cx="246888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Diamond"/>
          <p:cNvSpPr/>
          <p:nvPr/>
        </p:nvSpPr>
        <p:spPr>
          <a:xfrm rot="2700000">
            <a:off x="10013594" y="2670962"/>
            <a:ext cx="784555" cy="784555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3" descr="Githu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28620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71432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Pull request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9308592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Closes #12</a:t>
            </a:r>
            <a:endParaRPr lang="en-US" sz="1300" dirty="0"/>
          </a:p>
        </p:txBody>
      </p:sp>
      <p:sp>
        <p:nvSpPr>
          <p:cNvPr id="28" name="Code panel"/>
          <p:cNvSpPr/>
          <p:nvPr/>
        </p:nvSpPr>
        <p:spPr>
          <a:xfrm>
            <a:off x="548640" y="4709160"/>
            <a:ext cx="11091672" cy="1418844"/>
          </a:xfrm>
          <a:prstGeom prst="roundRect">
            <a:avLst>
              <a:gd name="adj" fmla="val 902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Window dot"/>
          <p:cNvSpPr/>
          <p:nvPr/>
        </p:nvSpPr>
        <p:spPr>
          <a:xfrm>
            <a:off x="758952" y="491032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Window dot"/>
          <p:cNvSpPr/>
          <p:nvPr/>
        </p:nvSpPr>
        <p:spPr>
          <a:xfrm>
            <a:off x="941832" y="491032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Window dot"/>
          <p:cNvSpPr/>
          <p:nvPr/>
        </p:nvSpPr>
        <p:spPr>
          <a:xfrm>
            <a:off x="1124712" y="491032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26"/>
          <p:cNvSpPr txBox="1"/>
          <p:nvPr/>
        </p:nvSpPr>
        <p:spPr>
          <a:xfrm>
            <a:off x="1417320" y="483717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Traceability links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" y="5257800"/>
            <a:ext cx="1063447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FR-01 Login screen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Commit:  git commit -m "FR-01 add login form"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PR:      Closes #12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18541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 GITHUB &amp; CI/CD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evidence: M1 Scope and Requirements</a:t>
            </a:r>
            <a:endParaRPr lang="en-US" sz="3000" dirty="0"/>
          </a:p>
        </p:txBody>
      </p:sp>
      <p:sp>
        <p:nvSpPr>
          <p:cNvPr id="4" name="Pill"/>
          <p:cNvSpPr/>
          <p:nvPr/>
        </p:nvSpPr>
        <p:spPr>
          <a:xfrm>
            <a:off x="548640" y="169164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Weeks 4-5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33172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Diamond"/>
          <p:cNvSpPr/>
          <p:nvPr/>
        </p:nvSpPr>
        <p:spPr>
          <a:xfrm rot="2700000">
            <a:off x="832104" y="252374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Githu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Team repository created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Required folders: /src, /docs, /process_forms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61188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Diamond"/>
          <p:cNvSpPr/>
          <p:nvPr/>
        </p:nvSpPr>
        <p:spPr>
          <a:xfrm rot="2700000">
            <a:off x="832104" y="380390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Task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Issue board set up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Issues, labels, and a Projects board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892040"/>
            <a:ext cx="69494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Diamond"/>
          <p:cNvSpPr/>
          <p:nvPr/>
        </p:nvSpPr>
        <p:spPr>
          <a:xfrm rot="2700000">
            <a:off x="832104" y="5084064"/>
            <a:ext cx="713232" cy="7132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2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57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Milestones set up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M1 to M4 created in GitHub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863840" y="1691640"/>
            <a:ext cx="3776472" cy="45262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9034272" y="2350008"/>
            <a:ext cx="1426464" cy="1426464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3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697480"/>
            <a:ext cx="731520" cy="7315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63840" y="43434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Evidence for M1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183880" y="489204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2"/>
                </a:solidFill>
              </a:rPr>
              <a:t>Show the repository, the issue board, and the milestones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/>
          <p:nvPr/>
        </p:nvSpPr>
        <p:spPr>
          <a:xfrm>
            <a:off x="54864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09  LAB EXERCISE 2.2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Creating a simple Flutter app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Diamond"/>
          <p:cNvSpPr/>
          <p:nvPr/>
        </p:nvSpPr>
        <p:spPr>
          <a:xfrm rot="2700000">
            <a:off x="748436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62940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Diamond"/>
          <p:cNvSpPr/>
          <p:nvPr/>
        </p:nvSpPr>
        <p:spPr>
          <a:xfrm rot="2700000">
            <a:off x="2120036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0" descr="Folder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20391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 the project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Make the Flutter project inside the team repository /src folder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3083052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Card"/>
          <p:cNvSpPr/>
          <p:nvPr/>
        </p:nvSpPr>
        <p:spPr>
          <a:xfrm>
            <a:off x="3422904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Diamond"/>
          <p:cNvSpPr/>
          <p:nvPr/>
        </p:nvSpPr>
        <p:spPr>
          <a:xfrm rot="2700000">
            <a:off x="3622700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1"/>
          <p:cNvSpPr txBox="1"/>
          <p:nvPr/>
        </p:nvSpPr>
        <p:spPr>
          <a:xfrm>
            <a:off x="3537204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Diamond"/>
          <p:cNvSpPr/>
          <p:nvPr/>
        </p:nvSpPr>
        <p:spPr>
          <a:xfrm rot="2700000">
            <a:off x="4994300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1" descr="Task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976" y="20391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51504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 an issue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651504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 opens an issue and creates a feature branch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5957316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Card"/>
          <p:cNvSpPr/>
          <p:nvPr/>
        </p:nvSpPr>
        <p:spPr>
          <a:xfrm>
            <a:off x="6297168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Diamond"/>
          <p:cNvSpPr/>
          <p:nvPr/>
        </p:nvSpPr>
        <p:spPr>
          <a:xfrm rot="2700000">
            <a:off x="6496964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8"/>
          <p:cNvSpPr txBox="1"/>
          <p:nvPr/>
        </p:nvSpPr>
        <p:spPr>
          <a:xfrm>
            <a:off x="6411468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Diamond"/>
          <p:cNvSpPr/>
          <p:nvPr/>
        </p:nvSpPr>
        <p:spPr>
          <a:xfrm rot="2700000">
            <a:off x="7868564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2" descr="CodeBran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203911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525768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 a PR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525768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 submits a pull request for the feature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8831580" y="292608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Card"/>
          <p:cNvSpPr/>
          <p:nvPr/>
        </p:nvSpPr>
        <p:spPr>
          <a:xfrm>
            <a:off x="9171432" y="1691640"/>
            <a:ext cx="2468880" cy="274320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Diamond"/>
          <p:cNvSpPr/>
          <p:nvPr/>
        </p:nvSpPr>
        <p:spPr>
          <a:xfrm rot="2700000">
            <a:off x="9371228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0" name="Text 25"/>
          <p:cNvSpPr txBox="1"/>
          <p:nvPr/>
        </p:nvSpPr>
        <p:spPr>
          <a:xfrm>
            <a:off x="9285732" y="1805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Diamond"/>
          <p:cNvSpPr/>
          <p:nvPr/>
        </p:nvSpPr>
        <p:spPr>
          <a:xfrm rot="2700000">
            <a:off x="10742828" y="1891436"/>
            <a:ext cx="606247" cy="606247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3" descr="CheckCirc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0504" y="2039112"/>
            <a:ext cx="310896" cy="31089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400032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Review and merge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400032" y="3246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teammate reviews and merges the PR</a:t>
            </a:r>
            <a:endParaRPr lang="en-US" sz="1400" dirty="0"/>
          </a:p>
        </p:txBody>
      </p:sp>
      <p:sp>
        <p:nvSpPr>
          <p:cNvPr id="35" name="Code panel"/>
          <p:cNvSpPr/>
          <p:nvPr/>
        </p:nvSpPr>
        <p:spPr>
          <a:xfrm>
            <a:off x="548640" y="4754880"/>
            <a:ext cx="11091672" cy="1232916"/>
          </a:xfrm>
          <a:prstGeom prst="roundRect">
            <a:avLst>
              <a:gd name="adj" fmla="val 10383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6" name="Window dot"/>
          <p:cNvSpPr/>
          <p:nvPr/>
        </p:nvSpPr>
        <p:spPr>
          <a:xfrm>
            <a:off x="758952" y="495604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Window dot"/>
          <p:cNvSpPr/>
          <p:nvPr/>
        </p:nvSpPr>
        <p:spPr>
          <a:xfrm>
            <a:off x="941832" y="495604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8" name="Window dot"/>
          <p:cNvSpPr/>
          <p:nvPr/>
        </p:nvSpPr>
        <p:spPr>
          <a:xfrm>
            <a:off x="1124712" y="495604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Text 33"/>
          <p:cNvSpPr txBox="1"/>
          <p:nvPr/>
        </p:nvSpPr>
        <p:spPr>
          <a:xfrm>
            <a:off x="1417320" y="4882896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822960" y="5303520"/>
            <a:ext cx="1063447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--project-name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simple_app src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feature/21-home-screen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00800"/>
            <a:ext cx="94183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Clo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Any Questions?</a:t>
            </a:r>
            <a:endParaRPr lang="en-US" sz="5400" dirty="0"/>
          </a:p>
        </p:txBody>
      </p:sp>
      <p:sp>
        <p:nvSpPr>
          <p:cNvPr id="6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iamond"/>
          <p:cNvSpPr/>
          <p:nvPr/>
        </p:nvSpPr>
        <p:spPr>
          <a:xfrm rot="2700000">
            <a:off x="7498080" y="822960"/>
            <a:ext cx="4754880" cy="4754880"/>
          </a:xfrm>
          <a:prstGeom prst="roundRect">
            <a:avLst>
              <a:gd name="adj" fmla="val 17308"/>
            </a:avLst>
          </a:prstGeom>
          <a:solidFill>
            <a:schemeClr val="accent1">
              <a:alpha val="92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Hero diamond inner"/>
          <p:cNvSpPr/>
          <p:nvPr/>
        </p:nvSpPr>
        <p:spPr>
          <a:xfrm rot="2700000">
            <a:off x="8001000" y="1325880"/>
            <a:ext cx="3749040" cy="3749040"/>
          </a:xfrm>
          <a:prstGeom prst="roundRect">
            <a:avLst>
              <a:gd name="adj" fmla="val 17073"/>
            </a:avLst>
          </a:prstGeom>
          <a:solidFill>
            <a:schemeClr val="accent5">
              <a:alpha val="80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Clo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33172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Logo plate"/>
          <p:cNvSpPr/>
          <p:nvPr/>
        </p:nvSpPr>
        <p:spPr>
          <a:xfrm>
            <a:off x="731520" y="548640"/>
            <a:ext cx="2834640" cy="77724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1" descr="UNIMAS Faculty of Computer Science and Information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640080"/>
            <a:ext cx="2615184" cy="57332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Mr. Raynold Anak Kabai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rt Up Teal">
  <a:themeElements>
    <a:clrScheme name="Start Up Teal">
      <a:dk1>
        <a:srgbClr val="262B40"/>
      </a:dk1>
      <a:lt1>
        <a:srgbClr val="FFFFFF"/>
      </a:lt1>
      <a:dk2>
        <a:srgbClr val="3A4059"/>
      </a:dk2>
      <a:lt2>
        <a:srgbClr val="F2F4F7"/>
      </a:lt2>
      <a:accent1>
        <a:srgbClr val="2F8F83"/>
      </a:accent1>
      <a:accent2>
        <a:srgbClr val="4ED8A4"/>
      </a:accent2>
      <a:accent3>
        <a:srgbClr val="F2C230"/>
      </a:accent3>
      <a:accent4>
        <a:srgbClr val="E0701A"/>
      </a:accent4>
      <a:accent5>
        <a:srgbClr val="1F6F6A"/>
      </a:accent5>
      <a:accent6>
        <a:srgbClr val="7AB8FF"/>
      </a:accent6>
      <a:hlink>
        <a:srgbClr val="2F8F83"/>
      </a:hlink>
      <a:folHlink>
        <a:srgbClr val="3A4059"/>
      </a:folHlink>
    </a:clrScheme>
    <a:fontScheme name="Start Up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2377</Words>
  <Application>Microsoft Office PowerPoint</Application>
  <PresentationFormat>Widescreen</PresentationFormat>
  <Paragraphs>629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Courier New</vt:lpstr>
      <vt:lpstr>Start Up Teal</vt:lpstr>
      <vt:lpstr>Lesson 4: Introduction to Flutter</vt:lpstr>
      <vt:lpstr>Table of contents</vt:lpstr>
      <vt:lpstr>What is Flutter?</vt:lpstr>
      <vt:lpstr>Layers of the Flutter framework</vt:lpstr>
      <vt:lpstr>Installing and configuring the Flutter SDK</vt:lpstr>
      <vt:lpstr>Installing Flutter on Mac</vt:lpstr>
      <vt:lpstr>What is Android Studio?</vt:lpstr>
      <vt:lpstr>Installing Android Studio</vt:lpstr>
      <vt:lpstr>Setup wizard: welcome and components</vt:lpstr>
      <vt:lpstr>Setup wizard: install and finish</vt:lpstr>
      <vt:lpstr>First-run wizard: welcome and install type</vt:lpstr>
      <vt:lpstr>First-run wizard: SDK and licences</vt:lpstr>
      <vt:lpstr>First-run wizard: downloads</vt:lpstr>
      <vt:lpstr>Android Studio sugar and spice</vt:lpstr>
      <vt:lpstr>Install the Dart plugin</vt:lpstr>
      <vt:lpstr>Install the Flutter plugin</vt:lpstr>
      <vt:lpstr>Creating a new Flutter project</vt:lpstr>
      <vt:lpstr>Project overview</vt:lpstr>
      <vt:lpstr>Project setup done</vt:lpstr>
      <vt:lpstr>Run a Flutter app</vt:lpstr>
      <vt:lpstr>Set up an Android Virtual Device</vt:lpstr>
      <vt:lpstr>Why use a physical device?</vt:lpstr>
      <vt:lpstr>Configure your phone</vt:lpstr>
      <vt:lpstr>Turn on Developer mode</vt:lpstr>
      <vt:lpstr>Enable USB debugging</vt:lpstr>
      <vt:lpstr>Allow USB debugging</vt:lpstr>
      <vt:lpstr>Select your device</vt:lpstr>
      <vt:lpstr>Run on your Android phone</vt:lpstr>
      <vt:lpstr>Run on an iPhone: requirements</vt:lpstr>
      <vt:lpstr>Run on an iPhone: steps</vt:lpstr>
      <vt:lpstr>Emulator debug mode</vt:lpstr>
      <vt:lpstr>Introduction to Flutter widgets</vt:lpstr>
      <vt:lpstr>Widget types and the widget tree</vt:lpstr>
      <vt:lpstr>Creating a Flutter app using widgets</vt:lpstr>
      <vt:lpstr>Layout widgets: Column and Row</vt:lpstr>
      <vt:lpstr>What is a MaterialApp widget?</vt:lpstr>
      <vt:lpstr>Material 3: useMaterial3 and ColorScheme</vt:lpstr>
      <vt:lpstr>Team repository setup</vt:lpstr>
      <vt:lpstr>Branching strategy</vt:lpstr>
      <vt:lpstr>Pull request workflow</vt:lpstr>
      <vt:lpstr>Branch protection on main</vt:lpstr>
      <vt:lpstr>Issues, labels, milestones, and board</vt:lpstr>
      <vt:lpstr>Traceability to SRS requirement IDs</vt:lpstr>
      <vt:lpstr>Project evidence: M1 Scope and Requirements</vt:lpstr>
      <vt:lpstr>Creating a simple Flutter app</vt:lpstr>
      <vt:lpstr>Any Questions?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Flutter</dc:title>
  <dc:subject>PptxGenJS Presentation</dc:subject>
  <dc:creator>Raynold Anak Kabai</dc:creator>
  <cp:lastModifiedBy>Aminul Islam Rakib</cp:lastModifiedBy>
  <cp:revision>8</cp:revision>
  <dcterms:created xsi:type="dcterms:W3CDTF">2026-10-09T01:08:49Z</dcterms:created>
  <dcterms:modified xsi:type="dcterms:W3CDTF">2026-10-19T01:44:25Z</dcterms:modified>
</cp:coreProperties>
</file>