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42"/>
  </p:notesMasterIdLst>
  <p:handoutMasterIdLst>
    <p:handoutMasterId r:id="rId43"/>
  </p:handoutMasterIdLst>
  <p:sldIdLst>
    <p:sldId id="297" r:id="rId5"/>
    <p:sldId id="298" r:id="rId6"/>
    <p:sldId id="299" r:id="rId7"/>
    <p:sldId id="368" r:id="rId8"/>
    <p:sldId id="369" r:id="rId9"/>
    <p:sldId id="370" r:id="rId10"/>
    <p:sldId id="371" r:id="rId11"/>
    <p:sldId id="372" r:id="rId12"/>
    <p:sldId id="373" r:id="rId13"/>
    <p:sldId id="374" r:id="rId14"/>
    <p:sldId id="375" r:id="rId15"/>
    <p:sldId id="376" r:id="rId16"/>
    <p:sldId id="377" r:id="rId17"/>
    <p:sldId id="378" r:id="rId18"/>
    <p:sldId id="379" r:id="rId19"/>
    <p:sldId id="380" r:id="rId20"/>
    <p:sldId id="381" r:id="rId21"/>
    <p:sldId id="382" r:id="rId22"/>
    <p:sldId id="383" r:id="rId23"/>
    <p:sldId id="384" r:id="rId24"/>
    <p:sldId id="385" r:id="rId25"/>
    <p:sldId id="386" r:id="rId26"/>
    <p:sldId id="387" r:id="rId27"/>
    <p:sldId id="388" r:id="rId28"/>
    <p:sldId id="389" r:id="rId29"/>
    <p:sldId id="390" r:id="rId30"/>
    <p:sldId id="391" r:id="rId31"/>
    <p:sldId id="395" r:id="rId32"/>
    <p:sldId id="396" r:id="rId33"/>
    <p:sldId id="397" r:id="rId34"/>
    <p:sldId id="392" r:id="rId35"/>
    <p:sldId id="393" r:id="rId36"/>
    <p:sldId id="399" r:id="rId37"/>
    <p:sldId id="394" r:id="rId38"/>
    <p:sldId id="398" r:id="rId39"/>
    <p:sldId id="296" r:id="rId40"/>
    <p:sldId id="32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31" autoAdjust="0"/>
  </p:normalViewPr>
  <p:slideViewPr>
    <p:cSldViewPr snapToGrid="0">
      <p:cViewPr varScale="1">
        <p:scale>
          <a:sx n="68" d="100"/>
          <a:sy n="68" d="100"/>
        </p:scale>
        <p:origin x="616" y="4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60" d="100"/>
          <a:sy n="60" d="100"/>
        </p:scale>
        <p:origin x="242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10/28/2025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10/28/2025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a:t>
            </a:fld>
            <a:endParaRPr lang="en-US" noProof="0"/>
          </a:p>
        </p:txBody>
      </p:sp>
    </p:spTree>
    <p:extLst>
      <p:ext uri="{BB962C8B-B14F-4D97-AF65-F5344CB8AC3E}">
        <p14:creationId xmlns:p14="http://schemas.microsoft.com/office/powerpoint/2010/main" val="2391315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a:t>
            </a:fld>
            <a:endParaRPr lang="en-US" noProof="0"/>
          </a:p>
        </p:txBody>
      </p:sp>
    </p:spTree>
    <p:extLst>
      <p:ext uri="{BB962C8B-B14F-4D97-AF65-F5344CB8AC3E}">
        <p14:creationId xmlns:p14="http://schemas.microsoft.com/office/powerpoint/2010/main" val="199658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a:t>
            </a:fld>
            <a:endParaRPr lang="en-US" noProof="0"/>
          </a:p>
        </p:txBody>
      </p:sp>
    </p:spTree>
    <p:extLst>
      <p:ext uri="{BB962C8B-B14F-4D97-AF65-F5344CB8AC3E}">
        <p14:creationId xmlns:p14="http://schemas.microsoft.com/office/powerpoint/2010/main" val="2675482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4</a:t>
            </a:fld>
            <a:endParaRPr lang="en-US" noProof="0"/>
          </a:p>
        </p:txBody>
      </p:sp>
    </p:spTree>
    <p:extLst>
      <p:ext uri="{BB962C8B-B14F-4D97-AF65-F5344CB8AC3E}">
        <p14:creationId xmlns:p14="http://schemas.microsoft.com/office/powerpoint/2010/main" val="4219346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a:p>
        </p:txBody>
      </p:sp>
    </p:spTree>
    <p:extLst>
      <p:ext uri="{BB962C8B-B14F-4D97-AF65-F5344CB8AC3E}">
        <p14:creationId xmlns:p14="http://schemas.microsoft.com/office/powerpoint/2010/main" val="2767296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a:p>
        </p:txBody>
      </p:sp>
    </p:spTree>
    <p:extLst>
      <p:ext uri="{BB962C8B-B14F-4D97-AF65-F5344CB8AC3E}">
        <p14:creationId xmlns:p14="http://schemas.microsoft.com/office/powerpoint/2010/main" val="1720527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7</a:t>
            </a:fld>
            <a:endParaRPr lang="en-US" noProof="0"/>
          </a:p>
        </p:txBody>
      </p:sp>
    </p:spTree>
    <p:extLst>
      <p:ext uri="{BB962C8B-B14F-4D97-AF65-F5344CB8AC3E}">
        <p14:creationId xmlns:p14="http://schemas.microsoft.com/office/powerpoint/2010/main" val="213495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8</a:t>
            </a:fld>
            <a:endParaRPr lang="en-US" noProof="0"/>
          </a:p>
        </p:txBody>
      </p:sp>
    </p:spTree>
    <p:extLst>
      <p:ext uri="{BB962C8B-B14F-4D97-AF65-F5344CB8AC3E}">
        <p14:creationId xmlns:p14="http://schemas.microsoft.com/office/powerpoint/2010/main" val="4113395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9</a:t>
            </a:fld>
            <a:endParaRPr lang="en-US" noProof="0"/>
          </a:p>
        </p:txBody>
      </p:sp>
    </p:spTree>
    <p:extLst>
      <p:ext uri="{BB962C8B-B14F-4D97-AF65-F5344CB8AC3E}">
        <p14:creationId xmlns:p14="http://schemas.microsoft.com/office/powerpoint/2010/main" val="3914067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10</a:t>
            </a:fld>
            <a:endParaRPr lang="en-US" noProof="0"/>
          </a:p>
        </p:txBody>
      </p:sp>
    </p:spTree>
    <p:extLst>
      <p:ext uri="{BB962C8B-B14F-4D97-AF65-F5344CB8AC3E}">
        <p14:creationId xmlns:p14="http://schemas.microsoft.com/office/powerpoint/2010/main" val="678312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11</a:t>
            </a:fld>
            <a:endParaRPr lang="en-US" noProof="0"/>
          </a:p>
        </p:txBody>
      </p:sp>
    </p:spTree>
    <p:extLst>
      <p:ext uri="{BB962C8B-B14F-4D97-AF65-F5344CB8AC3E}">
        <p14:creationId xmlns:p14="http://schemas.microsoft.com/office/powerpoint/2010/main" val="1395697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12</a:t>
            </a:fld>
            <a:endParaRPr lang="en-US" noProof="0"/>
          </a:p>
        </p:txBody>
      </p:sp>
    </p:spTree>
    <p:extLst>
      <p:ext uri="{BB962C8B-B14F-4D97-AF65-F5344CB8AC3E}">
        <p14:creationId xmlns:p14="http://schemas.microsoft.com/office/powerpoint/2010/main" val="2966055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13</a:t>
            </a:fld>
            <a:endParaRPr lang="en-US" noProof="0"/>
          </a:p>
        </p:txBody>
      </p:sp>
    </p:spTree>
    <p:extLst>
      <p:ext uri="{BB962C8B-B14F-4D97-AF65-F5344CB8AC3E}">
        <p14:creationId xmlns:p14="http://schemas.microsoft.com/office/powerpoint/2010/main" val="230939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14</a:t>
            </a:fld>
            <a:endParaRPr lang="en-US" noProof="0"/>
          </a:p>
        </p:txBody>
      </p:sp>
    </p:spTree>
    <p:extLst>
      <p:ext uri="{BB962C8B-B14F-4D97-AF65-F5344CB8AC3E}">
        <p14:creationId xmlns:p14="http://schemas.microsoft.com/office/powerpoint/2010/main" val="34471277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15</a:t>
            </a:fld>
            <a:endParaRPr lang="en-US" noProof="0"/>
          </a:p>
        </p:txBody>
      </p:sp>
    </p:spTree>
    <p:extLst>
      <p:ext uri="{BB962C8B-B14F-4D97-AF65-F5344CB8AC3E}">
        <p14:creationId xmlns:p14="http://schemas.microsoft.com/office/powerpoint/2010/main" val="169422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16</a:t>
            </a:fld>
            <a:endParaRPr lang="en-US" noProof="0"/>
          </a:p>
        </p:txBody>
      </p:sp>
    </p:spTree>
    <p:extLst>
      <p:ext uri="{BB962C8B-B14F-4D97-AF65-F5344CB8AC3E}">
        <p14:creationId xmlns:p14="http://schemas.microsoft.com/office/powerpoint/2010/main" val="3130331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17</a:t>
            </a:fld>
            <a:endParaRPr lang="en-US" noProof="0"/>
          </a:p>
        </p:txBody>
      </p:sp>
    </p:spTree>
    <p:extLst>
      <p:ext uri="{BB962C8B-B14F-4D97-AF65-F5344CB8AC3E}">
        <p14:creationId xmlns:p14="http://schemas.microsoft.com/office/powerpoint/2010/main" val="31848939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18</a:t>
            </a:fld>
            <a:endParaRPr lang="en-US" noProof="0"/>
          </a:p>
        </p:txBody>
      </p:sp>
    </p:spTree>
    <p:extLst>
      <p:ext uri="{BB962C8B-B14F-4D97-AF65-F5344CB8AC3E}">
        <p14:creationId xmlns:p14="http://schemas.microsoft.com/office/powerpoint/2010/main" val="22409867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19</a:t>
            </a:fld>
            <a:endParaRPr lang="en-US" noProof="0"/>
          </a:p>
        </p:txBody>
      </p:sp>
    </p:spTree>
    <p:extLst>
      <p:ext uri="{BB962C8B-B14F-4D97-AF65-F5344CB8AC3E}">
        <p14:creationId xmlns:p14="http://schemas.microsoft.com/office/powerpoint/2010/main" val="42582526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20</a:t>
            </a:fld>
            <a:endParaRPr lang="en-US" noProof="0"/>
          </a:p>
        </p:txBody>
      </p:sp>
    </p:spTree>
    <p:extLst>
      <p:ext uri="{BB962C8B-B14F-4D97-AF65-F5344CB8AC3E}">
        <p14:creationId xmlns:p14="http://schemas.microsoft.com/office/powerpoint/2010/main" val="3250879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21</a:t>
            </a:fld>
            <a:endParaRPr lang="en-US" noProof="0"/>
          </a:p>
        </p:txBody>
      </p:sp>
    </p:spTree>
    <p:extLst>
      <p:ext uri="{BB962C8B-B14F-4D97-AF65-F5344CB8AC3E}">
        <p14:creationId xmlns:p14="http://schemas.microsoft.com/office/powerpoint/2010/main" val="8100206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22</a:t>
            </a:fld>
            <a:endParaRPr lang="en-US" noProof="0"/>
          </a:p>
        </p:txBody>
      </p:sp>
    </p:spTree>
    <p:extLst>
      <p:ext uri="{BB962C8B-B14F-4D97-AF65-F5344CB8AC3E}">
        <p14:creationId xmlns:p14="http://schemas.microsoft.com/office/powerpoint/2010/main" val="32518575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23</a:t>
            </a:fld>
            <a:endParaRPr lang="en-US" noProof="0"/>
          </a:p>
        </p:txBody>
      </p:sp>
    </p:spTree>
    <p:extLst>
      <p:ext uri="{BB962C8B-B14F-4D97-AF65-F5344CB8AC3E}">
        <p14:creationId xmlns:p14="http://schemas.microsoft.com/office/powerpoint/2010/main" val="24081987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24</a:t>
            </a:fld>
            <a:endParaRPr lang="en-US" noProof="0"/>
          </a:p>
        </p:txBody>
      </p:sp>
    </p:spTree>
    <p:extLst>
      <p:ext uri="{BB962C8B-B14F-4D97-AF65-F5344CB8AC3E}">
        <p14:creationId xmlns:p14="http://schemas.microsoft.com/office/powerpoint/2010/main" val="1083651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25</a:t>
            </a:fld>
            <a:endParaRPr lang="en-US" noProof="0"/>
          </a:p>
        </p:txBody>
      </p:sp>
    </p:spTree>
    <p:extLst>
      <p:ext uri="{BB962C8B-B14F-4D97-AF65-F5344CB8AC3E}">
        <p14:creationId xmlns:p14="http://schemas.microsoft.com/office/powerpoint/2010/main" val="14421776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26</a:t>
            </a:fld>
            <a:endParaRPr lang="en-US" noProof="0"/>
          </a:p>
        </p:txBody>
      </p:sp>
    </p:spTree>
    <p:extLst>
      <p:ext uri="{BB962C8B-B14F-4D97-AF65-F5344CB8AC3E}">
        <p14:creationId xmlns:p14="http://schemas.microsoft.com/office/powerpoint/2010/main" val="31665460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27</a:t>
            </a:fld>
            <a:endParaRPr lang="en-US" noProof="0"/>
          </a:p>
        </p:txBody>
      </p:sp>
    </p:spTree>
    <p:extLst>
      <p:ext uri="{BB962C8B-B14F-4D97-AF65-F5344CB8AC3E}">
        <p14:creationId xmlns:p14="http://schemas.microsoft.com/office/powerpoint/2010/main" val="4940914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28</a:t>
            </a:fld>
            <a:endParaRPr lang="en-US" noProof="0"/>
          </a:p>
        </p:txBody>
      </p:sp>
    </p:spTree>
    <p:extLst>
      <p:ext uri="{BB962C8B-B14F-4D97-AF65-F5344CB8AC3E}">
        <p14:creationId xmlns:p14="http://schemas.microsoft.com/office/powerpoint/2010/main" val="13172347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29</a:t>
            </a:fld>
            <a:endParaRPr lang="en-US" noProof="0"/>
          </a:p>
        </p:txBody>
      </p:sp>
    </p:spTree>
    <p:extLst>
      <p:ext uri="{BB962C8B-B14F-4D97-AF65-F5344CB8AC3E}">
        <p14:creationId xmlns:p14="http://schemas.microsoft.com/office/powerpoint/2010/main" val="24179688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30</a:t>
            </a:fld>
            <a:endParaRPr lang="en-US" noProof="0"/>
          </a:p>
        </p:txBody>
      </p:sp>
    </p:spTree>
    <p:extLst>
      <p:ext uri="{BB962C8B-B14F-4D97-AF65-F5344CB8AC3E}">
        <p14:creationId xmlns:p14="http://schemas.microsoft.com/office/powerpoint/2010/main" val="23626318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31</a:t>
            </a:fld>
            <a:endParaRPr lang="en-US" noProof="0"/>
          </a:p>
        </p:txBody>
      </p:sp>
    </p:spTree>
    <p:extLst>
      <p:ext uri="{BB962C8B-B14F-4D97-AF65-F5344CB8AC3E}">
        <p14:creationId xmlns:p14="http://schemas.microsoft.com/office/powerpoint/2010/main" val="26414507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32</a:t>
            </a:fld>
            <a:endParaRPr lang="en-US" noProof="0"/>
          </a:p>
        </p:txBody>
      </p:sp>
    </p:spTree>
    <p:extLst>
      <p:ext uri="{BB962C8B-B14F-4D97-AF65-F5344CB8AC3E}">
        <p14:creationId xmlns:p14="http://schemas.microsoft.com/office/powerpoint/2010/main" val="3986701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33</a:t>
            </a:fld>
            <a:endParaRPr lang="en-US" noProof="0"/>
          </a:p>
        </p:txBody>
      </p:sp>
    </p:spTree>
    <p:extLst>
      <p:ext uri="{BB962C8B-B14F-4D97-AF65-F5344CB8AC3E}">
        <p14:creationId xmlns:p14="http://schemas.microsoft.com/office/powerpoint/2010/main" val="33356829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34</a:t>
            </a:fld>
            <a:endParaRPr lang="en-US" noProof="0"/>
          </a:p>
        </p:txBody>
      </p:sp>
    </p:spTree>
    <p:extLst>
      <p:ext uri="{BB962C8B-B14F-4D97-AF65-F5344CB8AC3E}">
        <p14:creationId xmlns:p14="http://schemas.microsoft.com/office/powerpoint/2010/main" val="26327507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35</a:t>
            </a:fld>
            <a:endParaRPr lang="en-US" noProof="0"/>
          </a:p>
        </p:txBody>
      </p:sp>
    </p:spTree>
    <p:extLst>
      <p:ext uri="{BB962C8B-B14F-4D97-AF65-F5344CB8AC3E}">
        <p14:creationId xmlns:p14="http://schemas.microsoft.com/office/powerpoint/2010/main" val="24359866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36</a:t>
            </a:fld>
            <a:endParaRPr lang="en-US" noProof="0"/>
          </a:p>
        </p:txBody>
      </p:sp>
    </p:spTree>
    <p:extLst>
      <p:ext uri="{BB962C8B-B14F-4D97-AF65-F5344CB8AC3E}">
        <p14:creationId xmlns:p14="http://schemas.microsoft.com/office/powerpoint/2010/main" val="41896101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37</a:t>
            </a:fld>
            <a:endParaRPr lang="en-US" noProof="0"/>
          </a:p>
        </p:txBody>
      </p:sp>
    </p:spTree>
    <p:extLst>
      <p:ext uri="{BB962C8B-B14F-4D97-AF65-F5344CB8AC3E}">
        <p14:creationId xmlns:p14="http://schemas.microsoft.com/office/powerpoint/2010/main" val="1069112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Small Image">
    <p:spTree>
      <p:nvGrpSpPr>
        <p:cNvPr id="1" name=""/>
        <p:cNvGrpSpPr/>
        <p:nvPr/>
      </p:nvGrpSpPr>
      <p:grpSpPr>
        <a:xfrm>
          <a:off x="0" y="0"/>
          <a:ext cx="0" cy="0"/>
          <a:chOff x="0" y="0"/>
          <a:chExt cx="0" cy="0"/>
        </a:xfrm>
      </p:grpSpPr>
      <p:sp>
        <p:nvSpPr>
          <p:cNvPr id="9" name="Picture Placeholder 1">
            <a:extLst>
              <a:ext uri="{FF2B5EF4-FFF2-40B4-BE49-F238E27FC236}">
                <a16:creationId xmlns:a16="http://schemas.microsoft.com/office/drawing/2014/main" id="{837F9836-5B23-424D-8C60-AC02A8512A4B}"/>
              </a:ext>
            </a:extLst>
          </p:cNvPr>
          <p:cNvSpPr>
            <a:spLocks noGrp="1"/>
          </p:cNvSpPr>
          <p:nvPr>
            <p:ph type="pic" sz="quarter" idx="13" hasCustomPrompt="1"/>
          </p:nvPr>
        </p:nvSpPr>
        <p:spPr>
          <a:xfrm>
            <a:off x="9980476" y="0"/>
            <a:ext cx="2211524" cy="6858000"/>
          </a:xfrm>
          <a:solidFill>
            <a:schemeClr val="bg1">
              <a:lumMod val="9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tx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11904" y="4650539"/>
            <a:ext cx="3401478" cy="1192038"/>
          </a:xfrm>
          <a:solidFill>
            <a:schemeClr val="tx1"/>
          </a:solidFill>
        </p:spPr>
        <p:txBody>
          <a:bodyPr lIns="252000" tIns="0" anchor="ctr"/>
          <a:lstStyle>
            <a:lvl1pPr marL="0" indent="0" algn="l">
              <a:lnSpc>
                <a:spcPct val="100000"/>
              </a:lnSpc>
              <a:buNone/>
              <a:defRPr sz="1800" i="1">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bwMode="auto">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54ED587-2D2F-4D3F-B55B-C64465AB4EC5}"/>
              </a:ext>
            </a:extLst>
          </p:cNvPr>
          <p:cNvSpPr/>
          <p:nvPr userDrawn="1"/>
        </p:nvSpPr>
        <p:spPr>
          <a:xfrm>
            <a:off x="69274" y="66963"/>
            <a:ext cx="9911201" cy="67273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bg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26418" y="4650539"/>
            <a:ext cx="2456210"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E798A99C-9485-48F0-8E1E-227AD1348A45}"/>
              </a:ext>
            </a:extLst>
          </p:cNvPr>
          <p:cNvSpPr>
            <a:spLocks noGrp="1"/>
          </p:cNvSpPr>
          <p:nvPr>
            <p:ph type="sldNum" sz="quarter" idx="11"/>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218115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Large Image">
    <p:bg>
      <p:bgPr>
        <a:solidFill>
          <a:schemeClr val="bg1"/>
        </a:solidFill>
        <a:effectLst/>
      </p:bgPr>
    </p:bg>
    <p:spTree>
      <p:nvGrpSpPr>
        <p:cNvPr id="1" name=""/>
        <p:cNvGrpSpPr/>
        <p:nvPr/>
      </p:nvGrpSpPr>
      <p:grpSpPr>
        <a:xfrm>
          <a:off x="0" y="0"/>
          <a:ext cx="0" cy="0"/>
          <a:chOff x="0" y="0"/>
          <a:chExt cx="0" cy="0"/>
        </a:xfrm>
      </p:grpSpPr>
      <p:sp>
        <p:nvSpPr>
          <p:cNvPr id="9" name="Picture Placeholder 1">
            <a:extLst>
              <a:ext uri="{FF2B5EF4-FFF2-40B4-BE49-F238E27FC236}">
                <a16:creationId xmlns:a16="http://schemas.microsoft.com/office/drawing/2014/main" id="{069FFAE5-B16E-4571-88F7-52FA5354B1A1}"/>
              </a:ext>
            </a:extLst>
          </p:cNvPr>
          <p:cNvSpPr>
            <a:spLocks noGrp="1"/>
          </p:cNvSpPr>
          <p:nvPr>
            <p:ph type="pic" sz="quarter" idx="13" hasCustomPrompt="1"/>
          </p:nvPr>
        </p:nvSpPr>
        <p:spPr>
          <a:xfrm>
            <a:off x="69273" y="63691"/>
            <a:ext cx="9911201" cy="6727346"/>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bg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26418" y="4650539"/>
            <a:ext cx="2456210"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E798A99C-9485-48F0-8E1E-227AD1348A45}"/>
              </a:ext>
            </a:extLst>
          </p:cNvPr>
          <p:cNvSpPr>
            <a:spLocks noGrp="1"/>
          </p:cNvSpPr>
          <p:nvPr>
            <p:ph type="sldNum" sz="quarter" idx="11"/>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4094738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1599E2D7-24B3-4D66-9AFB-83C1AEC4DBBB}"/>
              </a:ext>
            </a:extLst>
          </p:cNvPr>
          <p:cNvSpPr>
            <a:spLocks noGrp="1"/>
          </p:cNvSpPr>
          <p:nvPr>
            <p:ph type="pic" sz="quarter" idx="33" hasCustomPrompt="1"/>
          </p:nvPr>
        </p:nvSpPr>
        <p:spPr>
          <a:xfrm>
            <a:off x="9980476" y="0"/>
            <a:ext cx="2211524" cy="6192000"/>
          </a:xfrm>
          <a:solidFill>
            <a:schemeClr val="bg1">
              <a:lumMod val="9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445086" y="1807950"/>
            <a:ext cx="5184913" cy="432000"/>
          </a:xfrm>
        </p:spPr>
        <p:txBody>
          <a:bodyPr/>
          <a:lstStyle>
            <a:lvl1pPr algn="r">
              <a:defRPr>
                <a:solidFill>
                  <a:schemeClr val="tx1"/>
                </a:solidFill>
              </a:defRPr>
            </a:lvl1pPr>
          </a:lstStyle>
          <a:p>
            <a:r>
              <a:rPr lang="en-US" noProof="0"/>
              <a:t>Click to 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444886" y="2383950"/>
            <a:ext cx="5184913" cy="360000"/>
          </a:xfrm>
        </p:spPr>
        <p:txBody>
          <a:bodyPr/>
          <a:lstStyle>
            <a:lvl1pPr marL="0" indent="0" algn="r">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445000" y="2908300"/>
            <a:ext cx="5184800" cy="3283700"/>
          </a:xfrm>
          <a:solidFill>
            <a:schemeClr val="bg1"/>
          </a:solidFill>
        </p:spPr>
        <p:txBody>
          <a:bodyPr lIns="180000" tIns="252000" rIns="252000"/>
          <a:lstStyle>
            <a:lvl1pPr algn="l">
              <a:defRPr>
                <a:solidFill>
                  <a:schemeClr val="tx1">
                    <a:lumMod val="75000"/>
                    <a:lumOff val="25000"/>
                  </a:schemeClr>
                </a:solidFill>
              </a:defRPr>
            </a:lvl1pPr>
            <a:lvl2pPr algn="l">
              <a:defRPr>
                <a:solidFill>
                  <a:schemeClr val="tx1">
                    <a:lumMod val="75000"/>
                    <a:lumOff val="25000"/>
                  </a:schemeClr>
                </a:solidFill>
              </a:defRPr>
            </a:lvl2pPr>
            <a:lvl3pPr algn="l">
              <a:defRPr>
                <a:solidFill>
                  <a:schemeClr val="tx1">
                    <a:lumMod val="75000"/>
                    <a:lumOff val="25000"/>
                  </a:schemeClr>
                </a:solidFill>
              </a:defRPr>
            </a:lvl3pPr>
            <a:lvl4pPr algn="l">
              <a:defRPr>
                <a:solidFill>
                  <a:schemeClr val="tx1">
                    <a:lumMod val="75000"/>
                    <a:lumOff val="25000"/>
                  </a:schemeClr>
                </a:solidFill>
              </a:defRPr>
            </a:lvl4pPr>
            <a:lvl5pPr algn="l">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53DA1E79-BA17-41C5-98B7-CFBC5859A512}"/>
              </a:ext>
            </a:extLst>
          </p:cNvPr>
          <p:cNvSpPr>
            <a:spLocks noGrp="1"/>
          </p:cNvSpPr>
          <p:nvPr>
            <p:ph type="sldNum" sz="quarter" idx="34"/>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3823393" y="1343906"/>
            <a:ext cx="3736800" cy="3933645"/>
          </a:xfrm>
          <a:solidFill>
            <a:schemeClr val="bg1"/>
          </a:solidFill>
        </p:spPr>
        <p:txBody>
          <a:bodyPr lIns="180000" tIns="180000" rIns="18000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53DA1E79-BA17-41C5-98B7-CFBC5859A512}"/>
              </a:ext>
            </a:extLst>
          </p:cNvPr>
          <p:cNvSpPr>
            <a:spLocks noGrp="1"/>
          </p:cNvSpPr>
          <p:nvPr>
            <p:ph type="sldNum" sz="quarter" idx="34"/>
          </p:nvPr>
        </p:nvSpPr>
        <p:spPr/>
        <p:txBody>
          <a:bodyPr/>
          <a:lstStyle/>
          <a:p>
            <a:fld id="{19B51A1E-902D-48AF-9020-955120F399B6}" type="slidenum">
              <a:rPr lang="en-US" noProof="0" smtClean="0"/>
              <a:pPr/>
              <a:t>‹#›</a:t>
            </a:fld>
            <a:endParaRPr lang="en-US" noProof="0" dirty="0"/>
          </a:p>
        </p:txBody>
      </p:sp>
      <p:sp>
        <p:nvSpPr>
          <p:cNvPr id="9" name="Picture Placeholder 6">
            <a:extLst>
              <a:ext uri="{FF2B5EF4-FFF2-40B4-BE49-F238E27FC236}">
                <a16:creationId xmlns:a16="http://schemas.microsoft.com/office/drawing/2014/main" id="{492C2A1D-F7BD-46B6-BC01-15D365ACD50B}"/>
              </a:ext>
            </a:extLst>
          </p:cNvPr>
          <p:cNvSpPr>
            <a:spLocks noGrp="1"/>
          </p:cNvSpPr>
          <p:nvPr>
            <p:ph type="pic" sz="quarter" idx="14" hasCustomPrompt="1"/>
          </p:nvPr>
        </p:nvSpPr>
        <p:spPr>
          <a:xfrm>
            <a:off x="7560193" y="1344803"/>
            <a:ext cx="3737526" cy="3933645"/>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6" name="Title 5">
            <a:extLst>
              <a:ext uri="{FF2B5EF4-FFF2-40B4-BE49-F238E27FC236}">
                <a16:creationId xmlns:a16="http://schemas.microsoft.com/office/drawing/2014/main" id="{7F4F1543-153D-4F77-A4A9-C9BBA1C2052E}"/>
              </a:ext>
            </a:extLst>
          </p:cNvPr>
          <p:cNvSpPr>
            <a:spLocks noGrp="1"/>
          </p:cNvSpPr>
          <p:nvPr>
            <p:ph type="title"/>
          </p:nvPr>
        </p:nvSpPr>
        <p:spPr>
          <a:xfrm>
            <a:off x="432000" y="432000"/>
            <a:ext cx="9131100" cy="432000"/>
          </a:xfrm>
        </p:spPr>
        <p:txBody>
          <a:bodyPr/>
          <a:lstStyle/>
          <a:p>
            <a:r>
              <a:rPr lang="en-US" noProof="0" smtClean="0"/>
              <a:t>Click to edit Master title style</a:t>
            </a:r>
            <a:endParaRPr lang="en-US" noProof="0"/>
          </a:p>
        </p:txBody>
      </p:sp>
      <p:sp>
        <p:nvSpPr>
          <p:cNvPr id="11" name="Subtitle 2">
            <a:extLst>
              <a:ext uri="{FF2B5EF4-FFF2-40B4-BE49-F238E27FC236}">
                <a16:creationId xmlns:a16="http://schemas.microsoft.com/office/drawing/2014/main" id="{9FAA210E-391A-499A-89D5-F222045FD1A4}"/>
              </a:ext>
            </a:extLst>
          </p:cNvPr>
          <p:cNvSpPr>
            <a:spLocks noGrp="1"/>
          </p:cNvSpPr>
          <p:nvPr>
            <p:ph type="body" sz="quarter" idx="32" hasCustomPrompt="1"/>
          </p:nvPr>
        </p:nvSpPr>
        <p:spPr>
          <a:xfrm>
            <a:off x="431800" y="1008000"/>
            <a:ext cx="68959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2347197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9" name="Subtitle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hasCustomPrompt="1"/>
          </p:nvPr>
        </p:nvSpPr>
        <p:spPr>
          <a:xfrm>
            <a:off x="432000" y="1432296"/>
            <a:ext cx="4500000" cy="527076"/>
          </a:xfrm>
          <a:solidFill>
            <a:schemeClr val="tx1"/>
          </a:solidFill>
        </p:spPr>
        <p:txBody>
          <a:bodyPr lIns="180000" tIns="36000" anchor="ctr"/>
          <a:lstStyle>
            <a:lvl1pPr marL="0" indent="0">
              <a:buNone/>
              <a:defRPr sz="2400" b="1" spc="-15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hasCustomPrompt="1"/>
          </p:nvPr>
        </p:nvSpPr>
        <p:spPr>
          <a:xfrm>
            <a:off x="432000" y="2023668"/>
            <a:ext cx="4500000" cy="4168332"/>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mparison Left Placeholder 2">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5129800" y="1433105"/>
            <a:ext cx="4500000" cy="525283"/>
          </a:xfrm>
          <a:solidFill>
            <a:schemeClr val="tx1"/>
          </a:solidFill>
        </p:spPr>
        <p:txBody>
          <a:bodyPr lIns="180000" tIns="36000" anchor="ctr"/>
          <a:lstStyle>
            <a:lvl1pPr marL="0" indent="0">
              <a:buNone/>
              <a:defRPr sz="2400" b="1" spc="-150">
                <a:solidFill>
                  <a:schemeClr val="bg1"/>
                </a:solidFill>
                <a:latin typeface="+mj-lt"/>
              </a:defRPr>
            </a:lvl1pPr>
          </a:lstStyle>
          <a:p>
            <a:pPr lvl="0"/>
            <a:r>
              <a:rPr lang="en-US" noProof="0"/>
              <a:t>Edit Master text styles</a:t>
            </a:r>
          </a:p>
        </p:txBody>
      </p:sp>
      <p:sp>
        <p:nvSpPr>
          <p:cNvPr id="8" name="Text Placeholder 4">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5129800" y="2020359"/>
            <a:ext cx="4500000" cy="417089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6299200" y="432000"/>
            <a:ext cx="5472113" cy="5759250"/>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3875314" y="5096632"/>
            <a:ext cx="2028686" cy="1094618"/>
          </a:xfrm>
        </p:spPr>
        <p:txBody>
          <a:bodyPr anchor="b"/>
          <a:lstStyle>
            <a:lvl1pPr marL="0" indent="0" algn="r">
              <a:buNone/>
              <a:defRPr i="1">
                <a:solidFill>
                  <a:schemeClr val="tx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Enter your caption</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id="{E25951D2-91DB-40E7-95D5-4B372602DEB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5" name="Title 4">
            <a:extLst>
              <a:ext uri="{FF2B5EF4-FFF2-40B4-BE49-F238E27FC236}">
                <a16:creationId xmlns:a16="http://schemas.microsoft.com/office/drawing/2014/main" id="{16EFF903-F1F3-440A-B12C-9FD51606B03D}"/>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174360" y="2112793"/>
            <a:ext cx="6798250" cy="1674470"/>
          </a:xfrm>
        </p:spPr>
        <p:txBody>
          <a:bodyPr anchor="ctr"/>
          <a:lstStyle>
            <a:lvl1pPr algn="ctr">
              <a:lnSpc>
                <a:spcPct val="100000"/>
              </a:lnSpc>
              <a:defRPr sz="6000" b="1" cap="all" spc="-300" baseline="0">
                <a:solidFill>
                  <a:schemeClr val="tx1"/>
                </a:solidFill>
                <a:latin typeface="+mj-lt"/>
              </a:defRPr>
            </a:lvl1pPr>
          </a:lstStyle>
          <a:p>
            <a:r>
              <a:rPr lang="en-US" noProof="0"/>
              <a:t>Thank you</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 Placeholder 5">
            <a:extLst>
              <a:ext uri="{FF2B5EF4-FFF2-40B4-BE49-F238E27FC236}">
                <a16:creationId xmlns:a16="http://schemas.microsoft.com/office/drawing/2014/main" id="{CA3EFDD3-A9D2-4EB6-BB2A-F6999D9F7EA6}"/>
              </a:ext>
            </a:extLst>
          </p:cNvPr>
          <p:cNvSpPr>
            <a:spLocks noGrp="1"/>
          </p:cNvSpPr>
          <p:nvPr>
            <p:ph type="body" sz="quarter" idx="15" hasCustomPrompt="1"/>
          </p:nvPr>
        </p:nvSpPr>
        <p:spPr>
          <a:xfrm>
            <a:off x="2174361" y="4035727"/>
            <a:ext cx="3329850" cy="382887"/>
          </a:xfrm>
        </p:spPr>
        <p:txBody>
          <a:bodyPr/>
          <a:lstStyle>
            <a:lvl1pPr marL="0" indent="0" algn="r">
              <a:buNone/>
              <a:defRPr sz="2400"/>
            </a:lvl1pPr>
            <a:lvl2pPr marL="266700" indent="0">
              <a:buNone/>
              <a:defRPr/>
            </a:lvl2pPr>
            <a:lvl3pPr marL="542925" indent="0">
              <a:buNone/>
              <a:defRPr/>
            </a:lvl3pPr>
            <a:lvl4pPr marL="809625" indent="0">
              <a:buNone/>
              <a:defRPr/>
            </a:lvl4pPr>
            <a:lvl5pPr marL="1076325" indent="0">
              <a:buNone/>
              <a:defRPr/>
            </a:lvl5pPr>
          </a:lstStyle>
          <a:p>
            <a:pPr lvl="0"/>
            <a:r>
              <a:rPr lang="en-US" noProof="0"/>
              <a:t>Full Name</a:t>
            </a:r>
          </a:p>
        </p:txBody>
      </p:sp>
      <p:sp>
        <p:nvSpPr>
          <p:cNvPr id="12" name="Text Placeholder 6">
            <a:extLst>
              <a:ext uri="{FF2B5EF4-FFF2-40B4-BE49-F238E27FC236}">
                <a16:creationId xmlns:a16="http://schemas.microsoft.com/office/drawing/2014/main" id="{261ED1F7-B623-43D9-9BDA-8808C5CFAFFB}"/>
              </a:ext>
            </a:extLst>
          </p:cNvPr>
          <p:cNvSpPr>
            <a:spLocks noGrp="1"/>
          </p:cNvSpPr>
          <p:nvPr>
            <p:ph type="body" sz="quarter" idx="16" hasCustomPrompt="1"/>
          </p:nvPr>
        </p:nvSpPr>
        <p:spPr>
          <a:xfrm>
            <a:off x="6062268" y="4150118"/>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Phone Number</a:t>
            </a:r>
          </a:p>
        </p:txBody>
      </p:sp>
      <p:sp>
        <p:nvSpPr>
          <p:cNvPr id="13" name="Text Placeholder 7">
            <a:extLst>
              <a:ext uri="{FF2B5EF4-FFF2-40B4-BE49-F238E27FC236}">
                <a16:creationId xmlns:a16="http://schemas.microsoft.com/office/drawing/2014/main" id="{E27366FC-4115-4122-9CE2-5FA9D424AD51}"/>
              </a:ext>
            </a:extLst>
          </p:cNvPr>
          <p:cNvSpPr>
            <a:spLocks noGrp="1"/>
          </p:cNvSpPr>
          <p:nvPr>
            <p:ph type="body" sz="quarter" idx="17" hasCustomPrompt="1"/>
          </p:nvPr>
        </p:nvSpPr>
        <p:spPr>
          <a:xfrm>
            <a:off x="6062268" y="4540691"/>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Email or Social Media Handle</a:t>
            </a:r>
          </a:p>
        </p:txBody>
      </p:sp>
      <p:sp>
        <p:nvSpPr>
          <p:cNvPr id="14" name="Text Placeholder 8">
            <a:extLst>
              <a:ext uri="{FF2B5EF4-FFF2-40B4-BE49-F238E27FC236}">
                <a16:creationId xmlns:a16="http://schemas.microsoft.com/office/drawing/2014/main" id="{DEB36829-2F8B-4E22-AB6D-4111D18AF847}"/>
              </a:ext>
            </a:extLst>
          </p:cNvPr>
          <p:cNvSpPr>
            <a:spLocks noGrp="1"/>
          </p:cNvSpPr>
          <p:nvPr>
            <p:ph type="body" sz="quarter" idx="18" hasCustomPrompt="1"/>
          </p:nvPr>
        </p:nvSpPr>
        <p:spPr>
          <a:xfrm>
            <a:off x="6062268" y="4931263"/>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Company Website</a:t>
            </a:r>
          </a:p>
        </p:txBody>
      </p:sp>
    </p:spTree>
    <p:extLst>
      <p:ext uri="{BB962C8B-B14F-4D97-AF65-F5344CB8AC3E}">
        <p14:creationId xmlns:p14="http://schemas.microsoft.com/office/powerpoint/2010/main" val="3189010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solidFill>
              </a:defRPr>
            </a:lvl1pPr>
          </a:lstStyle>
          <a:p>
            <a:r>
              <a:rPr lang="en-US" noProof="0"/>
              <a:t>Click to edit page title</a:t>
            </a:r>
          </a:p>
        </p:txBody>
      </p:sp>
      <p:sp>
        <p:nvSpPr>
          <p:cNvPr id="7" name="Subtitle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1" y="1008000"/>
            <a:ext cx="9198116"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3442953D-28FC-41B5-A1BB-BB3BA7CA40B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9" name="Subtitle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512000"/>
            <a:ext cx="2916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hasCustomPrompt="1"/>
          </p:nvPr>
        </p:nvSpPr>
        <p:spPr>
          <a:xfrm>
            <a:off x="3572900" y="1511476"/>
            <a:ext cx="2916000" cy="467924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5">
            <a:extLst>
              <a:ext uri="{FF2B5EF4-FFF2-40B4-BE49-F238E27FC236}">
                <a16:creationId xmlns:a16="http://schemas.microsoft.com/office/drawing/2014/main" id="{5B4A252E-78C9-4F76-98A4-A4B580AD072A}"/>
              </a:ext>
            </a:extLst>
          </p:cNvPr>
          <p:cNvSpPr>
            <a:spLocks noGrp="1"/>
          </p:cNvSpPr>
          <p:nvPr>
            <p:ph type="body" sz="quarter" idx="13" hasCustomPrompt="1"/>
          </p:nvPr>
        </p:nvSpPr>
        <p:spPr>
          <a:xfrm>
            <a:off x="6713800" y="1511475"/>
            <a:ext cx="2916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10" name="Subtitle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512000"/>
            <a:ext cx="1764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hasCustomPrompt="1"/>
          </p:nvPr>
        </p:nvSpPr>
        <p:spPr>
          <a:xfrm>
            <a:off x="2290450" y="1512000"/>
            <a:ext cx="1764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5">
            <a:extLst>
              <a:ext uri="{FF2B5EF4-FFF2-40B4-BE49-F238E27FC236}">
                <a16:creationId xmlns:a16="http://schemas.microsoft.com/office/drawing/2014/main" id="{6A983D98-E0AB-429A-9EC2-B50D4216D691}"/>
              </a:ext>
            </a:extLst>
          </p:cNvPr>
          <p:cNvSpPr>
            <a:spLocks noGrp="1"/>
          </p:cNvSpPr>
          <p:nvPr>
            <p:ph type="body" sz="quarter" idx="13" hasCustomPrompt="1"/>
          </p:nvPr>
        </p:nvSpPr>
        <p:spPr>
          <a:xfrm>
            <a:off x="4148900" y="1512000"/>
            <a:ext cx="1764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6">
            <a:extLst>
              <a:ext uri="{FF2B5EF4-FFF2-40B4-BE49-F238E27FC236}">
                <a16:creationId xmlns:a16="http://schemas.microsoft.com/office/drawing/2014/main" id="{755213BF-EF6D-45DC-A01B-DE6C2F23A6D2}"/>
              </a:ext>
            </a:extLst>
          </p:cNvPr>
          <p:cNvSpPr>
            <a:spLocks noGrp="1"/>
          </p:cNvSpPr>
          <p:nvPr>
            <p:ph type="body" sz="quarter" idx="14" hasCustomPrompt="1"/>
          </p:nvPr>
        </p:nvSpPr>
        <p:spPr>
          <a:xfrm>
            <a:off x="6007350" y="1507535"/>
            <a:ext cx="1764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77D6BBBA-F4A3-45D4-91BC-A405FFDC7C3D}"/>
              </a:ext>
            </a:extLst>
          </p:cNvPr>
          <p:cNvSpPr>
            <a:spLocks noGrp="1"/>
          </p:cNvSpPr>
          <p:nvPr>
            <p:ph type="body" sz="quarter" idx="15" hasCustomPrompt="1"/>
          </p:nvPr>
        </p:nvSpPr>
        <p:spPr>
          <a:xfrm>
            <a:off x="7865800" y="1507535"/>
            <a:ext cx="1764000" cy="468371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B5A8293F-A5B5-4FCC-BF27-A25B1BAFF245}"/>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solidFill>
              </a:defRPr>
            </a:lvl1pPr>
          </a:lstStyle>
          <a:p>
            <a:r>
              <a:rPr lang="en-US" noProof="0"/>
              <a:t>Click to edit page title</a:t>
            </a:r>
          </a:p>
        </p:txBody>
      </p:sp>
      <p:sp>
        <p:nvSpPr>
          <p:cNvPr id="5" name="Subtitl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1" y="1008000"/>
            <a:ext cx="9198116"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8E801980-CBAE-4A50-886D-54D7BB2E1947}"/>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DF756E-F310-4229-ACDD-055D299A95FB}"/>
              </a:ext>
            </a:extLst>
          </p:cNvPr>
          <p:cNvSpPr/>
          <p:nvPr userDrawn="1"/>
        </p:nvSpPr>
        <p:spPr>
          <a:xfrm>
            <a:off x="6297105" y="424206"/>
            <a:ext cx="5505254" cy="57314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id="{E25951D2-91DB-40E7-95D5-4B372602DEB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9" name="Subtitle 2">
            <a:extLst>
              <a:ext uri="{FF2B5EF4-FFF2-40B4-BE49-F238E27FC236}">
                <a16:creationId xmlns:a16="http://schemas.microsoft.com/office/drawing/2014/main" id="{07666241-4AF6-458A-A571-6C6C291D72F1}"/>
              </a:ext>
            </a:extLst>
          </p:cNvPr>
          <p:cNvSpPr>
            <a:spLocks noGrp="1"/>
          </p:cNvSpPr>
          <p:nvPr>
            <p:ph type="subTitle" idx="1"/>
          </p:nvPr>
        </p:nvSpPr>
        <p:spPr>
          <a:xfrm>
            <a:off x="6532775" y="3639199"/>
            <a:ext cx="5053936"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6" name="Title 5">
            <a:extLst>
              <a:ext uri="{FF2B5EF4-FFF2-40B4-BE49-F238E27FC236}">
                <a16:creationId xmlns:a16="http://schemas.microsoft.com/office/drawing/2014/main" id="{6F4F2BBF-F210-4954-9C73-A0030AACDDFE}"/>
              </a:ext>
            </a:extLst>
          </p:cNvPr>
          <p:cNvSpPr>
            <a:spLocks noGrp="1"/>
          </p:cNvSpPr>
          <p:nvPr>
            <p:ph type="title" hasCustomPrompt="1"/>
          </p:nvPr>
        </p:nvSpPr>
        <p:spPr>
          <a:xfrm>
            <a:off x="6532775" y="993303"/>
            <a:ext cx="5053936" cy="2513468"/>
          </a:xfrm>
        </p:spPr>
        <p:txBody>
          <a:bodyPr/>
          <a:lstStyle>
            <a:lvl1pPr>
              <a:defRPr sz="5400" cap="none">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12277791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0" name="Content Placeholder 2">
            <a:extLst>
              <a:ext uri="{FF2B5EF4-FFF2-40B4-BE49-F238E27FC236}">
                <a16:creationId xmlns:a16="http://schemas.microsoft.com/office/drawing/2014/main" id="{FD1EE834-4B70-4715-8346-1C0298347EE0}"/>
              </a:ext>
            </a:extLst>
          </p:cNvPr>
          <p:cNvSpPr>
            <a:spLocks noGrp="1"/>
          </p:cNvSpPr>
          <p:nvPr>
            <p:ph idx="1" hasCustomPrompt="1"/>
          </p:nvPr>
        </p:nvSpPr>
        <p:spPr>
          <a:xfrm>
            <a:off x="432000" y="1046375"/>
            <a:ext cx="9198000" cy="513058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80088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7" name="Content Placeholder 2">
            <a:extLst>
              <a:ext uri="{FF2B5EF4-FFF2-40B4-BE49-F238E27FC236}">
                <a16:creationId xmlns:a16="http://schemas.microsoft.com/office/drawing/2014/main" id="{EAE43F4C-1A64-4197-A44B-E6EB874E243B}"/>
              </a:ext>
            </a:extLst>
          </p:cNvPr>
          <p:cNvSpPr>
            <a:spLocks noGrp="1"/>
          </p:cNvSpPr>
          <p:nvPr>
            <p:ph sz="half" idx="1" hasCustomPrompt="1"/>
          </p:nvPr>
        </p:nvSpPr>
        <p:spPr>
          <a:xfrm>
            <a:off x="432000" y="1046376"/>
            <a:ext cx="4435831" cy="513058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a:extLst>
              <a:ext uri="{FF2B5EF4-FFF2-40B4-BE49-F238E27FC236}">
                <a16:creationId xmlns:a16="http://schemas.microsoft.com/office/drawing/2014/main" id="{D7B3F5B8-DC28-4878-AC9F-D434D7542D8F}"/>
              </a:ext>
            </a:extLst>
          </p:cNvPr>
          <p:cNvSpPr>
            <a:spLocks noGrp="1"/>
          </p:cNvSpPr>
          <p:nvPr>
            <p:ph sz="half" idx="2" hasCustomPrompt="1"/>
          </p:nvPr>
        </p:nvSpPr>
        <p:spPr>
          <a:xfrm>
            <a:off x="5194169" y="1046376"/>
            <a:ext cx="4435831" cy="513058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74397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7" name="Text Placeholder 2">
            <a:extLst>
              <a:ext uri="{FF2B5EF4-FFF2-40B4-BE49-F238E27FC236}">
                <a16:creationId xmlns:a16="http://schemas.microsoft.com/office/drawing/2014/main" id="{CB97B01E-88B2-448F-BD96-A1AAFA39AC1E}"/>
              </a:ext>
            </a:extLst>
          </p:cNvPr>
          <p:cNvSpPr>
            <a:spLocks noGrp="1"/>
          </p:cNvSpPr>
          <p:nvPr>
            <p:ph type="body" idx="1" hasCustomPrompt="1"/>
          </p:nvPr>
        </p:nvSpPr>
        <p:spPr>
          <a:xfrm>
            <a:off x="432000" y="1068420"/>
            <a:ext cx="4434840" cy="823912"/>
          </a:xfrm>
          <a:solidFill>
            <a:schemeClr val="tx1"/>
          </a:solidFill>
        </p:spPr>
        <p:txBody>
          <a:bodyPr anchor="ct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8" name="Text Placeholder 4">
            <a:extLst>
              <a:ext uri="{FF2B5EF4-FFF2-40B4-BE49-F238E27FC236}">
                <a16:creationId xmlns:a16="http://schemas.microsoft.com/office/drawing/2014/main" id="{40BADDE2-4EE6-41B4-804C-EBF680128B40}"/>
              </a:ext>
            </a:extLst>
          </p:cNvPr>
          <p:cNvSpPr>
            <a:spLocks noGrp="1"/>
          </p:cNvSpPr>
          <p:nvPr>
            <p:ph type="body" sz="quarter" idx="3" hasCustomPrompt="1"/>
          </p:nvPr>
        </p:nvSpPr>
        <p:spPr>
          <a:xfrm>
            <a:off x="5195160" y="1068420"/>
            <a:ext cx="4434840" cy="823912"/>
          </a:xfrm>
          <a:solidFill>
            <a:schemeClr val="tx1"/>
          </a:solidFill>
        </p:spPr>
        <p:txBody>
          <a:bodyPr anchor="ct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9" name="Content Placeholder 3">
            <a:extLst>
              <a:ext uri="{FF2B5EF4-FFF2-40B4-BE49-F238E27FC236}">
                <a16:creationId xmlns:a16="http://schemas.microsoft.com/office/drawing/2014/main" id="{BB0A14E0-899D-4594-BC9E-AE89BF0D3AB7}"/>
              </a:ext>
            </a:extLst>
          </p:cNvPr>
          <p:cNvSpPr>
            <a:spLocks noGrp="1"/>
          </p:cNvSpPr>
          <p:nvPr>
            <p:ph sz="half" idx="2" hasCustomPrompt="1"/>
          </p:nvPr>
        </p:nvSpPr>
        <p:spPr>
          <a:xfrm>
            <a:off x="432001" y="2096752"/>
            <a:ext cx="4434840" cy="409291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5">
            <a:extLst>
              <a:ext uri="{FF2B5EF4-FFF2-40B4-BE49-F238E27FC236}">
                <a16:creationId xmlns:a16="http://schemas.microsoft.com/office/drawing/2014/main" id="{2C699014-D902-4E9A-80CD-8D2BCFE67097}"/>
              </a:ext>
            </a:extLst>
          </p:cNvPr>
          <p:cNvSpPr>
            <a:spLocks noGrp="1"/>
          </p:cNvSpPr>
          <p:nvPr>
            <p:ph sz="quarter" idx="4" hasCustomPrompt="1"/>
          </p:nvPr>
        </p:nvSpPr>
        <p:spPr>
          <a:xfrm>
            <a:off x="5195160" y="2096752"/>
            <a:ext cx="4434840" cy="409291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63468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a:xfrm>
            <a:off x="432000" y="6356350"/>
            <a:ext cx="4114800" cy="365125"/>
          </a:xfrm>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Title 1">
            <a:extLst>
              <a:ext uri="{FF2B5EF4-FFF2-40B4-BE49-F238E27FC236}">
                <a16:creationId xmlns:a16="http://schemas.microsoft.com/office/drawing/2014/main" id="{AC67C685-BABE-4B77-8C5E-B39B093D3AEA}"/>
              </a:ext>
            </a:extLst>
          </p:cNvPr>
          <p:cNvSpPr>
            <a:spLocks noGrp="1"/>
          </p:cNvSpPr>
          <p:nvPr>
            <p:ph type="title"/>
          </p:nvPr>
        </p:nvSpPr>
        <p:spPr>
          <a:xfrm>
            <a:off x="432001" y="457200"/>
            <a:ext cx="3159612" cy="1600200"/>
          </a:xfrm>
        </p:spPr>
        <p:txBody>
          <a:bodyPr anchor="b"/>
          <a:lstStyle>
            <a:lvl1pPr>
              <a:defRPr sz="2800"/>
            </a:lvl1pPr>
          </a:lstStyle>
          <a:p>
            <a:r>
              <a:rPr lang="en-US" noProof="0" smtClean="0"/>
              <a:t>Click to edit Master title style</a:t>
            </a:r>
            <a:endParaRPr lang="en-US" noProof="0"/>
          </a:p>
        </p:txBody>
      </p:sp>
      <p:sp>
        <p:nvSpPr>
          <p:cNvPr id="9" name="Text Placeholder 3">
            <a:extLst>
              <a:ext uri="{FF2B5EF4-FFF2-40B4-BE49-F238E27FC236}">
                <a16:creationId xmlns:a16="http://schemas.microsoft.com/office/drawing/2014/main" id="{0B6B7795-36CC-459B-AE8B-7FB2F40AF37C}"/>
              </a:ext>
            </a:extLst>
          </p:cNvPr>
          <p:cNvSpPr>
            <a:spLocks noGrp="1"/>
          </p:cNvSpPr>
          <p:nvPr>
            <p:ph type="body" sz="half" idx="2" hasCustomPrompt="1"/>
          </p:nvPr>
        </p:nvSpPr>
        <p:spPr>
          <a:xfrm>
            <a:off x="432001" y="2057400"/>
            <a:ext cx="3159612" cy="4126584"/>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0" name="Content Placeholder 2">
            <a:extLst>
              <a:ext uri="{FF2B5EF4-FFF2-40B4-BE49-F238E27FC236}">
                <a16:creationId xmlns:a16="http://schemas.microsoft.com/office/drawing/2014/main" id="{79F53EF1-D412-467C-B7CE-30536F140AE1}"/>
              </a:ext>
            </a:extLst>
          </p:cNvPr>
          <p:cNvSpPr>
            <a:spLocks noGrp="1"/>
          </p:cNvSpPr>
          <p:nvPr>
            <p:ph idx="1" hasCustomPrompt="1"/>
          </p:nvPr>
        </p:nvSpPr>
        <p:spPr>
          <a:xfrm>
            <a:off x="3770722" y="457201"/>
            <a:ext cx="6023727" cy="5726784"/>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720005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a:xfrm>
            <a:off x="432000" y="6356350"/>
            <a:ext cx="4114800" cy="365125"/>
          </a:xfrm>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Title 1">
            <a:extLst>
              <a:ext uri="{FF2B5EF4-FFF2-40B4-BE49-F238E27FC236}">
                <a16:creationId xmlns:a16="http://schemas.microsoft.com/office/drawing/2014/main" id="{AC67C685-BABE-4B77-8C5E-B39B093D3AEA}"/>
              </a:ext>
            </a:extLst>
          </p:cNvPr>
          <p:cNvSpPr>
            <a:spLocks noGrp="1"/>
          </p:cNvSpPr>
          <p:nvPr>
            <p:ph type="title"/>
          </p:nvPr>
        </p:nvSpPr>
        <p:spPr>
          <a:xfrm>
            <a:off x="432001" y="457200"/>
            <a:ext cx="3159612" cy="1600200"/>
          </a:xfrm>
        </p:spPr>
        <p:txBody>
          <a:bodyPr anchor="b"/>
          <a:lstStyle>
            <a:lvl1pPr>
              <a:defRPr sz="2800"/>
            </a:lvl1pPr>
          </a:lstStyle>
          <a:p>
            <a:r>
              <a:rPr lang="en-US" noProof="0" smtClean="0"/>
              <a:t>Click to edit Master title style</a:t>
            </a:r>
            <a:endParaRPr lang="en-US" noProof="0"/>
          </a:p>
        </p:txBody>
      </p:sp>
      <p:sp>
        <p:nvSpPr>
          <p:cNvPr id="9" name="Text Placeholder 3">
            <a:extLst>
              <a:ext uri="{FF2B5EF4-FFF2-40B4-BE49-F238E27FC236}">
                <a16:creationId xmlns:a16="http://schemas.microsoft.com/office/drawing/2014/main" id="{0B6B7795-36CC-459B-AE8B-7FB2F40AF37C}"/>
              </a:ext>
            </a:extLst>
          </p:cNvPr>
          <p:cNvSpPr>
            <a:spLocks noGrp="1"/>
          </p:cNvSpPr>
          <p:nvPr>
            <p:ph type="body" sz="half" idx="2" hasCustomPrompt="1"/>
          </p:nvPr>
        </p:nvSpPr>
        <p:spPr>
          <a:xfrm>
            <a:off x="432001" y="2057400"/>
            <a:ext cx="3159612" cy="4126584"/>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2" name="Picture Placeholder 2">
            <a:extLst>
              <a:ext uri="{FF2B5EF4-FFF2-40B4-BE49-F238E27FC236}">
                <a16:creationId xmlns:a16="http://schemas.microsoft.com/office/drawing/2014/main" id="{10319378-269C-406E-9B84-FCF22DA02EFF}"/>
              </a:ext>
            </a:extLst>
          </p:cNvPr>
          <p:cNvSpPr>
            <a:spLocks noGrp="1"/>
          </p:cNvSpPr>
          <p:nvPr>
            <p:ph type="pic" idx="1"/>
          </p:nvPr>
        </p:nvSpPr>
        <p:spPr>
          <a:xfrm>
            <a:off x="3788021" y="457201"/>
            <a:ext cx="5949868" cy="57267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Tree>
    <p:extLst>
      <p:ext uri="{BB962C8B-B14F-4D97-AF65-F5344CB8AC3E}">
        <p14:creationId xmlns:p14="http://schemas.microsoft.com/office/powerpoint/2010/main" val="3021472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37796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2310D190-B83D-438A-91BC-470C41B22A29}"/>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139767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2C8D0EF-1DB6-4ADC-8F31-5AE53BF5EAF4}"/>
              </a:ext>
            </a:extLst>
          </p:cNvPr>
          <p:cNvSpPr/>
          <p:nvPr userDrawn="1"/>
        </p:nvSpPr>
        <p:spPr>
          <a:xfrm>
            <a:off x="69274" y="66963"/>
            <a:ext cx="9911201" cy="67273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62F208ED-79A0-4B2C-A5EE-9D27466BCA3F}"/>
              </a:ext>
            </a:extLst>
          </p:cNvPr>
          <p:cNvSpPr/>
          <p:nvPr userDrawn="1"/>
        </p:nvSpPr>
        <p:spPr>
          <a:xfrm>
            <a:off x="11407775" y="6356350"/>
            <a:ext cx="784225" cy="3651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9198116" cy="432000"/>
          </a:xfrm>
          <a:prstGeom prst="rect">
            <a:avLst/>
          </a:prstGeom>
        </p:spPr>
        <p:txBody>
          <a:bodyPr vert="horz" lIns="0" tIns="0" rIns="0" bIns="0" rtlCol="0" anchor="ctr">
            <a:noAutofit/>
          </a:bodyPr>
          <a:lstStyle/>
          <a:p>
            <a:r>
              <a:rPr lang="en-US" noProof="0"/>
              <a:t>Click to edit page title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9198116" cy="4679250"/>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56350"/>
            <a:ext cx="4114800" cy="365125"/>
          </a:xfrm>
          <a:prstGeom prst="rect">
            <a:avLst/>
          </a:prstGeom>
        </p:spPr>
        <p:txBody>
          <a:bodyPr vert="horz" lIns="0" tIns="0" rIns="0" bIns="0" rtlCol="0" anchor="ctr"/>
          <a:lstStyle>
            <a:lvl1pPr algn="l">
              <a:defRPr sz="1200" i="1">
                <a:solidFill>
                  <a:schemeClr val="tx1">
                    <a:lumMod val="75000"/>
                    <a:lumOff val="25000"/>
                  </a:schemeClr>
                </a:solidFill>
                <a:latin typeface="Times New Roman" panose="02020603050405020304" pitchFamily="18" charset="0"/>
                <a:cs typeface="Times New Roman" panose="02020603050405020304" pitchFamily="18" charset="0"/>
              </a:defRPr>
            </a:lvl1pPr>
          </a:lstStyle>
          <a:p>
            <a:r>
              <a:rPr lang="en-US" noProof="0" dirty="0"/>
              <a:t>Add a footer</a:t>
            </a: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447502" y="6401750"/>
            <a:ext cx="278418" cy="274324"/>
          </a:xfrm>
          <a:prstGeom prst="rect">
            <a:avLst/>
          </a:prstGeom>
        </p:spPr>
        <p:txBody>
          <a:bodyPr vert="horz" lIns="0" tIns="0" rIns="0" bIns="0" rtlCol="0" anchor="ctr"/>
          <a:lstStyle>
            <a:lvl1pPr algn="ctr">
              <a:defRPr sz="1200" i="1">
                <a:solidFill>
                  <a:schemeClr val="bg1"/>
                </a:solidFill>
              </a:defRPr>
            </a:lvl1pPr>
          </a:lstStyle>
          <a:p>
            <a:fld id="{19B51A1E-902D-48AF-9020-955120F399B6}" type="slidenum">
              <a:rPr lang="en-US" noProof="0" smtClean="0"/>
              <a:pPr/>
              <a:t>‹#›</a:t>
            </a:fld>
            <a:endParaRPr lang="en-US" noProof="0" dirty="0"/>
          </a:p>
        </p:txBody>
      </p:sp>
      <p:sp>
        <p:nvSpPr>
          <p:cNvPr id="4" name="TextBox 3">
            <a:extLst>
              <a:ext uri="{FF2B5EF4-FFF2-40B4-BE49-F238E27FC236}">
                <a16:creationId xmlns:a16="http://schemas.microsoft.com/office/drawing/2014/main" id="{34FDC6F9-37F9-4E25-AECA-D307B8421C73}"/>
              </a:ext>
            </a:extLst>
          </p:cNvPr>
          <p:cNvSpPr txBox="1"/>
          <p:nvPr userDrawn="1"/>
        </p:nvSpPr>
        <p:spPr>
          <a:xfrm>
            <a:off x="9630116" y="6346108"/>
            <a:ext cx="1662546" cy="404658"/>
          </a:xfrm>
          <a:prstGeom prst="rect">
            <a:avLst/>
          </a:prstGeom>
          <a:noFill/>
        </p:spPr>
        <p:txBody>
          <a:bodyPr wrap="square" lIns="0" tIns="36000" rIns="0" bIns="0" rtlCol="0">
            <a:spAutoFit/>
          </a:bodyPr>
          <a:lstStyle/>
          <a:p>
            <a:pPr algn="r">
              <a:lnSpc>
                <a:spcPts val="1400"/>
              </a:lnSpc>
            </a:pPr>
            <a:r>
              <a:rPr lang="en-US" sz="1600" b="1" spc="-100" baseline="0" noProof="0" dirty="0">
                <a:solidFill>
                  <a:schemeClr val="tx1">
                    <a:lumMod val="50000"/>
                    <a:lumOff val="50000"/>
                  </a:schemeClr>
                </a:solidFill>
                <a:latin typeface="Corbel" panose="020B0503020204020204" pitchFamily="34" charset="0"/>
              </a:rPr>
              <a:t>WOODGROVE</a:t>
            </a:r>
            <a:r>
              <a:rPr lang="en-US" sz="1600" b="1" spc="-100" baseline="0" noProof="0" dirty="0">
                <a:solidFill>
                  <a:schemeClr val="accent1"/>
                </a:solidFill>
                <a:latin typeface="Corbel" panose="020B0503020204020204" pitchFamily="34" charset="0"/>
              </a:rPr>
              <a:t> </a:t>
            </a:r>
            <a:r>
              <a:rPr lang="en-US" sz="1600" b="1" spc="-100" baseline="0" noProof="0" dirty="0">
                <a:solidFill>
                  <a:schemeClr val="tx1"/>
                </a:solidFill>
                <a:latin typeface="Corbel" panose="020B0503020204020204" pitchFamily="34" charset="0"/>
              </a:rPr>
              <a:t>BANK</a:t>
            </a:r>
          </a:p>
        </p:txBody>
      </p:sp>
      <p:sp>
        <p:nvSpPr>
          <p:cNvPr id="8" name="Rectangle 7">
            <a:extLst>
              <a:ext uri="{FF2B5EF4-FFF2-40B4-BE49-F238E27FC236}">
                <a16:creationId xmlns:a16="http://schemas.microsoft.com/office/drawing/2014/main" id="{6B322F68-670D-45A0-A54F-7E70BCEAED3F}"/>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E69B5F15-353A-4344-8D61-F4E25AA9FB6C}"/>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2FA0C0AA-FCE8-4A7F-928A-54C96BBA9053}"/>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5" r:id="rId5"/>
    <p:sldLayoutId id="2147483659" r:id="rId6"/>
    <p:sldLayoutId id="2147483660" r:id="rId7"/>
    <p:sldLayoutId id="2147483664" r:id="rId8"/>
    <p:sldLayoutId id="2147483650" r:id="rId9"/>
    <p:sldLayoutId id="2147483656" r:id="rId10"/>
    <p:sldLayoutId id="2147483657" r:id="rId11"/>
    <p:sldLayoutId id="2147483654" r:id="rId12"/>
    <p:sldLayoutId id="2147483666" r:id="rId13"/>
    <p:sldLayoutId id="2147483667" r:id="rId14"/>
    <p:sldLayoutId id="2147483668" r:id="rId15"/>
    <p:sldLayoutId id="2147483669" r:id="rId16"/>
    <p:sldLayoutId id="2147483670" r:id="rId17"/>
    <p:sldLayoutId id="2147483671" r:id="rId18"/>
    <p:sldLayoutId id="2147483672" r:id="rId19"/>
    <p:sldLayoutId id="2147483655" r:id="rId20"/>
  </p:sldLayoutIdLst>
  <p:hf hdr="0" ftr="0" dt="0"/>
  <p:txStyles>
    <p:title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9.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9.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9.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9.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9.xml"/><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9.xml"/><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9.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9.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9.xml"/><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9.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9.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9.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9.xml"/><Relationship Id="rId5" Type="http://schemas.openxmlformats.org/officeDocument/2006/relationships/image" Target="../media/image37.png"/><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9.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hyperlink" Target="https://git-scm.com/install/windows"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9.xml"/><Relationship Id="rId6" Type="http://schemas.openxmlformats.org/officeDocument/2006/relationships/image" Target="../media/image37.png"/><Relationship Id="rId5" Type="http://schemas.openxmlformats.org/officeDocument/2006/relationships/image" Target="../media/image39.png"/><Relationship Id="rId4" Type="http://schemas.openxmlformats.org/officeDocument/2006/relationships/hyperlink" Target="https://docs.flutter.dev/install/manual"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9.xml"/><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a:t>
            </a:fld>
            <a:endParaRPr lang="en-US" sz="2000" b="1" i="0" dirty="0"/>
          </a:p>
        </p:txBody>
      </p:sp>
      <p:sp>
        <p:nvSpPr>
          <p:cNvPr id="9" name="Title 2">
            <a:extLst>
              <a:ext uri="{FF2B5EF4-FFF2-40B4-BE49-F238E27FC236}">
                <a16:creationId xmlns:a16="http://schemas.microsoft.com/office/drawing/2014/main" id="{200B3D2B-613A-41BE-987D-E6A1324B456D}"/>
              </a:ext>
            </a:extLst>
          </p:cNvPr>
          <p:cNvSpPr txBox="1">
            <a:spLocks/>
          </p:cNvSpPr>
          <p:nvPr/>
        </p:nvSpPr>
        <p:spPr>
          <a:xfrm>
            <a:off x="904973" y="779192"/>
            <a:ext cx="8766927" cy="1366536"/>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r>
              <a:rPr lang="en" dirty="0"/>
              <a:t>Lesson </a:t>
            </a:r>
            <a:r>
              <a:rPr lang="en" dirty="0" smtClean="0"/>
              <a:t>3: </a:t>
            </a:r>
            <a:r>
              <a:rPr lang="en" dirty="0"/>
              <a:t>Dart Functions &amp; Object-Oriented Programming (OOP)</a:t>
            </a:r>
            <a:endParaRPr lang="en-US" dirty="0"/>
          </a:p>
        </p:txBody>
      </p:sp>
      <p:sp>
        <p:nvSpPr>
          <p:cNvPr id="11" name="Subtitle 3">
            <a:extLst>
              <a:ext uri="{FF2B5EF4-FFF2-40B4-BE49-F238E27FC236}">
                <a16:creationId xmlns:a16="http://schemas.microsoft.com/office/drawing/2014/main" id="{4772945D-CA91-4CFE-8EB7-941C7618C994}"/>
              </a:ext>
            </a:extLst>
          </p:cNvPr>
          <p:cNvSpPr txBox="1">
            <a:spLocks/>
          </p:cNvSpPr>
          <p:nvPr/>
        </p:nvSpPr>
        <p:spPr>
          <a:xfrm>
            <a:off x="5505254" y="4506012"/>
            <a:ext cx="5208128" cy="1336565"/>
          </a:xfrm>
          <a:prstGeom prst="rect">
            <a:avLst/>
          </a:prstGeom>
        </p:spPr>
        <p:style>
          <a:lnRef idx="2">
            <a:schemeClr val="dk1">
              <a:shade val="50000"/>
            </a:schemeClr>
          </a:lnRef>
          <a:fillRef idx="1">
            <a:schemeClr val="dk1"/>
          </a:fillRef>
          <a:effectRef idx="0">
            <a:schemeClr val="dk1"/>
          </a:effectRef>
          <a:fontRef idx="minor">
            <a:schemeClr val="lt1"/>
          </a:fontRef>
        </p:style>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endParaRPr lang="en-US" dirty="0" smtClean="0">
              <a:solidFill>
                <a:schemeClr val="bg1"/>
              </a:solidFill>
            </a:endParaRPr>
          </a:p>
          <a:p>
            <a:pPr marL="0" indent="0" algn="ctr">
              <a:spcBef>
                <a:spcPts val="0"/>
              </a:spcBef>
              <a:buNone/>
            </a:pPr>
            <a:r>
              <a:rPr lang="en-US" dirty="0" smtClean="0">
                <a:solidFill>
                  <a:schemeClr val="bg1"/>
                </a:solidFill>
              </a:rPr>
              <a:t>Lab Demo: MD. Aminul Islam Rakib</a:t>
            </a:r>
          </a:p>
          <a:p>
            <a:pPr algn="ctr">
              <a:spcBef>
                <a:spcPts val="0"/>
              </a:spcBef>
            </a:pPr>
            <a:endParaRPr lang="en-US" dirty="0" smtClean="0">
              <a:solidFill>
                <a:schemeClr val="bg1"/>
              </a:solidFill>
            </a:endParaRPr>
          </a:p>
          <a:p>
            <a:pPr marL="0" indent="0" algn="ctr">
              <a:spcBef>
                <a:spcPts val="0"/>
              </a:spcBef>
              <a:buNone/>
            </a:pPr>
            <a:r>
              <a:rPr lang="en-US" dirty="0" smtClean="0">
                <a:solidFill>
                  <a:schemeClr val="bg1"/>
                </a:solidFill>
              </a:rPr>
              <a:t>Lecturer: Madam </a:t>
            </a:r>
            <a:r>
              <a:rPr lang="en-US" dirty="0" err="1" smtClean="0">
                <a:solidFill>
                  <a:schemeClr val="bg1"/>
                </a:solidFill>
              </a:rPr>
              <a:t>Nurfauza</a:t>
            </a:r>
            <a:r>
              <a:rPr lang="en-US" dirty="0" smtClean="0">
                <a:solidFill>
                  <a:schemeClr val="bg1"/>
                </a:solidFill>
              </a:rPr>
              <a:t> </a:t>
            </a:r>
            <a:r>
              <a:rPr lang="en-US" dirty="0" err="1" smtClean="0">
                <a:solidFill>
                  <a:schemeClr val="bg1"/>
                </a:solidFill>
              </a:rPr>
              <a:t>Binti</a:t>
            </a:r>
            <a:r>
              <a:rPr lang="en-US" dirty="0" smtClean="0">
                <a:solidFill>
                  <a:schemeClr val="bg1"/>
                </a:solidFill>
              </a:rPr>
              <a:t> </a:t>
            </a:r>
            <a:r>
              <a:rPr lang="en-US" dirty="0" err="1" smtClean="0">
                <a:solidFill>
                  <a:schemeClr val="bg1"/>
                </a:solidFill>
              </a:rPr>
              <a:t>Jali</a:t>
            </a:r>
            <a:endParaRPr lang="en-US" dirty="0">
              <a:solidFill>
                <a:schemeClr val="bg1"/>
              </a:solidFill>
            </a:endParaRPr>
          </a:p>
        </p:txBody>
      </p:sp>
      <p:sp>
        <p:nvSpPr>
          <p:cNvPr id="14" name="TextBox 13">
            <a:extLst>
              <a:ext uri="{FF2B5EF4-FFF2-40B4-BE49-F238E27FC236}">
                <a16:creationId xmlns:a16="http://schemas.microsoft.com/office/drawing/2014/main" id="{E2F2BFDF-E9F2-4569-A9F2-E1FFCB7FB82D}"/>
              </a:ext>
            </a:extLst>
          </p:cNvPr>
          <p:cNvSpPr txBox="1"/>
          <p:nvPr/>
        </p:nvSpPr>
        <p:spPr>
          <a:xfrm>
            <a:off x="2358558" y="2236870"/>
            <a:ext cx="5859756" cy="621576"/>
          </a:xfrm>
          <a:prstGeom prst="rect">
            <a:avLst/>
          </a:prstGeom>
          <a:noFill/>
        </p:spPr>
        <p:txBody>
          <a:bodyPr wrap="square" lIns="0" tIns="36000" rIns="0" bIns="0" rtlCol="0">
            <a:spAutoFit/>
          </a:bodyPr>
          <a:lstStyle/>
          <a:p>
            <a:pPr lvl="0" algn="ctr"/>
            <a:r>
              <a:rPr lang="en-US" sz="2400" dirty="0">
                <a:solidFill>
                  <a:srgbClr val="002060"/>
                </a:solidFill>
              </a:rPr>
              <a:t>TMA3084 - Software Engineering </a:t>
            </a:r>
            <a:r>
              <a:rPr lang="en-US" sz="2400" dirty="0" smtClean="0">
                <a:solidFill>
                  <a:srgbClr val="002060"/>
                </a:solidFill>
              </a:rPr>
              <a:t>Laboratory</a:t>
            </a:r>
            <a:endParaRPr lang="en-US" sz="2400" dirty="0">
              <a:solidFill>
                <a:srgbClr val="002060"/>
              </a:solidFill>
            </a:endParaRPr>
          </a:p>
          <a:p>
            <a:pPr algn="r">
              <a:lnSpc>
                <a:spcPts val="1400"/>
              </a:lnSpc>
            </a:pPr>
            <a:endParaRPr lang="en-US" sz="2400" b="1" spc="-100" baseline="0" dirty="0">
              <a:solidFill>
                <a:srgbClr val="002060"/>
              </a:solidFill>
              <a:latin typeface="Corbel" panose="020B0503020204020204" pitchFamily="34" charset="0"/>
            </a:endParaRPr>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pic>
        <p:nvPicPr>
          <p:cNvPr id="16"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Tree>
    <p:extLst>
      <p:ext uri="{BB962C8B-B14F-4D97-AF65-F5344CB8AC3E}">
        <p14:creationId xmlns:p14="http://schemas.microsoft.com/office/powerpoint/2010/main" val="12807024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a:xfrm>
            <a:off x="11447502" y="6401750"/>
            <a:ext cx="278418" cy="274324"/>
          </a:xfrm>
        </p:spPr>
        <p:txBody>
          <a:bodyPr/>
          <a:lstStyle/>
          <a:p>
            <a:fld id="{19B51A1E-902D-48AF-9020-955120F399B6}" type="slidenum">
              <a:rPr lang="en-US" sz="2000" b="1" i="0" smtClean="0"/>
              <a:pPr/>
              <a:t>2</a:t>
            </a:fld>
            <a:endParaRPr lang="en-US" sz="2000" b="1" i="0" dirty="0"/>
          </a:p>
        </p:txBody>
      </p:sp>
      <p:sp>
        <p:nvSpPr>
          <p:cNvPr id="40" name="Rounded Rectangle 39"/>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41" name="Google Shape;178;p28"/>
          <p:cNvSpPr txBox="1">
            <a:spLocks/>
          </p:cNvSpPr>
          <p:nvPr/>
        </p:nvSpPr>
        <p:spPr>
          <a:xfrm>
            <a:off x="720000" y="445025"/>
            <a:ext cx="7704000" cy="572700"/>
          </a:xfrm>
          <a:prstGeom prst="rect">
            <a:avLst/>
          </a:prstGeom>
        </p:spPr>
        <p:txBody>
          <a:bodyPr spcFirstLastPara="1" vert="horz" wrap="square" lIns="91425" tIns="91425" rIns="91425" bIns="91425" rtlCol="0"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US" smtClean="0"/>
              <a:t>Table of contents</a:t>
            </a:r>
            <a:endParaRPr lang="en-US" dirty="0"/>
          </a:p>
        </p:txBody>
      </p:sp>
      <p:sp>
        <p:nvSpPr>
          <p:cNvPr id="42" name="Google Shape;179;p28"/>
          <p:cNvSpPr txBox="1">
            <a:spLocks/>
          </p:cNvSpPr>
          <p:nvPr/>
        </p:nvSpPr>
        <p:spPr>
          <a:xfrm>
            <a:off x="2167861" y="2226975"/>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smtClean="0"/>
              <a:t>01</a:t>
            </a:r>
            <a:endParaRPr lang="en" sz="2800" dirty="0"/>
          </a:p>
        </p:txBody>
      </p:sp>
      <p:sp>
        <p:nvSpPr>
          <p:cNvPr id="48" name="Google Shape;185;p28"/>
          <p:cNvSpPr txBox="1">
            <a:spLocks/>
          </p:cNvSpPr>
          <p:nvPr/>
        </p:nvSpPr>
        <p:spPr>
          <a:xfrm>
            <a:off x="2903456" y="2229056"/>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 sz="2000" dirty="0"/>
              <a:t>Functions</a:t>
            </a:r>
            <a:endParaRPr lang="en-US" sz="2000" dirty="0"/>
          </a:p>
        </p:txBody>
      </p:sp>
      <p:pic>
        <p:nvPicPr>
          <p:cNvPr id="55"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4" name="Google Shape;179;p28"/>
          <p:cNvSpPr txBox="1">
            <a:spLocks/>
          </p:cNvSpPr>
          <p:nvPr/>
        </p:nvSpPr>
        <p:spPr>
          <a:xfrm>
            <a:off x="2169429" y="2737601"/>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smtClean="0"/>
              <a:t>02</a:t>
            </a:r>
            <a:endParaRPr lang="en" sz="2800" dirty="0"/>
          </a:p>
        </p:txBody>
      </p:sp>
      <p:sp>
        <p:nvSpPr>
          <p:cNvPr id="65" name="Google Shape;185;p28"/>
          <p:cNvSpPr txBox="1">
            <a:spLocks/>
          </p:cNvSpPr>
          <p:nvPr/>
        </p:nvSpPr>
        <p:spPr>
          <a:xfrm>
            <a:off x="2905024" y="2739682"/>
            <a:ext cx="4042531"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ts val="0"/>
              </a:spcBef>
              <a:buNone/>
            </a:pPr>
            <a:r>
              <a:rPr lang="en-US" sz="2000" dirty="0"/>
              <a:t>Object-Oriented Programming (OOP)</a:t>
            </a:r>
          </a:p>
        </p:txBody>
      </p:sp>
      <p:sp>
        <p:nvSpPr>
          <p:cNvPr id="80" name="Google Shape;179;p28"/>
          <p:cNvSpPr txBox="1">
            <a:spLocks/>
          </p:cNvSpPr>
          <p:nvPr/>
        </p:nvSpPr>
        <p:spPr>
          <a:xfrm>
            <a:off x="2178857" y="3246650"/>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smtClean="0"/>
              <a:t>03</a:t>
            </a:r>
            <a:endParaRPr lang="en" sz="2800" dirty="0"/>
          </a:p>
        </p:txBody>
      </p:sp>
      <p:sp>
        <p:nvSpPr>
          <p:cNvPr id="81" name="Google Shape;185;p28"/>
          <p:cNvSpPr txBox="1">
            <a:spLocks/>
          </p:cNvSpPr>
          <p:nvPr/>
        </p:nvSpPr>
        <p:spPr>
          <a:xfrm>
            <a:off x="2914452" y="3248731"/>
            <a:ext cx="4353614"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ts val="0"/>
              </a:spcBef>
              <a:buNone/>
            </a:pPr>
            <a:r>
              <a:rPr lang="en-US" sz="2000" dirty="0"/>
              <a:t>Dart Project Structure and Dart Libraries</a:t>
            </a:r>
          </a:p>
        </p:txBody>
      </p:sp>
      <p:sp>
        <p:nvSpPr>
          <p:cNvPr id="2" name="Rectangle 1"/>
          <p:cNvSpPr/>
          <p:nvPr/>
        </p:nvSpPr>
        <p:spPr>
          <a:xfrm>
            <a:off x="2914452" y="4012176"/>
            <a:ext cx="4846198" cy="369332"/>
          </a:xfrm>
          <a:prstGeom prst="rect">
            <a:avLst/>
          </a:prstGeom>
        </p:spPr>
        <p:txBody>
          <a:bodyPr wrap="none">
            <a:spAutoFit/>
          </a:bodyPr>
          <a:lstStyle/>
          <a:p>
            <a:pPr lvl="0"/>
            <a:r>
              <a:rPr lang="en-US" dirty="0"/>
              <a:t>Lab 3: Create a Small Overtime Payment Program</a:t>
            </a:r>
          </a:p>
        </p:txBody>
      </p:sp>
    </p:spTree>
    <p:extLst>
      <p:ext uri="{BB962C8B-B14F-4D97-AF65-F5344CB8AC3E}">
        <p14:creationId xmlns:p14="http://schemas.microsoft.com/office/powerpoint/2010/main" val="28538443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5588203" cy="572700"/>
          </a:xfrm>
          <a:prstGeom prst="rect">
            <a:avLst/>
          </a:prstGeom>
        </p:spPr>
        <p:txBody>
          <a:bodyPr spcFirstLastPara="1" wrap="square" lIns="91425" tIns="91425" rIns="91425" bIns="91425" anchor="t" anchorCtr="0">
            <a:noAutofit/>
          </a:bodyPr>
          <a:lstStyle/>
          <a:p>
            <a:pPr lvl="0">
              <a:spcBef>
                <a:spcPts val="0"/>
              </a:spcBef>
            </a:pPr>
            <a:r>
              <a:rPr lang="en-US" cap="none" dirty="0" smtClean="0"/>
              <a:t>1. FUNCTION</a:t>
            </a:r>
            <a:endParaRPr lang="en-US" cap="none" dirty="0">
              <a:solidFill>
                <a:srgbClr val="FF0000"/>
              </a:solidFill>
            </a:endParaRPr>
          </a:p>
        </p:txBody>
      </p:sp>
      <p:sp>
        <p:nvSpPr>
          <p:cNvPr id="3" name="Rectangle 2"/>
          <p:cNvSpPr/>
          <p:nvPr/>
        </p:nvSpPr>
        <p:spPr>
          <a:xfrm>
            <a:off x="583336" y="1115282"/>
            <a:ext cx="9395702" cy="1477328"/>
          </a:xfrm>
          <a:prstGeom prst="rect">
            <a:avLst/>
          </a:prstGeom>
        </p:spPr>
        <p:txBody>
          <a:bodyPr wrap="square">
            <a:spAutoFit/>
          </a:bodyPr>
          <a:lstStyle/>
          <a:p>
            <a:pPr algn="just"/>
            <a:r>
              <a:rPr lang="en-US" b="1" dirty="0"/>
              <a:t>Functions in Programming</a:t>
            </a:r>
          </a:p>
          <a:p>
            <a:pPr algn="just"/>
            <a:r>
              <a:rPr lang="en-US" dirty="0"/>
              <a:t>A function is a named block of code that performs a specific task or returns a value. It helps avoid repeating code by allowing reuse through function calls. Functions make programs more organized, maintainable, and easier to modify. Most languages, including Dart, provide built-in functions stored in libraries.</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4" name="Rectangle 3"/>
          <p:cNvSpPr/>
          <p:nvPr/>
        </p:nvSpPr>
        <p:spPr>
          <a:xfrm>
            <a:off x="583336" y="2935813"/>
            <a:ext cx="6096000" cy="646331"/>
          </a:xfrm>
          <a:prstGeom prst="rect">
            <a:avLst/>
          </a:prstGeom>
        </p:spPr>
        <p:txBody>
          <a:bodyPr>
            <a:spAutoFit/>
          </a:bodyPr>
          <a:lstStyle/>
          <a:p>
            <a:pPr lvl="0" algn="just"/>
            <a:r>
              <a:rPr lang="en-US" b="1" dirty="0">
                <a:solidFill>
                  <a:schemeClr val="dk1"/>
                </a:solidFill>
                <a:ea typeface="Commissioner"/>
                <a:cs typeface="Commissioner"/>
                <a:sym typeface="Commissioner"/>
              </a:rPr>
              <a:t>Function </a:t>
            </a:r>
            <a:r>
              <a:rPr lang="en-US" b="1" dirty="0" smtClean="0">
                <a:solidFill>
                  <a:schemeClr val="dk1"/>
                </a:solidFill>
                <a:ea typeface="Commissioner"/>
                <a:cs typeface="Commissioner"/>
                <a:sym typeface="Commissioner"/>
              </a:rPr>
              <a:t>Structure</a:t>
            </a:r>
            <a:endParaRPr lang="en-US" b="1" dirty="0">
              <a:solidFill>
                <a:schemeClr val="dk1"/>
              </a:solidFill>
              <a:ea typeface="Commissioner"/>
              <a:cs typeface="Commissioner"/>
              <a:sym typeface="Commissioner"/>
            </a:endParaRPr>
          </a:p>
          <a:p>
            <a:pPr lvl="0" algn="just"/>
            <a:r>
              <a:rPr lang="en-US" dirty="0">
                <a:solidFill>
                  <a:schemeClr val="dk1"/>
                </a:solidFill>
                <a:ea typeface="Commissioner"/>
                <a:cs typeface="Commissioner"/>
                <a:sym typeface="Commissioner"/>
              </a:rPr>
              <a:t>Main components of a function</a:t>
            </a:r>
          </a:p>
        </p:txBody>
      </p:sp>
      <p:pic>
        <p:nvPicPr>
          <p:cNvPr id="9" name="Google Shape;195;p29"/>
          <p:cNvPicPr preferRelativeResize="0"/>
          <p:nvPr/>
        </p:nvPicPr>
        <p:blipFill rotWithShape="1">
          <a:blip r:embed="rId4">
            <a:alphaModFix/>
          </a:blip>
          <a:srcRect/>
          <a:stretch/>
        </p:blipFill>
        <p:spPr>
          <a:xfrm>
            <a:off x="1847403" y="4008228"/>
            <a:ext cx="6867568" cy="2142306"/>
          </a:xfrm>
          <a:prstGeom prst="rect">
            <a:avLst/>
          </a:prstGeom>
          <a:noFill/>
          <a:ln>
            <a:noFill/>
          </a:ln>
        </p:spPr>
      </p:pic>
    </p:spTree>
    <p:extLst>
      <p:ext uri="{BB962C8B-B14F-4D97-AF65-F5344CB8AC3E}">
        <p14:creationId xmlns:p14="http://schemas.microsoft.com/office/powerpoint/2010/main" val="4928360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4</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5588203" cy="572700"/>
          </a:xfrm>
          <a:prstGeom prst="rect">
            <a:avLst/>
          </a:prstGeom>
        </p:spPr>
        <p:txBody>
          <a:bodyPr spcFirstLastPara="1" wrap="square" lIns="91425" tIns="91425" rIns="91425" bIns="91425" anchor="t" anchorCtr="0">
            <a:noAutofit/>
          </a:bodyPr>
          <a:lstStyle/>
          <a:p>
            <a:pPr lvl="0">
              <a:spcBef>
                <a:spcPts val="0"/>
              </a:spcBef>
            </a:pPr>
            <a:r>
              <a:rPr lang="en-US" cap="none" dirty="0" smtClean="0"/>
              <a:t>1. FUNCTION</a:t>
            </a: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22" name="Google Shape;203;p30"/>
          <p:cNvSpPr txBox="1"/>
          <p:nvPr/>
        </p:nvSpPr>
        <p:spPr>
          <a:xfrm>
            <a:off x="3890323" y="975548"/>
            <a:ext cx="3984263"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b="1" u="sng" dirty="0">
                <a:solidFill>
                  <a:schemeClr val="dk1"/>
                </a:solidFill>
                <a:ea typeface="Commissioner"/>
                <a:cs typeface="Commissioner"/>
                <a:sym typeface="Commissioner"/>
              </a:rPr>
              <a:t>Function </a:t>
            </a:r>
            <a:r>
              <a:rPr lang="en" sz="2800" b="1" u="sng" dirty="0" smtClean="0">
                <a:solidFill>
                  <a:schemeClr val="dk1"/>
                </a:solidFill>
                <a:ea typeface="Commissioner"/>
                <a:cs typeface="Commissioner"/>
                <a:sym typeface="Commissioner"/>
              </a:rPr>
              <a:t>Creation</a:t>
            </a:r>
            <a:endParaRPr sz="2800" b="1" u="sng" dirty="0">
              <a:solidFill>
                <a:schemeClr val="dk1"/>
              </a:solidFill>
              <a:ea typeface="Commissioner"/>
              <a:cs typeface="Commissioner"/>
              <a:sym typeface="Commissioner"/>
            </a:endParaRPr>
          </a:p>
        </p:txBody>
      </p:sp>
      <p:pic>
        <p:nvPicPr>
          <p:cNvPr id="23" name="Google Shape;204;p30"/>
          <p:cNvPicPr preferRelativeResize="0"/>
          <p:nvPr/>
        </p:nvPicPr>
        <p:blipFill>
          <a:blip r:embed="rId4">
            <a:alphaModFix/>
          </a:blip>
          <a:stretch>
            <a:fillRect/>
          </a:stretch>
        </p:blipFill>
        <p:spPr>
          <a:xfrm>
            <a:off x="425139" y="1894788"/>
            <a:ext cx="5746400" cy="2952631"/>
          </a:xfrm>
          <a:prstGeom prst="rect">
            <a:avLst/>
          </a:prstGeom>
          <a:noFill/>
          <a:ln>
            <a:noFill/>
          </a:ln>
        </p:spPr>
      </p:pic>
      <p:pic>
        <p:nvPicPr>
          <p:cNvPr id="24" name="Google Shape;205;p30"/>
          <p:cNvPicPr preferRelativeResize="0"/>
          <p:nvPr/>
        </p:nvPicPr>
        <p:blipFill>
          <a:blip r:embed="rId5">
            <a:alphaModFix/>
          </a:blip>
          <a:stretch>
            <a:fillRect/>
          </a:stretch>
        </p:blipFill>
        <p:spPr>
          <a:xfrm>
            <a:off x="6532775" y="1894787"/>
            <a:ext cx="5410986" cy="3591613"/>
          </a:xfrm>
          <a:prstGeom prst="rect">
            <a:avLst/>
          </a:prstGeom>
          <a:noFill/>
          <a:ln>
            <a:noFill/>
          </a:ln>
        </p:spPr>
      </p:pic>
      <p:sp>
        <p:nvSpPr>
          <p:cNvPr id="25" name="Google Shape;206;p30"/>
          <p:cNvSpPr txBox="1"/>
          <p:nvPr/>
        </p:nvSpPr>
        <p:spPr>
          <a:xfrm>
            <a:off x="1739453" y="5151136"/>
            <a:ext cx="1775100" cy="738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chemeClr val="bg1"/>
                </a:solidFill>
                <a:latin typeface="Commissioner"/>
                <a:ea typeface="Commissioner"/>
                <a:cs typeface="Commissioner"/>
                <a:sym typeface="Commissioner"/>
              </a:rPr>
              <a:t>Result will be empty as there is no function being called in main</a:t>
            </a:r>
            <a:endParaRPr sz="1200" dirty="0">
              <a:solidFill>
                <a:schemeClr val="bg1"/>
              </a:solidFill>
              <a:latin typeface="Commissioner"/>
              <a:ea typeface="Commissioner"/>
              <a:cs typeface="Commissioner"/>
              <a:sym typeface="Commissioner"/>
            </a:endParaRPr>
          </a:p>
        </p:txBody>
      </p:sp>
      <p:sp>
        <p:nvSpPr>
          <p:cNvPr id="28" name="Google Shape;209;p30"/>
          <p:cNvSpPr txBox="1"/>
          <p:nvPr/>
        </p:nvSpPr>
        <p:spPr>
          <a:xfrm>
            <a:off x="8097683" y="5676378"/>
            <a:ext cx="1775100" cy="738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chemeClr val="bg1"/>
                </a:solidFill>
                <a:latin typeface="Commissioner"/>
                <a:ea typeface="Commissioner"/>
                <a:cs typeface="Commissioner"/>
                <a:sym typeface="Commissioner"/>
              </a:rPr>
              <a:t>Result is displayed after being called in main</a:t>
            </a:r>
            <a:endParaRPr sz="1200" dirty="0">
              <a:solidFill>
                <a:schemeClr val="bg1"/>
              </a:solidFill>
              <a:latin typeface="Commissioner"/>
              <a:ea typeface="Commissioner"/>
              <a:cs typeface="Commissioner"/>
              <a:sym typeface="Commissioner"/>
            </a:endParaRPr>
          </a:p>
        </p:txBody>
      </p:sp>
    </p:spTree>
    <p:extLst>
      <p:ext uri="{BB962C8B-B14F-4D97-AF65-F5344CB8AC3E}">
        <p14:creationId xmlns:p14="http://schemas.microsoft.com/office/powerpoint/2010/main" val="38430526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5</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5588203" cy="572700"/>
          </a:xfrm>
          <a:prstGeom prst="rect">
            <a:avLst/>
          </a:prstGeom>
        </p:spPr>
        <p:txBody>
          <a:bodyPr spcFirstLastPara="1" wrap="square" lIns="91425" tIns="91425" rIns="91425" bIns="91425" anchor="t" anchorCtr="0">
            <a:noAutofit/>
          </a:bodyPr>
          <a:lstStyle/>
          <a:p>
            <a:pPr lvl="0">
              <a:spcBef>
                <a:spcPts val="0"/>
              </a:spcBef>
            </a:pPr>
            <a:r>
              <a:rPr lang="en-US" cap="none" dirty="0" smtClean="0"/>
              <a:t>1. FUNCTION</a:t>
            </a: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22" name="Google Shape;203;p30"/>
          <p:cNvSpPr txBox="1"/>
          <p:nvPr/>
        </p:nvSpPr>
        <p:spPr>
          <a:xfrm>
            <a:off x="3890323" y="975548"/>
            <a:ext cx="4867178" cy="615523"/>
          </a:xfrm>
          <a:prstGeom prst="rect">
            <a:avLst/>
          </a:prstGeom>
          <a:noFill/>
          <a:ln>
            <a:noFill/>
          </a:ln>
        </p:spPr>
        <p:txBody>
          <a:bodyPr spcFirstLastPara="1" wrap="square" lIns="91425" tIns="91425" rIns="91425" bIns="91425" anchor="t" anchorCtr="0">
            <a:spAutoFit/>
          </a:bodyPr>
          <a:lstStyle/>
          <a:p>
            <a:pPr lvl="0"/>
            <a:r>
              <a:rPr lang="en" sz="2800" u="sng" dirty="0">
                <a:solidFill>
                  <a:schemeClr val="dk1"/>
                </a:solidFill>
                <a:ea typeface="Commissioner"/>
                <a:cs typeface="Commissioner"/>
                <a:sym typeface="Commissioner"/>
              </a:rPr>
              <a:t>Function Return </a:t>
            </a:r>
            <a:r>
              <a:rPr lang="en" sz="2800" b="1" u="sng" dirty="0">
                <a:solidFill>
                  <a:schemeClr val="dk1"/>
                </a:solidFill>
                <a:ea typeface="Commissioner"/>
                <a:cs typeface="Commissioner"/>
                <a:sym typeface="Commissioner"/>
              </a:rPr>
              <a:t>S</a:t>
            </a:r>
            <a:r>
              <a:rPr lang="en" sz="2800" b="1" u="sng" dirty="0" smtClean="0">
                <a:solidFill>
                  <a:schemeClr val="dk1"/>
                </a:solidFill>
                <a:ea typeface="Commissioner"/>
                <a:cs typeface="Commissioner"/>
                <a:sym typeface="Commissioner"/>
              </a:rPr>
              <a:t>tring</a:t>
            </a:r>
            <a:r>
              <a:rPr lang="en" sz="2800" u="sng" dirty="0" smtClean="0">
                <a:solidFill>
                  <a:schemeClr val="dk1"/>
                </a:solidFill>
                <a:ea typeface="Commissioner"/>
                <a:cs typeface="Commissioner"/>
                <a:sym typeface="Commissioner"/>
              </a:rPr>
              <a:t> Data</a:t>
            </a:r>
            <a:endParaRPr sz="2800" u="sng" dirty="0">
              <a:solidFill>
                <a:schemeClr val="dk1"/>
              </a:solidFill>
              <a:ea typeface="Commissioner"/>
              <a:cs typeface="Commissioner"/>
              <a:sym typeface="Commissioner"/>
            </a:endParaRPr>
          </a:p>
        </p:txBody>
      </p:sp>
      <p:pic>
        <p:nvPicPr>
          <p:cNvPr id="5" name="Picture 4"/>
          <p:cNvPicPr>
            <a:picLocks noChangeAspect="1"/>
          </p:cNvPicPr>
          <p:nvPr/>
        </p:nvPicPr>
        <p:blipFill>
          <a:blip r:embed="rId4"/>
          <a:stretch>
            <a:fillRect/>
          </a:stretch>
        </p:blipFill>
        <p:spPr>
          <a:xfrm>
            <a:off x="1824723" y="1770612"/>
            <a:ext cx="7140168" cy="348899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Rectangle 5"/>
          <p:cNvSpPr/>
          <p:nvPr/>
        </p:nvSpPr>
        <p:spPr>
          <a:xfrm>
            <a:off x="2730199" y="5439148"/>
            <a:ext cx="5329216" cy="923330"/>
          </a:xfrm>
          <a:prstGeom prst="rect">
            <a:avLst/>
          </a:prstGeom>
        </p:spPr>
        <p:txBody>
          <a:bodyPr wrap="square">
            <a:spAutoFit/>
          </a:bodyPr>
          <a:lstStyle/>
          <a:p>
            <a:pPr lvl="0"/>
            <a:r>
              <a:rPr lang="en-US" dirty="0"/>
              <a:t>Result is displayed because </a:t>
            </a:r>
            <a:r>
              <a:rPr lang="en-US" dirty="0" err="1">
                <a:solidFill>
                  <a:srgbClr val="188038"/>
                </a:solidFill>
                <a:latin typeface="Roboto Mono"/>
                <a:ea typeface="Roboto Mono"/>
                <a:cs typeface="Roboto Mono"/>
                <a:sym typeface="Roboto Mono"/>
              </a:rPr>
              <a:t>CourseName</a:t>
            </a:r>
            <a:r>
              <a:rPr lang="en-US" dirty="0">
                <a:solidFill>
                  <a:srgbClr val="188038"/>
                </a:solidFill>
                <a:latin typeface="Roboto Mono"/>
                <a:ea typeface="Roboto Mono"/>
                <a:cs typeface="Roboto Mono"/>
                <a:sym typeface="Roboto Mono"/>
              </a:rPr>
              <a:t>()</a:t>
            </a:r>
            <a:r>
              <a:rPr lang="en-US" dirty="0"/>
              <a:t> is called in </a:t>
            </a:r>
            <a:r>
              <a:rPr lang="en-US" dirty="0">
                <a:solidFill>
                  <a:srgbClr val="188038"/>
                </a:solidFill>
                <a:latin typeface="Roboto Mono"/>
                <a:ea typeface="Roboto Mono"/>
                <a:cs typeface="Roboto Mono"/>
                <a:sym typeface="Roboto Mono"/>
              </a:rPr>
              <a:t>main()</a:t>
            </a:r>
            <a:r>
              <a:rPr lang="en-US" dirty="0"/>
              <a:t> with </a:t>
            </a:r>
            <a:r>
              <a:rPr lang="en-US" dirty="0">
                <a:solidFill>
                  <a:srgbClr val="188038"/>
                </a:solidFill>
                <a:latin typeface="Roboto Mono"/>
                <a:ea typeface="Roboto Mono"/>
                <a:cs typeface="Roboto Mono"/>
                <a:sym typeface="Roboto Mono"/>
              </a:rPr>
              <a:t>print(</a:t>
            </a:r>
            <a:r>
              <a:rPr lang="en-US" dirty="0" err="1">
                <a:solidFill>
                  <a:srgbClr val="188038"/>
                </a:solidFill>
                <a:latin typeface="Roboto Mono"/>
                <a:ea typeface="Roboto Mono"/>
                <a:cs typeface="Roboto Mono"/>
                <a:sym typeface="Roboto Mono"/>
              </a:rPr>
              <a:t>CourseName</a:t>
            </a:r>
            <a:r>
              <a:rPr lang="en-US" dirty="0">
                <a:solidFill>
                  <a:srgbClr val="188038"/>
                </a:solidFill>
                <a:latin typeface="Roboto Mono"/>
                <a:ea typeface="Roboto Mono"/>
                <a:cs typeface="Roboto Mono"/>
                <a:sym typeface="Roboto Mono"/>
              </a:rPr>
              <a:t>())</a:t>
            </a:r>
            <a:r>
              <a:rPr lang="en-US" dirty="0"/>
              <a:t>. This triggers the function to return the </a:t>
            </a:r>
            <a:r>
              <a:rPr lang="en-US" b="1" dirty="0"/>
              <a:t>string</a:t>
            </a:r>
            <a:r>
              <a:rPr lang="en-US" dirty="0"/>
              <a:t>, which is then printed.</a:t>
            </a:r>
            <a:endParaRPr lang="en-US" sz="2000" dirty="0">
              <a:solidFill>
                <a:schemeClr val="dk1"/>
              </a:solidFill>
              <a:latin typeface="Commissioner"/>
              <a:ea typeface="Commissioner"/>
              <a:cs typeface="Commissioner"/>
              <a:sym typeface="Commissioner"/>
            </a:endParaRPr>
          </a:p>
        </p:txBody>
      </p:sp>
    </p:spTree>
    <p:extLst>
      <p:ext uri="{BB962C8B-B14F-4D97-AF65-F5344CB8AC3E}">
        <p14:creationId xmlns:p14="http://schemas.microsoft.com/office/powerpoint/2010/main" val="32611017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6</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5588203" cy="572700"/>
          </a:xfrm>
          <a:prstGeom prst="rect">
            <a:avLst/>
          </a:prstGeom>
        </p:spPr>
        <p:txBody>
          <a:bodyPr spcFirstLastPara="1" wrap="square" lIns="91425" tIns="91425" rIns="91425" bIns="91425" anchor="t" anchorCtr="0">
            <a:noAutofit/>
          </a:bodyPr>
          <a:lstStyle/>
          <a:p>
            <a:pPr lvl="0">
              <a:spcBef>
                <a:spcPts val="0"/>
              </a:spcBef>
            </a:pPr>
            <a:r>
              <a:rPr lang="en-US" cap="none" dirty="0" smtClean="0"/>
              <a:t>1. FUNCTION</a:t>
            </a: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22" name="Google Shape;203;p30"/>
          <p:cNvSpPr txBox="1"/>
          <p:nvPr/>
        </p:nvSpPr>
        <p:spPr>
          <a:xfrm>
            <a:off x="3890323" y="975548"/>
            <a:ext cx="4669215" cy="615523"/>
          </a:xfrm>
          <a:prstGeom prst="rect">
            <a:avLst/>
          </a:prstGeom>
          <a:noFill/>
          <a:ln>
            <a:noFill/>
          </a:ln>
        </p:spPr>
        <p:txBody>
          <a:bodyPr spcFirstLastPara="1" wrap="square" lIns="91425" tIns="91425" rIns="91425" bIns="91425" anchor="t" anchorCtr="0">
            <a:spAutoFit/>
          </a:bodyPr>
          <a:lstStyle/>
          <a:p>
            <a:pPr lvl="0"/>
            <a:r>
              <a:rPr lang="en" sz="2800" u="sng" dirty="0">
                <a:solidFill>
                  <a:schemeClr val="dk1"/>
                </a:solidFill>
                <a:ea typeface="Commissioner"/>
                <a:cs typeface="Commissioner"/>
                <a:sym typeface="Commissioner"/>
              </a:rPr>
              <a:t>Function Return </a:t>
            </a:r>
            <a:r>
              <a:rPr lang="en" sz="2800" b="1" u="sng" dirty="0" smtClean="0">
                <a:solidFill>
                  <a:schemeClr val="dk1"/>
                </a:solidFill>
                <a:ea typeface="Commissioner"/>
                <a:cs typeface="Commissioner"/>
                <a:sym typeface="Commissioner"/>
              </a:rPr>
              <a:t>int</a:t>
            </a:r>
            <a:r>
              <a:rPr lang="en" sz="2800" u="sng" dirty="0" smtClean="0">
                <a:solidFill>
                  <a:schemeClr val="dk1"/>
                </a:solidFill>
                <a:ea typeface="Commissioner"/>
                <a:cs typeface="Commissioner"/>
                <a:sym typeface="Commissioner"/>
              </a:rPr>
              <a:t> Data</a:t>
            </a:r>
            <a:endParaRPr sz="2800" u="sng" dirty="0">
              <a:solidFill>
                <a:schemeClr val="dk1"/>
              </a:solidFill>
              <a:ea typeface="Commissioner"/>
              <a:cs typeface="Commissioner"/>
              <a:sym typeface="Commissioner"/>
            </a:endParaRPr>
          </a:p>
        </p:txBody>
      </p:sp>
      <p:sp>
        <p:nvSpPr>
          <p:cNvPr id="6" name="Rectangle 5"/>
          <p:cNvSpPr/>
          <p:nvPr/>
        </p:nvSpPr>
        <p:spPr>
          <a:xfrm>
            <a:off x="1611982" y="5439148"/>
            <a:ext cx="7965651" cy="1200329"/>
          </a:xfrm>
          <a:prstGeom prst="rect">
            <a:avLst/>
          </a:prstGeom>
        </p:spPr>
        <p:txBody>
          <a:bodyPr wrap="square">
            <a:spAutoFit/>
          </a:bodyPr>
          <a:lstStyle/>
          <a:p>
            <a:r>
              <a:rPr lang="en-US" dirty="0">
                <a:solidFill>
                  <a:schemeClr val="dk1"/>
                </a:solidFill>
                <a:ea typeface="Commissioner"/>
                <a:cs typeface="Commissioner"/>
                <a:sym typeface="Commissioner"/>
              </a:rPr>
              <a:t>In the previous example, it is important to add the </a:t>
            </a:r>
            <a:r>
              <a:rPr lang="en-US" b="1" dirty="0">
                <a:solidFill>
                  <a:schemeClr val="dk1"/>
                </a:solidFill>
                <a:ea typeface="Commissioner"/>
                <a:cs typeface="Commissioner"/>
                <a:sym typeface="Commissioner"/>
              </a:rPr>
              <a:t>return command at the end of the </a:t>
            </a:r>
            <a:r>
              <a:rPr lang="en-US" b="1" dirty="0" err="1">
                <a:solidFill>
                  <a:schemeClr val="dk1"/>
                </a:solidFill>
                <a:ea typeface="Commissioner"/>
                <a:cs typeface="Commissioner"/>
                <a:sym typeface="Commissioner"/>
              </a:rPr>
              <a:t>SumCalculator</a:t>
            </a:r>
            <a:r>
              <a:rPr lang="en-US" b="1" dirty="0">
                <a:solidFill>
                  <a:schemeClr val="dk1"/>
                </a:solidFill>
                <a:ea typeface="Commissioner"/>
                <a:cs typeface="Commissioner"/>
                <a:sym typeface="Commissioner"/>
              </a:rPr>
              <a:t> function.</a:t>
            </a:r>
            <a:r>
              <a:rPr lang="en-US" dirty="0">
                <a:solidFill>
                  <a:schemeClr val="dk1"/>
                </a:solidFill>
                <a:ea typeface="Commissioner"/>
                <a:cs typeface="Commissioner"/>
                <a:sym typeface="Commissioner"/>
              </a:rPr>
              <a:t> This will return the result of the addition operation, variable z, to the location from where the function was called.</a:t>
            </a:r>
          </a:p>
          <a:p>
            <a:pPr lvl="0"/>
            <a:endParaRPr lang="en-US" dirty="0">
              <a:solidFill>
                <a:schemeClr val="dk1"/>
              </a:solidFill>
              <a:ea typeface="Commissioner"/>
              <a:cs typeface="Commissioner"/>
              <a:sym typeface="Commissioner"/>
            </a:endParaRPr>
          </a:p>
        </p:txBody>
      </p:sp>
      <p:pic>
        <p:nvPicPr>
          <p:cNvPr id="9" name="Google Shape;231;p32"/>
          <p:cNvPicPr preferRelativeResize="0"/>
          <p:nvPr/>
        </p:nvPicPr>
        <p:blipFill>
          <a:blip r:embed="rId4">
            <a:alphaModFix/>
          </a:blip>
          <a:stretch>
            <a:fillRect/>
          </a:stretch>
        </p:blipFill>
        <p:spPr>
          <a:xfrm>
            <a:off x="1611982" y="1732029"/>
            <a:ext cx="8173039" cy="3716884"/>
          </a:xfrm>
          <a:prstGeom prst="rect">
            <a:avLst/>
          </a:prstGeom>
          <a:noFill/>
          <a:ln>
            <a:noFill/>
          </a:ln>
        </p:spPr>
      </p:pic>
    </p:spTree>
    <p:extLst>
      <p:ext uri="{BB962C8B-B14F-4D97-AF65-F5344CB8AC3E}">
        <p14:creationId xmlns:p14="http://schemas.microsoft.com/office/powerpoint/2010/main" val="40229907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7</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5588203" cy="572700"/>
          </a:xfrm>
          <a:prstGeom prst="rect">
            <a:avLst/>
          </a:prstGeom>
        </p:spPr>
        <p:txBody>
          <a:bodyPr spcFirstLastPara="1" wrap="square" lIns="91425" tIns="91425" rIns="91425" bIns="91425" anchor="t" anchorCtr="0">
            <a:noAutofit/>
          </a:bodyPr>
          <a:lstStyle/>
          <a:p>
            <a:pPr lvl="0">
              <a:spcBef>
                <a:spcPts val="0"/>
              </a:spcBef>
            </a:pPr>
            <a:r>
              <a:rPr lang="en-US" cap="none" dirty="0" smtClean="0"/>
              <a:t>1. FUNCTION</a:t>
            </a: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22" name="Google Shape;203;p30"/>
          <p:cNvSpPr txBox="1"/>
          <p:nvPr/>
        </p:nvSpPr>
        <p:spPr>
          <a:xfrm>
            <a:off x="3890323" y="975548"/>
            <a:ext cx="4669215" cy="615523"/>
          </a:xfrm>
          <a:prstGeom prst="rect">
            <a:avLst/>
          </a:prstGeom>
          <a:noFill/>
          <a:ln>
            <a:noFill/>
          </a:ln>
        </p:spPr>
        <p:txBody>
          <a:bodyPr spcFirstLastPara="1" wrap="square" lIns="91425" tIns="91425" rIns="91425" bIns="91425" anchor="t" anchorCtr="0">
            <a:spAutoFit/>
          </a:bodyPr>
          <a:lstStyle/>
          <a:p>
            <a:pPr lvl="0"/>
            <a:r>
              <a:rPr lang="en" sz="2800" u="sng" dirty="0">
                <a:solidFill>
                  <a:schemeClr val="dk1"/>
                </a:solidFill>
                <a:ea typeface="Commissioner"/>
                <a:cs typeface="Commissioner"/>
                <a:sym typeface="Commissioner"/>
              </a:rPr>
              <a:t>Function Return </a:t>
            </a:r>
            <a:r>
              <a:rPr lang="en" sz="2800" b="1" u="sng" dirty="0" smtClean="0">
                <a:solidFill>
                  <a:schemeClr val="dk1"/>
                </a:solidFill>
                <a:ea typeface="Commissioner"/>
                <a:cs typeface="Commissioner"/>
                <a:sym typeface="Commissioner"/>
              </a:rPr>
              <a:t>bool</a:t>
            </a:r>
            <a:r>
              <a:rPr lang="en" sz="2800" u="sng" dirty="0" smtClean="0">
                <a:solidFill>
                  <a:schemeClr val="dk1"/>
                </a:solidFill>
                <a:ea typeface="Commissioner"/>
                <a:cs typeface="Commissioner"/>
                <a:sym typeface="Commissioner"/>
              </a:rPr>
              <a:t> Data</a:t>
            </a:r>
            <a:endParaRPr sz="2800" u="sng" dirty="0">
              <a:solidFill>
                <a:schemeClr val="dk1"/>
              </a:solidFill>
              <a:ea typeface="Commissioner"/>
              <a:cs typeface="Commissioner"/>
              <a:sym typeface="Commissioner"/>
            </a:endParaRPr>
          </a:p>
        </p:txBody>
      </p:sp>
      <p:pic>
        <p:nvPicPr>
          <p:cNvPr id="10" name="Google Shape;247;p33"/>
          <p:cNvPicPr preferRelativeResize="0"/>
          <p:nvPr/>
        </p:nvPicPr>
        <p:blipFill>
          <a:blip r:embed="rId4">
            <a:alphaModFix/>
          </a:blip>
          <a:stretch>
            <a:fillRect/>
          </a:stretch>
        </p:blipFill>
        <p:spPr>
          <a:xfrm>
            <a:off x="2600362" y="1853046"/>
            <a:ext cx="6213700" cy="4182771"/>
          </a:xfrm>
          <a:prstGeom prst="rect">
            <a:avLst/>
          </a:prstGeom>
          <a:noFill/>
          <a:ln>
            <a:noFill/>
          </a:ln>
        </p:spPr>
      </p:pic>
    </p:spTree>
    <p:extLst>
      <p:ext uri="{BB962C8B-B14F-4D97-AF65-F5344CB8AC3E}">
        <p14:creationId xmlns:p14="http://schemas.microsoft.com/office/powerpoint/2010/main" val="12431024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8</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5588203" cy="572700"/>
          </a:xfrm>
          <a:prstGeom prst="rect">
            <a:avLst/>
          </a:prstGeom>
        </p:spPr>
        <p:txBody>
          <a:bodyPr spcFirstLastPara="1" wrap="square" lIns="91425" tIns="91425" rIns="91425" bIns="91425" anchor="t" anchorCtr="0">
            <a:noAutofit/>
          </a:bodyPr>
          <a:lstStyle/>
          <a:p>
            <a:pPr lvl="0">
              <a:spcBef>
                <a:spcPts val="0"/>
              </a:spcBef>
            </a:pPr>
            <a:r>
              <a:rPr lang="en-US" cap="none" dirty="0" smtClean="0"/>
              <a:t>1. FUNCTION</a:t>
            </a: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pic>
        <p:nvPicPr>
          <p:cNvPr id="8" name="Google Shape;256;p34"/>
          <p:cNvPicPr preferRelativeResize="0"/>
          <p:nvPr/>
        </p:nvPicPr>
        <p:blipFill>
          <a:blip r:embed="rId4">
            <a:alphaModFix/>
          </a:blip>
          <a:stretch>
            <a:fillRect/>
          </a:stretch>
        </p:blipFill>
        <p:spPr>
          <a:xfrm>
            <a:off x="508133" y="1951370"/>
            <a:ext cx="5738608" cy="4300611"/>
          </a:xfrm>
          <a:prstGeom prst="rect">
            <a:avLst/>
          </a:prstGeom>
          <a:noFill/>
          <a:ln>
            <a:noFill/>
          </a:ln>
        </p:spPr>
      </p:pic>
      <p:sp>
        <p:nvSpPr>
          <p:cNvPr id="3" name="Rectangle 2"/>
          <p:cNvSpPr/>
          <p:nvPr/>
        </p:nvSpPr>
        <p:spPr>
          <a:xfrm>
            <a:off x="6708742" y="1951370"/>
            <a:ext cx="5560510" cy="1754326"/>
          </a:xfrm>
          <a:prstGeom prst="rect">
            <a:avLst/>
          </a:prstGeom>
        </p:spPr>
        <p:txBody>
          <a:bodyPr wrap="square">
            <a:spAutoFit/>
          </a:bodyPr>
          <a:lstStyle/>
          <a:p>
            <a:r>
              <a:rPr lang="en-US" b="1" dirty="0"/>
              <a:t>Void Function</a:t>
            </a:r>
          </a:p>
          <a:p>
            <a:pPr marL="342900" indent="-342900">
              <a:buFont typeface="+mj-lt"/>
              <a:buAutoNum type="arabicPeriod"/>
            </a:pPr>
            <a:r>
              <a:rPr lang="en-US" dirty="0"/>
              <a:t>A void function does not return a </a:t>
            </a:r>
            <a:r>
              <a:rPr lang="en-US" dirty="0" smtClean="0"/>
              <a:t>value.</a:t>
            </a:r>
          </a:p>
          <a:p>
            <a:pPr marL="342900" indent="-342900">
              <a:buFont typeface="+mj-lt"/>
              <a:buAutoNum type="arabicPeriod"/>
            </a:pPr>
            <a:r>
              <a:rPr lang="en-US" dirty="0" smtClean="0"/>
              <a:t>It </a:t>
            </a:r>
            <a:r>
              <a:rPr lang="en-US" dirty="0"/>
              <a:t>performs tasks or changes data through its </a:t>
            </a:r>
            <a:r>
              <a:rPr lang="en-US" dirty="0" smtClean="0"/>
              <a:t>parameters.</a:t>
            </a:r>
          </a:p>
          <a:p>
            <a:pPr marL="342900" indent="-342900">
              <a:buFont typeface="+mj-lt"/>
              <a:buAutoNum type="arabicPeriod"/>
            </a:pPr>
            <a:r>
              <a:rPr lang="en-US" dirty="0" smtClean="0"/>
              <a:t>If </a:t>
            </a:r>
            <a:r>
              <a:rPr lang="en-US" dirty="0"/>
              <a:t>no return type is specified in Dart, it is treated as a </a:t>
            </a:r>
            <a:r>
              <a:rPr lang="en-US" b="1" dirty="0"/>
              <a:t>void</a:t>
            </a:r>
            <a:r>
              <a:rPr lang="en-US" dirty="0"/>
              <a:t> function</a:t>
            </a:r>
          </a:p>
        </p:txBody>
      </p:sp>
    </p:spTree>
    <p:extLst>
      <p:ext uri="{BB962C8B-B14F-4D97-AF65-F5344CB8AC3E}">
        <p14:creationId xmlns:p14="http://schemas.microsoft.com/office/powerpoint/2010/main" val="953268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9</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5588203" cy="572700"/>
          </a:xfrm>
          <a:prstGeom prst="rect">
            <a:avLst/>
          </a:prstGeom>
        </p:spPr>
        <p:txBody>
          <a:bodyPr spcFirstLastPara="1" wrap="square" lIns="91425" tIns="91425" rIns="91425" bIns="91425" anchor="t" anchorCtr="0">
            <a:noAutofit/>
          </a:bodyPr>
          <a:lstStyle/>
          <a:p>
            <a:pPr lvl="0">
              <a:spcBef>
                <a:spcPts val="0"/>
              </a:spcBef>
            </a:pPr>
            <a:r>
              <a:rPr lang="en-US" cap="none" dirty="0" smtClean="0"/>
              <a:t>1. FUNCTION</a:t>
            </a: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1322199" y="991169"/>
            <a:ext cx="8495845" cy="1323439"/>
          </a:xfrm>
          <a:prstGeom prst="rect">
            <a:avLst/>
          </a:prstGeom>
        </p:spPr>
        <p:txBody>
          <a:bodyPr wrap="square">
            <a:spAutoFit/>
          </a:bodyPr>
          <a:lstStyle/>
          <a:p>
            <a:pPr lvl="0" algn="ctr"/>
            <a:r>
              <a:rPr lang="en-US" sz="2000" b="1" dirty="0">
                <a:solidFill>
                  <a:schemeClr val="dk1"/>
                </a:solidFill>
                <a:ea typeface="Commissioner"/>
                <a:cs typeface="Commissioner"/>
                <a:sym typeface="Commissioner"/>
              </a:rPr>
              <a:t>Function Returning Expression</a:t>
            </a:r>
          </a:p>
          <a:p>
            <a:pPr lvl="0" algn="ctr"/>
            <a:endParaRPr lang="en-US" sz="2000" b="1" dirty="0">
              <a:solidFill>
                <a:schemeClr val="dk1"/>
              </a:solidFill>
              <a:ea typeface="Commissioner"/>
              <a:cs typeface="Commissioner"/>
              <a:sym typeface="Commissioner"/>
            </a:endParaRPr>
          </a:p>
          <a:p>
            <a:pPr lvl="0" algn="ctr"/>
            <a:r>
              <a:rPr lang="en-US" sz="2000" dirty="0">
                <a:solidFill>
                  <a:schemeClr val="dk1"/>
                </a:solidFill>
                <a:ea typeface="Commissioner"/>
                <a:cs typeface="Commissioner"/>
                <a:sym typeface="Commissioner"/>
              </a:rPr>
              <a:t>You can use “</a:t>
            </a:r>
            <a:r>
              <a:rPr lang="en-US" sz="2000" b="1" dirty="0">
                <a:ea typeface="Commissioner"/>
                <a:cs typeface="Commissioner"/>
                <a:sym typeface="Commissioner"/>
              </a:rPr>
              <a:t>=&gt;</a:t>
            </a:r>
            <a:r>
              <a:rPr lang="en-US" sz="2000" dirty="0">
                <a:solidFill>
                  <a:schemeClr val="dk1"/>
                </a:solidFill>
                <a:ea typeface="Commissioner"/>
                <a:cs typeface="Commissioner"/>
                <a:sym typeface="Commissioner"/>
              </a:rPr>
              <a:t>” operator for returning a value in a brief way.</a:t>
            </a:r>
          </a:p>
          <a:p>
            <a:pPr algn="ctr"/>
            <a:endParaRPr lang="en-US" sz="2000" dirty="0"/>
          </a:p>
        </p:txBody>
      </p:sp>
      <p:pic>
        <p:nvPicPr>
          <p:cNvPr id="9" name="Google Shape;267;p35"/>
          <p:cNvPicPr preferRelativeResize="0"/>
          <p:nvPr/>
        </p:nvPicPr>
        <p:blipFill>
          <a:blip r:embed="rId4">
            <a:alphaModFix/>
          </a:blip>
          <a:stretch>
            <a:fillRect/>
          </a:stretch>
        </p:blipFill>
        <p:spPr>
          <a:xfrm>
            <a:off x="176545" y="2225694"/>
            <a:ext cx="5187306" cy="44503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Google Shape;268;p35"/>
          <p:cNvPicPr preferRelativeResize="0"/>
          <p:nvPr/>
        </p:nvPicPr>
        <p:blipFill>
          <a:blip r:embed="rId5">
            <a:alphaModFix/>
          </a:blip>
          <a:stretch>
            <a:fillRect/>
          </a:stretch>
        </p:blipFill>
        <p:spPr>
          <a:xfrm>
            <a:off x="5570122" y="2239325"/>
            <a:ext cx="6472667" cy="387715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146548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10</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5588203" cy="572700"/>
          </a:xfrm>
          <a:prstGeom prst="rect">
            <a:avLst/>
          </a:prstGeom>
        </p:spPr>
        <p:txBody>
          <a:bodyPr spcFirstLastPara="1" wrap="square" lIns="91425" tIns="91425" rIns="91425" bIns="91425" anchor="t" anchorCtr="0">
            <a:noAutofit/>
          </a:bodyPr>
          <a:lstStyle/>
          <a:p>
            <a:pPr lvl="0">
              <a:spcBef>
                <a:spcPts val="0"/>
              </a:spcBef>
            </a:pPr>
            <a:r>
              <a:rPr lang="en-US" cap="none" dirty="0" smtClean="0"/>
              <a:t>1. FUNCTION</a:t>
            </a: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876606" y="1226839"/>
            <a:ext cx="8495845" cy="1323439"/>
          </a:xfrm>
          <a:prstGeom prst="rect">
            <a:avLst/>
          </a:prstGeom>
        </p:spPr>
        <p:txBody>
          <a:bodyPr wrap="square">
            <a:spAutoFit/>
          </a:bodyPr>
          <a:lstStyle/>
          <a:p>
            <a:r>
              <a:rPr lang="en-US" sz="2000" b="1" dirty="0"/>
              <a:t>Functions and Variable Scope</a:t>
            </a:r>
          </a:p>
          <a:p>
            <a:r>
              <a:rPr lang="en-US" sz="2000" dirty="0"/>
              <a:t>The position of a variable (inside or outside a function) affects how it’s used and </a:t>
            </a:r>
            <a:r>
              <a:rPr lang="en-US" sz="2000" dirty="0" smtClean="0"/>
              <a:t>accessed. It </a:t>
            </a:r>
            <a:r>
              <a:rPr lang="en-US" sz="2000" dirty="0"/>
              <a:t>determines the variable’s visibility, lifetime, and how functions interact with it.</a:t>
            </a:r>
          </a:p>
        </p:txBody>
      </p:sp>
      <p:pic>
        <p:nvPicPr>
          <p:cNvPr id="11" name="Google Shape;277;p36"/>
          <p:cNvPicPr preferRelativeResize="0"/>
          <p:nvPr/>
        </p:nvPicPr>
        <p:blipFill rotWithShape="1">
          <a:blip r:embed="rId4">
            <a:alphaModFix/>
          </a:blip>
          <a:srcRect r="38252"/>
          <a:stretch/>
        </p:blipFill>
        <p:spPr>
          <a:xfrm>
            <a:off x="876606" y="3022764"/>
            <a:ext cx="3494263" cy="3516148"/>
          </a:xfrm>
          <a:prstGeom prst="rect">
            <a:avLst/>
          </a:prstGeom>
          <a:noFill/>
          <a:ln>
            <a:noFill/>
          </a:ln>
        </p:spPr>
      </p:pic>
      <p:pic>
        <p:nvPicPr>
          <p:cNvPr id="13" name="Google Shape;276;p36"/>
          <p:cNvPicPr preferRelativeResize="0"/>
          <p:nvPr/>
        </p:nvPicPr>
        <p:blipFill rotWithShape="1">
          <a:blip r:embed="rId5">
            <a:alphaModFix/>
          </a:blip>
          <a:srcRect r="37361"/>
          <a:stretch/>
        </p:blipFill>
        <p:spPr>
          <a:xfrm>
            <a:off x="5637229" y="3022764"/>
            <a:ext cx="3629320" cy="3469014"/>
          </a:xfrm>
          <a:prstGeom prst="rect">
            <a:avLst/>
          </a:prstGeom>
          <a:noFill/>
          <a:ln>
            <a:noFill/>
          </a:ln>
        </p:spPr>
      </p:pic>
    </p:spTree>
    <p:extLst>
      <p:ext uri="{BB962C8B-B14F-4D97-AF65-F5344CB8AC3E}">
        <p14:creationId xmlns:p14="http://schemas.microsoft.com/office/powerpoint/2010/main" val="4774486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11</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551237"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Object-Oriented </a:t>
            </a:r>
            <a:r>
              <a:rPr lang="en-US" dirty="0"/>
              <a:t>Programming (OOP)</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668105" y="1594939"/>
            <a:ext cx="7494396" cy="3180358"/>
          </a:xfrm>
          <a:prstGeom prst="rect">
            <a:avLst/>
          </a:prstGeom>
        </p:spPr>
        <p:txBody>
          <a:bodyPr wrap="square">
            <a:spAutoFit/>
          </a:bodyPr>
          <a:lstStyle/>
          <a:p>
            <a:pPr marL="12700" marR="336550" lvl="0">
              <a:lnSpc>
                <a:spcPct val="115000"/>
              </a:lnSpc>
              <a:spcBef>
                <a:spcPts val="960"/>
              </a:spcBef>
            </a:pPr>
            <a:r>
              <a:rPr lang="en-US" sz="2000" b="1" dirty="0"/>
              <a:t>Class:</a:t>
            </a:r>
            <a:r>
              <a:rPr lang="en-US" sz="2000" dirty="0"/>
              <a:t/>
            </a:r>
            <a:br>
              <a:rPr lang="en-US" sz="2000" dirty="0"/>
            </a:br>
            <a:r>
              <a:rPr lang="en-US" sz="2000" dirty="0"/>
              <a:t>A class is a blueprint or template in object-oriented programming that defines the properties (attributes) and behaviors (methods) that the objects created from it will have</a:t>
            </a:r>
            <a:r>
              <a:rPr lang="en-US" sz="2000" dirty="0" smtClean="0"/>
              <a:t>.</a:t>
            </a:r>
          </a:p>
          <a:p>
            <a:pPr marL="12700" marR="336550" lvl="0">
              <a:lnSpc>
                <a:spcPct val="115000"/>
              </a:lnSpc>
              <a:spcBef>
                <a:spcPts val="960"/>
              </a:spcBef>
            </a:pPr>
            <a:endParaRPr lang="en-US" sz="2000" dirty="0">
              <a:solidFill>
                <a:srgbClr val="222222"/>
              </a:solidFill>
              <a:ea typeface="Arial"/>
              <a:cs typeface="Arial"/>
              <a:sym typeface="Arial"/>
            </a:endParaRPr>
          </a:p>
          <a:p>
            <a:pPr marL="12700" marR="336550">
              <a:lnSpc>
                <a:spcPct val="115000"/>
              </a:lnSpc>
              <a:spcBef>
                <a:spcPts val="960"/>
              </a:spcBef>
            </a:pPr>
            <a:r>
              <a:rPr lang="en-US" sz="2000" b="1" dirty="0"/>
              <a:t>Object:</a:t>
            </a:r>
            <a:r>
              <a:rPr lang="en-US" sz="2000" dirty="0"/>
              <a:t/>
            </a:r>
            <a:br>
              <a:rPr lang="en-US" sz="2000" dirty="0"/>
            </a:br>
            <a:r>
              <a:rPr lang="en-US" sz="2000" dirty="0"/>
              <a:t>An object is an instance of a class that contains actual values for the attributes and can perform the behaviors defined by the class</a:t>
            </a:r>
            <a:r>
              <a:rPr lang="en-US" sz="2000" dirty="0" smtClean="0"/>
              <a:t>.</a:t>
            </a:r>
            <a:endParaRPr lang="en-US" sz="2000" dirty="0"/>
          </a:p>
        </p:txBody>
      </p:sp>
      <p:pic>
        <p:nvPicPr>
          <p:cNvPr id="9" name="Google Shape;293;p37"/>
          <p:cNvPicPr preferRelativeResize="0"/>
          <p:nvPr/>
        </p:nvPicPr>
        <p:blipFill>
          <a:blip r:embed="rId4">
            <a:alphaModFix/>
          </a:blip>
          <a:stretch>
            <a:fillRect/>
          </a:stretch>
        </p:blipFill>
        <p:spPr>
          <a:xfrm>
            <a:off x="8162501" y="2012521"/>
            <a:ext cx="3563419" cy="27627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271825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12</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551237"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Object-Oriented </a:t>
            </a:r>
            <a:r>
              <a:rPr lang="en-US" dirty="0"/>
              <a:t>Programming (OOP)</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876607" y="1226839"/>
            <a:ext cx="7494396" cy="3919022"/>
          </a:xfrm>
          <a:prstGeom prst="rect">
            <a:avLst/>
          </a:prstGeom>
        </p:spPr>
        <p:txBody>
          <a:bodyPr wrap="square">
            <a:spAutoFit/>
          </a:bodyPr>
          <a:lstStyle/>
          <a:p>
            <a:pPr marL="12700" marR="336550" lvl="0">
              <a:lnSpc>
                <a:spcPct val="115000"/>
              </a:lnSpc>
              <a:spcBef>
                <a:spcPts val="960"/>
              </a:spcBef>
            </a:pPr>
            <a:r>
              <a:rPr lang="en-US" sz="2000" b="1" dirty="0">
                <a:solidFill>
                  <a:srgbClr val="222222"/>
                </a:solidFill>
                <a:latin typeface="Arial"/>
                <a:ea typeface="Arial"/>
                <a:cs typeface="Arial"/>
                <a:sym typeface="Arial"/>
              </a:rPr>
              <a:t>Creating a Class</a:t>
            </a:r>
          </a:p>
          <a:p>
            <a:pPr marL="12700" marR="336550" lvl="0">
              <a:lnSpc>
                <a:spcPct val="115000"/>
              </a:lnSpc>
              <a:spcBef>
                <a:spcPts val="960"/>
              </a:spcBef>
            </a:pPr>
            <a:r>
              <a:rPr lang="en-US" sz="2000" b="1" dirty="0">
                <a:solidFill>
                  <a:srgbClr val="222222"/>
                </a:solidFill>
                <a:latin typeface="Arial"/>
                <a:ea typeface="Arial"/>
                <a:cs typeface="Arial"/>
                <a:sym typeface="Arial"/>
              </a:rPr>
              <a:t>Step 1:</a:t>
            </a:r>
            <a:r>
              <a:rPr lang="en-US" sz="2000" dirty="0">
                <a:solidFill>
                  <a:srgbClr val="222222"/>
                </a:solidFill>
                <a:latin typeface="Arial"/>
                <a:ea typeface="Arial"/>
                <a:cs typeface="Arial"/>
                <a:sym typeface="Arial"/>
              </a:rPr>
              <a:t> Declare an empty class called </a:t>
            </a:r>
            <a:r>
              <a:rPr lang="en-US" sz="2000" dirty="0" smtClean="0">
                <a:solidFill>
                  <a:srgbClr val="222222"/>
                </a:solidFill>
                <a:latin typeface="Arial"/>
                <a:ea typeface="Arial"/>
                <a:cs typeface="Arial"/>
                <a:sym typeface="Arial"/>
              </a:rPr>
              <a:t>“</a:t>
            </a:r>
            <a:r>
              <a:rPr lang="en-US" sz="2000" b="1" dirty="0" smtClean="0">
                <a:solidFill>
                  <a:srgbClr val="222222"/>
                </a:solidFill>
                <a:latin typeface="Arial"/>
                <a:ea typeface="Arial"/>
                <a:cs typeface="Arial"/>
                <a:sym typeface="Arial"/>
              </a:rPr>
              <a:t>Car</a:t>
            </a:r>
            <a:r>
              <a:rPr lang="en-US" sz="2000" dirty="0" smtClean="0">
                <a:solidFill>
                  <a:srgbClr val="222222"/>
                </a:solidFill>
                <a:latin typeface="Arial"/>
                <a:ea typeface="Arial"/>
                <a:cs typeface="Arial"/>
                <a:sym typeface="Arial"/>
              </a:rPr>
              <a:t>”, </a:t>
            </a:r>
            <a:r>
              <a:rPr lang="en-US" sz="2000" dirty="0">
                <a:solidFill>
                  <a:srgbClr val="222222"/>
                </a:solidFill>
                <a:latin typeface="Arial"/>
                <a:ea typeface="Arial"/>
                <a:cs typeface="Arial"/>
                <a:sym typeface="Arial"/>
              </a:rPr>
              <a:t>as illustrated in the following code</a:t>
            </a:r>
            <a:r>
              <a:rPr lang="en-US" sz="2000" dirty="0" smtClean="0">
                <a:solidFill>
                  <a:srgbClr val="222222"/>
                </a:solidFill>
                <a:latin typeface="Arial"/>
                <a:ea typeface="Arial"/>
                <a:cs typeface="Arial"/>
                <a:sym typeface="Arial"/>
              </a:rPr>
              <a:t>:</a:t>
            </a:r>
          </a:p>
          <a:p>
            <a:pPr marL="12700" marR="336550" lvl="0">
              <a:lnSpc>
                <a:spcPct val="115000"/>
              </a:lnSpc>
              <a:spcBef>
                <a:spcPts val="960"/>
              </a:spcBef>
            </a:pPr>
            <a:endParaRPr lang="en-US" sz="2000" dirty="0">
              <a:solidFill>
                <a:srgbClr val="222222"/>
              </a:solidFill>
              <a:latin typeface="Arial"/>
              <a:ea typeface="Arial"/>
              <a:cs typeface="Arial"/>
              <a:sym typeface="Arial"/>
            </a:endParaRPr>
          </a:p>
          <a:p>
            <a:pPr marL="12700" marR="336550" lvl="0">
              <a:lnSpc>
                <a:spcPct val="115000"/>
              </a:lnSpc>
              <a:spcBef>
                <a:spcPts val="960"/>
              </a:spcBef>
            </a:pPr>
            <a:endParaRPr lang="en-US" sz="2000" dirty="0">
              <a:solidFill>
                <a:srgbClr val="222222"/>
              </a:solidFill>
              <a:latin typeface="Arial"/>
              <a:ea typeface="Arial"/>
              <a:cs typeface="Arial"/>
              <a:sym typeface="Arial"/>
            </a:endParaRPr>
          </a:p>
          <a:p>
            <a:pPr marL="12700" marR="336550" lvl="0">
              <a:lnSpc>
                <a:spcPct val="115000"/>
              </a:lnSpc>
              <a:spcBef>
                <a:spcPts val="960"/>
              </a:spcBef>
            </a:pPr>
            <a:r>
              <a:rPr lang="en-US" sz="2000" b="1" dirty="0">
                <a:solidFill>
                  <a:srgbClr val="222222"/>
                </a:solidFill>
                <a:latin typeface="Arial"/>
                <a:ea typeface="Arial"/>
                <a:cs typeface="Arial"/>
                <a:sym typeface="Arial"/>
              </a:rPr>
              <a:t>Step 2:</a:t>
            </a:r>
            <a:r>
              <a:rPr lang="en-US" sz="2000" dirty="0">
                <a:solidFill>
                  <a:srgbClr val="222222"/>
                </a:solidFill>
                <a:latin typeface="Arial"/>
                <a:ea typeface="Arial"/>
                <a:cs typeface="Arial"/>
                <a:sym typeface="Arial"/>
              </a:rPr>
              <a:t> The car class has been created. Now, you may add some properties to this </a:t>
            </a:r>
            <a:r>
              <a:rPr lang="en-US" sz="2000" b="1" dirty="0" smtClean="0">
                <a:solidFill>
                  <a:srgbClr val="222222"/>
                </a:solidFill>
                <a:latin typeface="Arial"/>
                <a:ea typeface="Arial"/>
                <a:cs typeface="Arial"/>
                <a:sym typeface="Arial"/>
              </a:rPr>
              <a:t>Car</a:t>
            </a:r>
            <a:r>
              <a:rPr lang="en-US" sz="2000" dirty="0" smtClean="0">
                <a:solidFill>
                  <a:srgbClr val="222222"/>
                </a:solidFill>
                <a:latin typeface="Arial"/>
                <a:ea typeface="Arial"/>
                <a:cs typeface="Arial"/>
                <a:sym typeface="Arial"/>
              </a:rPr>
              <a:t> </a:t>
            </a:r>
            <a:r>
              <a:rPr lang="en-US" sz="2000" dirty="0">
                <a:solidFill>
                  <a:srgbClr val="222222"/>
                </a:solidFill>
                <a:latin typeface="Arial"/>
                <a:ea typeface="Arial"/>
                <a:cs typeface="Arial"/>
                <a:sym typeface="Arial"/>
              </a:rPr>
              <a:t>class as illustrated in the following code:</a:t>
            </a:r>
          </a:p>
          <a:p>
            <a:pPr marR="163195" lvl="0">
              <a:lnSpc>
                <a:spcPct val="115000"/>
              </a:lnSpc>
              <a:spcBef>
                <a:spcPts val="1000"/>
              </a:spcBef>
            </a:pPr>
            <a:endParaRPr lang="en-US" sz="2000" dirty="0">
              <a:solidFill>
                <a:schemeClr val="dk1"/>
              </a:solidFill>
            </a:endParaRPr>
          </a:p>
        </p:txBody>
      </p:sp>
      <p:pic>
        <p:nvPicPr>
          <p:cNvPr id="7" name="Picture 6"/>
          <p:cNvPicPr>
            <a:picLocks noChangeAspect="1"/>
          </p:cNvPicPr>
          <p:nvPr/>
        </p:nvPicPr>
        <p:blipFill>
          <a:blip r:embed="rId4"/>
          <a:stretch>
            <a:fillRect/>
          </a:stretch>
        </p:blipFill>
        <p:spPr>
          <a:xfrm>
            <a:off x="3316084" y="4528985"/>
            <a:ext cx="3448227" cy="1790792"/>
          </a:xfrm>
          <a:prstGeom prst="rect">
            <a:avLst/>
          </a:prstGeom>
        </p:spPr>
      </p:pic>
      <p:pic>
        <p:nvPicPr>
          <p:cNvPr id="11" name="Picture 10"/>
          <p:cNvPicPr>
            <a:picLocks noChangeAspect="1"/>
          </p:cNvPicPr>
          <p:nvPr/>
        </p:nvPicPr>
        <p:blipFill>
          <a:blip r:embed="rId5"/>
          <a:stretch>
            <a:fillRect/>
          </a:stretch>
        </p:blipFill>
        <p:spPr>
          <a:xfrm>
            <a:off x="3157999" y="2529980"/>
            <a:ext cx="3923317" cy="740248"/>
          </a:xfrm>
          <a:prstGeom prst="rect">
            <a:avLst/>
          </a:prstGeom>
        </p:spPr>
      </p:pic>
    </p:spTree>
    <p:extLst>
      <p:ext uri="{BB962C8B-B14F-4D97-AF65-F5344CB8AC3E}">
        <p14:creationId xmlns:p14="http://schemas.microsoft.com/office/powerpoint/2010/main" val="30875513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13</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551237"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Object-Oriented </a:t>
            </a:r>
            <a:r>
              <a:rPr lang="en-US" dirty="0"/>
              <a:t>Programming (OOP)</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722784" y="1453082"/>
            <a:ext cx="4129027" cy="3985706"/>
          </a:xfrm>
          <a:prstGeom prst="rect">
            <a:avLst/>
          </a:prstGeom>
        </p:spPr>
        <p:txBody>
          <a:bodyPr wrap="square">
            <a:spAutoFit/>
          </a:bodyPr>
          <a:lstStyle/>
          <a:p>
            <a:pPr marL="12700" marR="336550" lvl="0" algn="just">
              <a:lnSpc>
                <a:spcPct val="115000"/>
              </a:lnSpc>
              <a:spcBef>
                <a:spcPts val="960"/>
              </a:spcBef>
            </a:pPr>
            <a:r>
              <a:rPr lang="en-US" sz="2000" b="1" dirty="0" smtClean="0">
                <a:solidFill>
                  <a:srgbClr val="222222"/>
                </a:solidFill>
                <a:ea typeface="Arial"/>
                <a:cs typeface="Arial"/>
                <a:sym typeface="Arial"/>
              </a:rPr>
              <a:t>Step 4: </a:t>
            </a:r>
            <a:r>
              <a:rPr lang="en-US" sz="2000" dirty="0">
                <a:solidFill>
                  <a:srgbClr val="222222"/>
                </a:solidFill>
                <a:ea typeface="Arial"/>
                <a:cs typeface="Arial"/>
                <a:sym typeface="Arial"/>
              </a:rPr>
              <a:t>To create an instance of the class or object, use the </a:t>
            </a:r>
            <a:r>
              <a:rPr lang="en-US" sz="2000" b="1" dirty="0">
                <a:solidFill>
                  <a:srgbClr val="222222"/>
                </a:solidFill>
                <a:ea typeface="Arial"/>
                <a:cs typeface="Arial"/>
                <a:sym typeface="Arial"/>
              </a:rPr>
              <a:t>new</a:t>
            </a:r>
            <a:r>
              <a:rPr lang="en-US" sz="2000" dirty="0">
                <a:solidFill>
                  <a:srgbClr val="222222"/>
                </a:solidFill>
                <a:ea typeface="Arial"/>
                <a:cs typeface="Arial"/>
                <a:sym typeface="Arial"/>
              </a:rPr>
              <a:t> keyword followed by the </a:t>
            </a:r>
            <a:r>
              <a:rPr lang="en-US" sz="2000" b="1" dirty="0">
                <a:solidFill>
                  <a:srgbClr val="222222"/>
                </a:solidFill>
                <a:ea typeface="Arial"/>
                <a:cs typeface="Arial"/>
                <a:sym typeface="Arial"/>
              </a:rPr>
              <a:t>class name</a:t>
            </a:r>
            <a:r>
              <a:rPr lang="en-US" sz="2000" dirty="0">
                <a:solidFill>
                  <a:srgbClr val="222222"/>
                </a:solidFill>
                <a:ea typeface="Arial"/>
                <a:cs typeface="Arial"/>
                <a:sym typeface="Arial"/>
              </a:rPr>
              <a:t>. Here, you can create an object depending on the </a:t>
            </a:r>
            <a:r>
              <a:rPr lang="en-US" sz="2000" dirty="0" smtClean="0">
                <a:solidFill>
                  <a:srgbClr val="222222"/>
                </a:solidFill>
                <a:ea typeface="Arial"/>
                <a:cs typeface="Arial"/>
                <a:sym typeface="Arial"/>
              </a:rPr>
              <a:t>“</a:t>
            </a:r>
            <a:r>
              <a:rPr lang="en-US" sz="2000" b="1" dirty="0" smtClean="0">
                <a:solidFill>
                  <a:srgbClr val="222222"/>
                </a:solidFill>
                <a:ea typeface="Arial"/>
                <a:cs typeface="Arial"/>
                <a:sym typeface="Arial"/>
              </a:rPr>
              <a:t>Car</a:t>
            </a:r>
            <a:r>
              <a:rPr lang="en-US" sz="2000" dirty="0" smtClean="0">
                <a:solidFill>
                  <a:srgbClr val="222222"/>
                </a:solidFill>
                <a:ea typeface="Arial"/>
                <a:cs typeface="Arial"/>
                <a:sym typeface="Arial"/>
              </a:rPr>
              <a:t>” </a:t>
            </a:r>
            <a:r>
              <a:rPr lang="en-US" sz="2000" dirty="0">
                <a:solidFill>
                  <a:srgbClr val="222222"/>
                </a:solidFill>
                <a:ea typeface="Arial"/>
                <a:cs typeface="Arial"/>
                <a:sym typeface="Arial"/>
              </a:rPr>
              <a:t>class (blue print) which you have created in step 1, using the following code. </a:t>
            </a:r>
            <a:r>
              <a:rPr lang="en-US" sz="2000" b="1" dirty="0" err="1" smtClean="0">
                <a:solidFill>
                  <a:srgbClr val="222222"/>
                </a:solidFill>
                <a:ea typeface="Arial"/>
                <a:cs typeface="Arial"/>
                <a:sym typeface="Arial"/>
              </a:rPr>
              <a:t>Perodua</a:t>
            </a:r>
            <a:r>
              <a:rPr lang="en-US" sz="2000" dirty="0" smtClean="0">
                <a:solidFill>
                  <a:srgbClr val="222222"/>
                </a:solidFill>
                <a:ea typeface="Arial"/>
                <a:cs typeface="Arial"/>
                <a:sym typeface="Arial"/>
              </a:rPr>
              <a:t> </a:t>
            </a:r>
            <a:r>
              <a:rPr lang="en-US" sz="2000" dirty="0">
                <a:solidFill>
                  <a:srgbClr val="222222"/>
                </a:solidFill>
                <a:ea typeface="Arial"/>
                <a:cs typeface="Arial"/>
                <a:sym typeface="Arial"/>
              </a:rPr>
              <a:t>is the name of the object which has all </a:t>
            </a:r>
            <a:r>
              <a:rPr lang="en-US" sz="2000" b="1" dirty="0" smtClean="0">
                <a:solidFill>
                  <a:srgbClr val="222222"/>
                </a:solidFill>
                <a:ea typeface="Arial"/>
                <a:cs typeface="Arial"/>
                <a:sym typeface="Arial"/>
              </a:rPr>
              <a:t>Car</a:t>
            </a:r>
            <a:r>
              <a:rPr lang="en-US" sz="2000" dirty="0" smtClean="0">
                <a:solidFill>
                  <a:srgbClr val="222222"/>
                </a:solidFill>
                <a:ea typeface="Arial"/>
                <a:cs typeface="Arial"/>
                <a:sym typeface="Arial"/>
              </a:rPr>
              <a:t> </a:t>
            </a:r>
            <a:r>
              <a:rPr lang="en-US" sz="2000" dirty="0">
                <a:solidFill>
                  <a:srgbClr val="222222"/>
                </a:solidFill>
                <a:ea typeface="Arial"/>
                <a:cs typeface="Arial"/>
                <a:sym typeface="Arial"/>
              </a:rPr>
              <a:t>class properties or attributes values</a:t>
            </a:r>
            <a:r>
              <a:rPr lang="en-US" sz="2000" dirty="0" smtClean="0">
                <a:solidFill>
                  <a:srgbClr val="222222"/>
                </a:solidFill>
                <a:ea typeface="Arial"/>
                <a:cs typeface="Arial"/>
                <a:sym typeface="Arial"/>
              </a:rPr>
              <a:t>.</a:t>
            </a:r>
            <a:endParaRPr lang="en-US" sz="2000" dirty="0">
              <a:solidFill>
                <a:srgbClr val="222222"/>
              </a:solidFill>
              <a:ea typeface="Arial"/>
              <a:cs typeface="Arial"/>
              <a:sym typeface="Arial"/>
            </a:endParaRPr>
          </a:p>
        </p:txBody>
      </p:sp>
      <p:pic>
        <p:nvPicPr>
          <p:cNvPr id="8" name="Picture 7"/>
          <p:cNvPicPr>
            <a:picLocks noChangeAspect="1"/>
          </p:cNvPicPr>
          <p:nvPr/>
        </p:nvPicPr>
        <p:blipFill>
          <a:blip r:embed="rId4"/>
          <a:stretch>
            <a:fillRect/>
          </a:stretch>
        </p:blipFill>
        <p:spPr>
          <a:xfrm>
            <a:off x="5070688" y="1308600"/>
            <a:ext cx="4426177" cy="47309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843845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14</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551237"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Object-Oriented </a:t>
            </a:r>
            <a:r>
              <a:rPr lang="en-US" dirty="0"/>
              <a:t>Programming (OOP)</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722784" y="1453082"/>
            <a:ext cx="4129027" cy="3985706"/>
          </a:xfrm>
          <a:prstGeom prst="rect">
            <a:avLst/>
          </a:prstGeom>
        </p:spPr>
        <p:txBody>
          <a:bodyPr wrap="square">
            <a:spAutoFit/>
          </a:bodyPr>
          <a:lstStyle/>
          <a:p>
            <a:pPr marL="12700" marR="336550" lvl="0" algn="just">
              <a:lnSpc>
                <a:spcPct val="115000"/>
              </a:lnSpc>
              <a:spcBef>
                <a:spcPts val="960"/>
              </a:spcBef>
            </a:pPr>
            <a:r>
              <a:rPr lang="en-US" sz="2000" b="1" dirty="0" smtClean="0">
                <a:solidFill>
                  <a:srgbClr val="222222"/>
                </a:solidFill>
                <a:ea typeface="Arial"/>
                <a:cs typeface="Arial"/>
                <a:sym typeface="Arial"/>
              </a:rPr>
              <a:t>Step 4: </a:t>
            </a:r>
            <a:r>
              <a:rPr lang="en-US" sz="2000" dirty="0">
                <a:solidFill>
                  <a:srgbClr val="222222"/>
                </a:solidFill>
                <a:ea typeface="Arial"/>
                <a:cs typeface="Arial"/>
                <a:sym typeface="Arial"/>
              </a:rPr>
              <a:t>To create an instance of the class or object, use the </a:t>
            </a:r>
            <a:r>
              <a:rPr lang="en-US" sz="2000" b="1" dirty="0">
                <a:solidFill>
                  <a:srgbClr val="222222"/>
                </a:solidFill>
                <a:ea typeface="Arial"/>
                <a:cs typeface="Arial"/>
                <a:sym typeface="Arial"/>
              </a:rPr>
              <a:t>new</a:t>
            </a:r>
            <a:r>
              <a:rPr lang="en-US" sz="2000" dirty="0">
                <a:solidFill>
                  <a:srgbClr val="222222"/>
                </a:solidFill>
                <a:ea typeface="Arial"/>
                <a:cs typeface="Arial"/>
                <a:sym typeface="Arial"/>
              </a:rPr>
              <a:t> keyword followed by the </a:t>
            </a:r>
            <a:r>
              <a:rPr lang="en-US" sz="2000" b="1" dirty="0">
                <a:solidFill>
                  <a:srgbClr val="222222"/>
                </a:solidFill>
                <a:ea typeface="Arial"/>
                <a:cs typeface="Arial"/>
                <a:sym typeface="Arial"/>
              </a:rPr>
              <a:t>class name</a:t>
            </a:r>
            <a:r>
              <a:rPr lang="en-US" sz="2000" dirty="0">
                <a:solidFill>
                  <a:srgbClr val="222222"/>
                </a:solidFill>
                <a:ea typeface="Arial"/>
                <a:cs typeface="Arial"/>
                <a:sym typeface="Arial"/>
              </a:rPr>
              <a:t>. Here, you can create an object depending on the </a:t>
            </a:r>
            <a:r>
              <a:rPr lang="en-US" sz="2000" dirty="0" smtClean="0">
                <a:solidFill>
                  <a:srgbClr val="222222"/>
                </a:solidFill>
                <a:ea typeface="Arial"/>
                <a:cs typeface="Arial"/>
                <a:sym typeface="Arial"/>
              </a:rPr>
              <a:t>“</a:t>
            </a:r>
            <a:r>
              <a:rPr lang="en-US" sz="2000" b="1" dirty="0" smtClean="0">
                <a:solidFill>
                  <a:srgbClr val="222222"/>
                </a:solidFill>
                <a:ea typeface="Arial"/>
                <a:cs typeface="Arial"/>
                <a:sym typeface="Arial"/>
              </a:rPr>
              <a:t>Car</a:t>
            </a:r>
            <a:r>
              <a:rPr lang="en-US" sz="2000" dirty="0" smtClean="0">
                <a:solidFill>
                  <a:srgbClr val="222222"/>
                </a:solidFill>
                <a:ea typeface="Arial"/>
                <a:cs typeface="Arial"/>
                <a:sym typeface="Arial"/>
              </a:rPr>
              <a:t>” </a:t>
            </a:r>
            <a:r>
              <a:rPr lang="en-US" sz="2000" dirty="0">
                <a:solidFill>
                  <a:srgbClr val="222222"/>
                </a:solidFill>
                <a:ea typeface="Arial"/>
                <a:cs typeface="Arial"/>
                <a:sym typeface="Arial"/>
              </a:rPr>
              <a:t>class (blue print) which you have created in step 1, using the following code. </a:t>
            </a:r>
            <a:r>
              <a:rPr lang="en-US" sz="2000" b="1" dirty="0" err="1" smtClean="0">
                <a:solidFill>
                  <a:srgbClr val="222222"/>
                </a:solidFill>
                <a:ea typeface="Arial"/>
                <a:cs typeface="Arial"/>
                <a:sym typeface="Arial"/>
              </a:rPr>
              <a:t>Perodua</a:t>
            </a:r>
            <a:r>
              <a:rPr lang="en-US" sz="2000" dirty="0" smtClean="0">
                <a:solidFill>
                  <a:srgbClr val="222222"/>
                </a:solidFill>
                <a:ea typeface="Arial"/>
                <a:cs typeface="Arial"/>
                <a:sym typeface="Arial"/>
              </a:rPr>
              <a:t> </a:t>
            </a:r>
            <a:r>
              <a:rPr lang="en-US" sz="2000" dirty="0">
                <a:solidFill>
                  <a:srgbClr val="222222"/>
                </a:solidFill>
                <a:ea typeface="Arial"/>
                <a:cs typeface="Arial"/>
                <a:sym typeface="Arial"/>
              </a:rPr>
              <a:t>is the name of the object which has all </a:t>
            </a:r>
            <a:r>
              <a:rPr lang="en-US" sz="2000" b="1" dirty="0" smtClean="0">
                <a:solidFill>
                  <a:srgbClr val="222222"/>
                </a:solidFill>
                <a:ea typeface="Arial"/>
                <a:cs typeface="Arial"/>
                <a:sym typeface="Arial"/>
              </a:rPr>
              <a:t>Car</a:t>
            </a:r>
            <a:r>
              <a:rPr lang="en-US" sz="2000" dirty="0" smtClean="0">
                <a:solidFill>
                  <a:srgbClr val="222222"/>
                </a:solidFill>
                <a:ea typeface="Arial"/>
                <a:cs typeface="Arial"/>
                <a:sym typeface="Arial"/>
              </a:rPr>
              <a:t> </a:t>
            </a:r>
            <a:r>
              <a:rPr lang="en-US" sz="2000" dirty="0">
                <a:solidFill>
                  <a:srgbClr val="222222"/>
                </a:solidFill>
                <a:ea typeface="Arial"/>
                <a:cs typeface="Arial"/>
                <a:sym typeface="Arial"/>
              </a:rPr>
              <a:t>class properties or attributes values</a:t>
            </a:r>
            <a:r>
              <a:rPr lang="en-US" sz="2000" dirty="0" smtClean="0">
                <a:solidFill>
                  <a:srgbClr val="222222"/>
                </a:solidFill>
                <a:ea typeface="Arial"/>
                <a:cs typeface="Arial"/>
                <a:sym typeface="Arial"/>
              </a:rPr>
              <a:t>.</a:t>
            </a:r>
            <a:endParaRPr lang="en-US" sz="2000" dirty="0">
              <a:solidFill>
                <a:srgbClr val="222222"/>
              </a:solidFill>
              <a:ea typeface="Arial"/>
              <a:cs typeface="Arial"/>
              <a:sym typeface="Arial"/>
            </a:endParaRPr>
          </a:p>
        </p:txBody>
      </p:sp>
      <p:pic>
        <p:nvPicPr>
          <p:cNvPr id="8" name="Picture 7"/>
          <p:cNvPicPr>
            <a:picLocks noChangeAspect="1"/>
          </p:cNvPicPr>
          <p:nvPr/>
        </p:nvPicPr>
        <p:blipFill>
          <a:blip r:embed="rId4"/>
          <a:stretch>
            <a:fillRect/>
          </a:stretch>
        </p:blipFill>
        <p:spPr>
          <a:xfrm>
            <a:off x="5070688" y="1308600"/>
            <a:ext cx="4426177" cy="47309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782424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15</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551237"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Object-Oriented </a:t>
            </a:r>
            <a:r>
              <a:rPr lang="en-US" dirty="0"/>
              <a:t>Programming (OOP)</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graphicFrame>
        <p:nvGraphicFramePr>
          <p:cNvPr id="6" name="Table 5"/>
          <p:cNvGraphicFramePr>
            <a:graphicFrameLocks noGrp="1"/>
          </p:cNvGraphicFramePr>
          <p:nvPr>
            <p:extLst>
              <p:ext uri="{D42A27DB-BD31-4B8C-83A1-F6EECF244321}">
                <p14:modId xmlns:p14="http://schemas.microsoft.com/office/powerpoint/2010/main" val="1866901963"/>
              </p:ext>
            </p:extLst>
          </p:nvPr>
        </p:nvGraphicFramePr>
        <p:xfrm>
          <a:off x="2430988" y="1205224"/>
          <a:ext cx="7231485" cy="5303520"/>
        </p:xfrm>
        <a:graphic>
          <a:graphicData uri="http://schemas.openxmlformats.org/drawingml/2006/table">
            <a:tbl>
              <a:tblPr firstRow="1" bandRow="1">
                <a:tableStyleId>{073A0DAA-6AF3-43AB-8588-CEC1D06C72B9}</a:tableStyleId>
              </a:tblPr>
              <a:tblGrid>
                <a:gridCol w="7231485">
                  <a:extLst>
                    <a:ext uri="{9D8B030D-6E8A-4147-A177-3AD203B41FA5}">
                      <a16:colId xmlns:a16="http://schemas.microsoft.com/office/drawing/2014/main" val="602563764"/>
                    </a:ext>
                  </a:extLst>
                </a:gridCol>
              </a:tblGrid>
              <a:tr h="5114553">
                <a:tc>
                  <a:txBody>
                    <a:bodyPr/>
                    <a:lstStyle/>
                    <a:p>
                      <a:r>
                        <a:rPr lang="en-US" dirty="0" smtClean="0">
                          <a:solidFill>
                            <a:srgbClr val="569CD6"/>
                          </a:solidFill>
                          <a:latin typeface="Consolas" panose="020B0609020204030204" pitchFamily="49" charset="0"/>
                        </a:rPr>
                        <a:t>class</a:t>
                      </a:r>
                      <a:r>
                        <a:rPr lang="en-US" dirty="0" smtClean="0">
                          <a:solidFill>
                            <a:srgbClr val="CCCCCC"/>
                          </a:solidFill>
                          <a:latin typeface="Consolas" panose="020B0609020204030204" pitchFamily="49" charset="0"/>
                        </a:rPr>
                        <a:t> </a:t>
                      </a:r>
                      <a:r>
                        <a:rPr lang="en-US" dirty="0" smtClean="0">
                          <a:solidFill>
                            <a:srgbClr val="4EC9B0"/>
                          </a:solidFill>
                          <a:latin typeface="Consolas" panose="020B0609020204030204" pitchFamily="49" charset="0"/>
                        </a:rPr>
                        <a:t>Car</a:t>
                      </a:r>
                      <a:r>
                        <a:rPr lang="en-US" dirty="0" smtClean="0">
                          <a:solidFill>
                            <a:srgbClr val="CCCCCC"/>
                          </a:solidFill>
                          <a:latin typeface="Consolas" panose="020B0609020204030204" pitchFamily="49" charset="0"/>
                        </a:rPr>
                        <a:t> {</a:t>
                      </a:r>
                    </a:p>
                    <a:p>
                      <a:r>
                        <a:rPr lang="en-US" dirty="0" smtClean="0">
                          <a:solidFill>
                            <a:srgbClr val="CCCCCC"/>
                          </a:solidFill>
                          <a:latin typeface="Consolas" panose="020B0609020204030204" pitchFamily="49" charset="0"/>
                        </a:rPr>
                        <a:t>  </a:t>
                      </a:r>
                      <a:r>
                        <a:rPr lang="en-US" dirty="0" smtClean="0">
                          <a:solidFill>
                            <a:srgbClr val="569CD6"/>
                          </a:solidFill>
                          <a:latin typeface="Consolas" panose="020B0609020204030204" pitchFamily="49" charset="0"/>
                        </a:rPr>
                        <a:t>late</a:t>
                      </a:r>
                      <a:r>
                        <a:rPr lang="en-US" dirty="0" smtClean="0">
                          <a:solidFill>
                            <a:srgbClr val="CCCCCC"/>
                          </a:solidFill>
                          <a:latin typeface="Consolas" panose="020B0609020204030204" pitchFamily="49" charset="0"/>
                        </a:rPr>
                        <a:t> </a:t>
                      </a:r>
                      <a:r>
                        <a:rPr lang="en-US" dirty="0" smtClean="0">
                          <a:solidFill>
                            <a:srgbClr val="4EC9B0"/>
                          </a:solidFill>
                          <a:latin typeface="Consolas" panose="020B0609020204030204" pitchFamily="49" charset="0"/>
                        </a:rPr>
                        <a:t>String</a:t>
                      </a:r>
                      <a:r>
                        <a:rPr lang="en-US" dirty="0" smtClean="0">
                          <a:solidFill>
                            <a:srgbClr val="CCCCCC"/>
                          </a:solidFill>
                          <a:latin typeface="Consolas" panose="020B0609020204030204" pitchFamily="49" charset="0"/>
                        </a:rPr>
                        <a:t> </a:t>
                      </a:r>
                      <a:r>
                        <a:rPr lang="en-US" dirty="0" smtClean="0">
                          <a:solidFill>
                            <a:srgbClr val="9CDCFE"/>
                          </a:solidFill>
                          <a:latin typeface="Consolas" panose="020B0609020204030204" pitchFamily="49" charset="0"/>
                        </a:rPr>
                        <a:t>Model</a:t>
                      </a:r>
                      <a:r>
                        <a:rPr lang="en-US" dirty="0" smtClean="0">
                          <a:solidFill>
                            <a:srgbClr val="CCCCCC"/>
                          </a:solidFill>
                          <a:latin typeface="Consolas" panose="020B0609020204030204" pitchFamily="49" charset="0"/>
                        </a:rPr>
                        <a:t>;</a:t>
                      </a:r>
                    </a:p>
                    <a:p>
                      <a:r>
                        <a:rPr lang="en-US" dirty="0" smtClean="0">
                          <a:solidFill>
                            <a:srgbClr val="CCCCCC"/>
                          </a:solidFill>
                          <a:latin typeface="Consolas" panose="020B0609020204030204" pitchFamily="49" charset="0"/>
                        </a:rPr>
                        <a:t>  </a:t>
                      </a:r>
                      <a:r>
                        <a:rPr lang="en-US" dirty="0" smtClean="0">
                          <a:solidFill>
                            <a:srgbClr val="569CD6"/>
                          </a:solidFill>
                          <a:latin typeface="Consolas" panose="020B0609020204030204" pitchFamily="49" charset="0"/>
                        </a:rPr>
                        <a:t>late</a:t>
                      </a:r>
                      <a:r>
                        <a:rPr lang="en-US" dirty="0" smtClean="0">
                          <a:solidFill>
                            <a:srgbClr val="CCCCCC"/>
                          </a:solidFill>
                          <a:latin typeface="Consolas" panose="020B0609020204030204" pitchFamily="49" charset="0"/>
                        </a:rPr>
                        <a:t> </a:t>
                      </a:r>
                      <a:r>
                        <a:rPr lang="en-US" dirty="0" smtClean="0">
                          <a:solidFill>
                            <a:srgbClr val="4EC9B0"/>
                          </a:solidFill>
                          <a:latin typeface="Consolas" panose="020B0609020204030204" pitchFamily="49" charset="0"/>
                        </a:rPr>
                        <a:t>String</a:t>
                      </a:r>
                      <a:r>
                        <a:rPr lang="en-US" dirty="0" smtClean="0">
                          <a:solidFill>
                            <a:srgbClr val="CCCCCC"/>
                          </a:solidFill>
                          <a:latin typeface="Consolas" panose="020B0609020204030204" pitchFamily="49" charset="0"/>
                        </a:rPr>
                        <a:t> </a:t>
                      </a:r>
                      <a:r>
                        <a:rPr lang="en-US" dirty="0" smtClean="0">
                          <a:solidFill>
                            <a:srgbClr val="9CDCFE"/>
                          </a:solidFill>
                          <a:latin typeface="Consolas" panose="020B0609020204030204" pitchFamily="49" charset="0"/>
                        </a:rPr>
                        <a:t>Color</a:t>
                      </a:r>
                      <a:r>
                        <a:rPr lang="en-US" dirty="0" smtClean="0">
                          <a:solidFill>
                            <a:srgbClr val="CCCCCC"/>
                          </a:solidFill>
                          <a:latin typeface="Consolas" panose="020B0609020204030204" pitchFamily="49" charset="0"/>
                        </a:rPr>
                        <a:t>;</a:t>
                      </a:r>
                    </a:p>
                    <a:p>
                      <a:r>
                        <a:rPr lang="en-US" dirty="0" smtClean="0">
                          <a:solidFill>
                            <a:srgbClr val="CCCCCC"/>
                          </a:solidFill>
                          <a:latin typeface="Consolas" panose="020B0609020204030204" pitchFamily="49" charset="0"/>
                        </a:rPr>
                        <a:t>  </a:t>
                      </a:r>
                      <a:r>
                        <a:rPr lang="en-US" dirty="0" smtClean="0">
                          <a:solidFill>
                            <a:srgbClr val="569CD6"/>
                          </a:solidFill>
                          <a:latin typeface="Consolas" panose="020B0609020204030204" pitchFamily="49" charset="0"/>
                        </a:rPr>
                        <a:t>late</a:t>
                      </a:r>
                      <a:r>
                        <a:rPr lang="en-US" dirty="0" smtClean="0">
                          <a:solidFill>
                            <a:srgbClr val="CCCCCC"/>
                          </a:solidFill>
                          <a:latin typeface="Consolas" panose="020B0609020204030204" pitchFamily="49" charset="0"/>
                        </a:rPr>
                        <a:t> </a:t>
                      </a:r>
                      <a:r>
                        <a:rPr lang="en-US" dirty="0" smtClean="0">
                          <a:solidFill>
                            <a:srgbClr val="4EC9B0"/>
                          </a:solidFill>
                          <a:latin typeface="Consolas" panose="020B0609020204030204" pitchFamily="49" charset="0"/>
                        </a:rPr>
                        <a:t>String</a:t>
                      </a:r>
                      <a:r>
                        <a:rPr lang="en-US" dirty="0" smtClean="0">
                          <a:solidFill>
                            <a:srgbClr val="CCCCCC"/>
                          </a:solidFill>
                          <a:latin typeface="Consolas" panose="020B0609020204030204" pitchFamily="49" charset="0"/>
                        </a:rPr>
                        <a:t> </a:t>
                      </a:r>
                      <a:r>
                        <a:rPr lang="en-US" dirty="0" err="1" smtClean="0">
                          <a:solidFill>
                            <a:srgbClr val="9CDCFE"/>
                          </a:solidFill>
                          <a:latin typeface="Consolas" panose="020B0609020204030204" pitchFamily="49" charset="0"/>
                        </a:rPr>
                        <a:t>MaxSpeed</a:t>
                      </a:r>
                      <a:r>
                        <a:rPr lang="en-US" dirty="0" smtClean="0">
                          <a:solidFill>
                            <a:srgbClr val="CCCCCC"/>
                          </a:solidFill>
                          <a:latin typeface="Consolas" panose="020B0609020204030204" pitchFamily="49" charset="0"/>
                        </a:rPr>
                        <a:t>;</a:t>
                      </a:r>
                    </a:p>
                    <a:p>
                      <a:r>
                        <a:rPr lang="en-US" dirty="0" smtClean="0">
                          <a:solidFill>
                            <a:srgbClr val="CCCCCC"/>
                          </a:solidFill>
                          <a:latin typeface="Consolas" panose="020B0609020204030204" pitchFamily="49" charset="0"/>
                        </a:rPr>
                        <a:t>  </a:t>
                      </a:r>
                      <a:r>
                        <a:rPr lang="en-US" dirty="0" smtClean="0">
                          <a:solidFill>
                            <a:srgbClr val="569CD6"/>
                          </a:solidFill>
                          <a:latin typeface="Consolas" panose="020B0609020204030204" pitchFamily="49" charset="0"/>
                        </a:rPr>
                        <a:t>late</a:t>
                      </a:r>
                      <a:r>
                        <a:rPr lang="en-US" dirty="0" smtClean="0">
                          <a:solidFill>
                            <a:srgbClr val="CCCCCC"/>
                          </a:solidFill>
                          <a:latin typeface="Consolas" panose="020B0609020204030204" pitchFamily="49" charset="0"/>
                        </a:rPr>
                        <a:t> </a:t>
                      </a:r>
                      <a:r>
                        <a:rPr lang="en-US" dirty="0" smtClean="0">
                          <a:solidFill>
                            <a:srgbClr val="4EC9B0"/>
                          </a:solidFill>
                          <a:latin typeface="Consolas" panose="020B0609020204030204" pitchFamily="49" charset="0"/>
                        </a:rPr>
                        <a:t>String</a:t>
                      </a:r>
                      <a:r>
                        <a:rPr lang="en-US" dirty="0" smtClean="0">
                          <a:solidFill>
                            <a:srgbClr val="CCCCCC"/>
                          </a:solidFill>
                          <a:latin typeface="Consolas" panose="020B0609020204030204" pitchFamily="49" charset="0"/>
                        </a:rPr>
                        <a:t> </a:t>
                      </a:r>
                      <a:r>
                        <a:rPr lang="en-US" dirty="0" err="1" smtClean="0">
                          <a:solidFill>
                            <a:srgbClr val="9CDCFE"/>
                          </a:solidFill>
                          <a:latin typeface="Consolas" panose="020B0609020204030204" pitchFamily="49" charset="0"/>
                        </a:rPr>
                        <a:t>NumOfSeats</a:t>
                      </a:r>
                      <a:r>
                        <a:rPr lang="en-US" dirty="0" smtClean="0">
                          <a:solidFill>
                            <a:srgbClr val="CCCCCC"/>
                          </a:solidFill>
                          <a:latin typeface="Consolas" panose="020B0609020204030204" pitchFamily="49" charset="0"/>
                        </a:rPr>
                        <a:t>;</a:t>
                      </a:r>
                    </a:p>
                    <a:p>
                      <a:r>
                        <a:rPr lang="en-US" dirty="0" smtClean="0">
                          <a:solidFill>
                            <a:srgbClr val="CCCCCC"/>
                          </a:solidFill>
                          <a:latin typeface="Consolas" panose="020B0609020204030204" pitchFamily="49" charset="0"/>
                        </a:rPr>
                        <a:t>}</a:t>
                      </a:r>
                    </a:p>
                    <a:p>
                      <a:endParaRPr lang="en-US" dirty="0" smtClean="0">
                        <a:solidFill>
                          <a:srgbClr val="CCCCCC"/>
                        </a:solidFill>
                        <a:latin typeface="Consolas" panose="020B0609020204030204" pitchFamily="49" charset="0"/>
                      </a:endParaRPr>
                    </a:p>
                    <a:p>
                      <a:r>
                        <a:rPr lang="en-US" dirty="0" smtClean="0">
                          <a:solidFill>
                            <a:srgbClr val="569CD6"/>
                          </a:solidFill>
                          <a:latin typeface="Consolas" panose="020B0609020204030204" pitchFamily="49" charset="0"/>
                        </a:rPr>
                        <a:t>void</a:t>
                      </a:r>
                      <a:r>
                        <a:rPr lang="en-US" dirty="0" smtClean="0">
                          <a:solidFill>
                            <a:srgbClr val="CCCCCC"/>
                          </a:solidFill>
                          <a:latin typeface="Consolas" panose="020B0609020204030204" pitchFamily="49" charset="0"/>
                        </a:rPr>
                        <a:t> </a:t>
                      </a:r>
                      <a:r>
                        <a:rPr lang="en-US" dirty="0" smtClean="0">
                          <a:solidFill>
                            <a:srgbClr val="DCDCAA"/>
                          </a:solidFill>
                          <a:latin typeface="Consolas" panose="020B0609020204030204" pitchFamily="49" charset="0"/>
                        </a:rPr>
                        <a:t>main</a:t>
                      </a:r>
                      <a:r>
                        <a:rPr lang="en-US" dirty="0" smtClean="0">
                          <a:solidFill>
                            <a:srgbClr val="CCCCCC"/>
                          </a:solidFill>
                          <a:latin typeface="Consolas" panose="020B0609020204030204" pitchFamily="49" charset="0"/>
                        </a:rPr>
                        <a:t>(){</a:t>
                      </a:r>
                    </a:p>
                    <a:p>
                      <a:r>
                        <a:rPr lang="en-US" dirty="0" smtClean="0">
                          <a:solidFill>
                            <a:srgbClr val="CCCCCC"/>
                          </a:solidFill>
                          <a:latin typeface="Consolas" panose="020B0609020204030204" pitchFamily="49" charset="0"/>
                        </a:rPr>
                        <a:t>    </a:t>
                      </a:r>
                      <a:r>
                        <a:rPr lang="en-US" dirty="0" err="1" smtClean="0">
                          <a:solidFill>
                            <a:srgbClr val="569CD6"/>
                          </a:solidFill>
                          <a:latin typeface="Consolas" panose="020B0609020204030204" pitchFamily="49" charset="0"/>
                        </a:rPr>
                        <a:t>var</a:t>
                      </a:r>
                      <a:r>
                        <a:rPr lang="en-US" dirty="0" smtClean="0">
                          <a:solidFill>
                            <a:srgbClr val="CCCCCC"/>
                          </a:solidFill>
                          <a:latin typeface="Consolas" panose="020B0609020204030204" pitchFamily="49" charset="0"/>
                        </a:rPr>
                        <a:t> </a:t>
                      </a:r>
                      <a:r>
                        <a:rPr lang="en-US" dirty="0" err="1" smtClean="0">
                          <a:solidFill>
                            <a:srgbClr val="9CDCFE"/>
                          </a:solidFill>
                          <a:latin typeface="Consolas" panose="020B0609020204030204" pitchFamily="49" charset="0"/>
                        </a:rPr>
                        <a:t>Perodua</a:t>
                      </a:r>
                      <a:r>
                        <a:rPr lang="en-US" dirty="0" smtClean="0">
                          <a:solidFill>
                            <a:srgbClr val="CCCCCC"/>
                          </a:solidFill>
                          <a:latin typeface="Consolas" panose="020B0609020204030204" pitchFamily="49" charset="0"/>
                        </a:rPr>
                        <a:t> </a:t>
                      </a:r>
                      <a:r>
                        <a:rPr lang="en-US" dirty="0" smtClean="0">
                          <a:solidFill>
                            <a:srgbClr val="D4D4D4"/>
                          </a:solidFill>
                          <a:latin typeface="Consolas" panose="020B0609020204030204" pitchFamily="49" charset="0"/>
                        </a:rPr>
                        <a:t>=</a:t>
                      </a:r>
                      <a:r>
                        <a:rPr lang="en-US" dirty="0" smtClean="0">
                          <a:solidFill>
                            <a:srgbClr val="CCCCCC"/>
                          </a:solidFill>
                          <a:latin typeface="Consolas" panose="020B0609020204030204" pitchFamily="49" charset="0"/>
                        </a:rPr>
                        <a:t> </a:t>
                      </a:r>
                      <a:r>
                        <a:rPr lang="en-US" dirty="0" smtClean="0">
                          <a:solidFill>
                            <a:srgbClr val="569CD6"/>
                          </a:solidFill>
                          <a:latin typeface="Consolas" panose="020B0609020204030204" pitchFamily="49" charset="0"/>
                        </a:rPr>
                        <a:t>new</a:t>
                      </a:r>
                      <a:r>
                        <a:rPr lang="en-US" dirty="0" smtClean="0">
                          <a:solidFill>
                            <a:srgbClr val="CCCCCC"/>
                          </a:solidFill>
                          <a:latin typeface="Consolas" panose="020B0609020204030204" pitchFamily="49" charset="0"/>
                        </a:rPr>
                        <a:t> </a:t>
                      </a:r>
                      <a:r>
                        <a:rPr lang="en-US" dirty="0" smtClean="0">
                          <a:solidFill>
                            <a:srgbClr val="4EC9B0"/>
                          </a:solidFill>
                          <a:latin typeface="Consolas" panose="020B0609020204030204" pitchFamily="49" charset="0"/>
                        </a:rPr>
                        <a:t>Car</a:t>
                      </a:r>
                      <a:r>
                        <a:rPr lang="en-US" dirty="0" smtClean="0">
                          <a:solidFill>
                            <a:srgbClr val="CCCCCC"/>
                          </a:solidFill>
                          <a:latin typeface="Consolas" panose="020B0609020204030204" pitchFamily="49" charset="0"/>
                        </a:rPr>
                        <a:t>();</a:t>
                      </a:r>
                    </a:p>
                    <a:p>
                      <a:r>
                        <a:rPr lang="en-US" dirty="0" smtClean="0">
                          <a:solidFill>
                            <a:srgbClr val="CCCCCC"/>
                          </a:solidFill>
                          <a:latin typeface="Consolas" panose="020B0609020204030204" pitchFamily="49" charset="0"/>
                        </a:rPr>
                        <a:t/>
                      </a:r>
                      <a:br>
                        <a:rPr lang="en-US" dirty="0" smtClean="0">
                          <a:solidFill>
                            <a:srgbClr val="CCCCCC"/>
                          </a:solidFill>
                          <a:latin typeface="Consolas" panose="020B0609020204030204" pitchFamily="49" charset="0"/>
                        </a:rPr>
                      </a:br>
                      <a:r>
                        <a:rPr lang="en-US" dirty="0" smtClean="0">
                          <a:solidFill>
                            <a:srgbClr val="CCCCCC"/>
                          </a:solidFill>
                          <a:latin typeface="Consolas" panose="020B0609020204030204" pitchFamily="49" charset="0"/>
                        </a:rPr>
                        <a:t>    </a:t>
                      </a:r>
                      <a:r>
                        <a:rPr lang="en-US" dirty="0" err="1" smtClean="0">
                          <a:solidFill>
                            <a:srgbClr val="9CDCFE"/>
                          </a:solidFill>
                          <a:latin typeface="Consolas" panose="020B0609020204030204" pitchFamily="49" charset="0"/>
                        </a:rPr>
                        <a:t>Perodua</a:t>
                      </a:r>
                      <a:r>
                        <a:rPr lang="en-US" dirty="0" err="1" smtClean="0">
                          <a:solidFill>
                            <a:srgbClr val="CCCCCC"/>
                          </a:solidFill>
                          <a:latin typeface="Consolas" panose="020B0609020204030204" pitchFamily="49" charset="0"/>
                        </a:rPr>
                        <a:t>.</a:t>
                      </a:r>
                      <a:r>
                        <a:rPr lang="en-US" dirty="0" err="1" smtClean="0">
                          <a:solidFill>
                            <a:srgbClr val="9CDCFE"/>
                          </a:solidFill>
                          <a:latin typeface="Consolas" panose="020B0609020204030204" pitchFamily="49" charset="0"/>
                        </a:rPr>
                        <a:t>Model</a:t>
                      </a:r>
                      <a:r>
                        <a:rPr lang="en-US" dirty="0" smtClean="0">
                          <a:solidFill>
                            <a:srgbClr val="CCCCCC"/>
                          </a:solidFill>
                          <a:latin typeface="Consolas" panose="020B0609020204030204" pitchFamily="49" charset="0"/>
                        </a:rPr>
                        <a:t> </a:t>
                      </a:r>
                      <a:r>
                        <a:rPr lang="en-US" dirty="0" smtClean="0">
                          <a:solidFill>
                            <a:srgbClr val="D4D4D4"/>
                          </a:solidFill>
                          <a:latin typeface="Consolas" panose="020B0609020204030204" pitchFamily="49" charset="0"/>
                        </a:rPr>
                        <a:t>=</a:t>
                      </a:r>
                      <a:r>
                        <a:rPr lang="en-US" dirty="0" smtClean="0">
                          <a:solidFill>
                            <a:srgbClr val="CCCCCC"/>
                          </a:solidFill>
                          <a:latin typeface="Consolas" panose="020B0609020204030204" pitchFamily="49" charset="0"/>
                        </a:rPr>
                        <a:t> </a:t>
                      </a:r>
                      <a:r>
                        <a:rPr lang="en-US" dirty="0" smtClean="0">
                          <a:solidFill>
                            <a:srgbClr val="CE9178"/>
                          </a:solidFill>
                          <a:latin typeface="Consolas" panose="020B0609020204030204" pitchFamily="49" charset="0"/>
                        </a:rPr>
                        <a:t>"</a:t>
                      </a:r>
                      <a:r>
                        <a:rPr lang="en-US" dirty="0" err="1" smtClean="0">
                          <a:solidFill>
                            <a:srgbClr val="CE9178"/>
                          </a:solidFill>
                          <a:latin typeface="Consolas" panose="020B0609020204030204" pitchFamily="49" charset="0"/>
                        </a:rPr>
                        <a:t>Bezza</a:t>
                      </a:r>
                      <a:r>
                        <a:rPr lang="en-US" dirty="0" smtClean="0">
                          <a:solidFill>
                            <a:srgbClr val="CE9178"/>
                          </a:solidFill>
                          <a:latin typeface="Consolas" panose="020B0609020204030204" pitchFamily="49" charset="0"/>
                        </a:rPr>
                        <a:t>"</a:t>
                      </a:r>
                      <a:r>
                        <a:rPr lang="en-US" dirty="0" smtClean="0">
                          <a:solidFill>
                            <a:srgbClr val="CCCCCC"/>
                          </a:solidFill>
                          <a:latin typeface="Consolas" panose="020B0609020204030204" pitchFamily="49" charset="0"/>
                        </a:rPr>
                        <a:t>;</a:t>
                      </a:r>
                    </a:p>
                    <a:p>
                      <a:r>
                        <a:rPr lang="en-US" dirty="0" smtClean="0">
                          <a:solidFill>
                            <a:srgbClr val="CCCCCC"/>
                          </a:solidFill>
                          <a:latin typeface="Consolas" panose="020B0609020204030204" pitchFamily="49" charset="0"/>
                        </a:rPr>
                        <a:t>    </a:t>
                      </a:r>
                      <a:r>
                        <a:rPr lang="en-US" dirty="0" err="1" smtClean="0">
                          <a:solidFill>
                            <a:srgbClr val="9CDCFE"/>
                          </a:solidFill>
                          <a:latin typeface="Consolas" panose="020B0609020204030204" pitchFamily="49" charset="0"/>
                        </a:rPr>
                        <a:t>Perodua</a:t>
                      </a:r>
                      <a:r>
                        <a:rPr lang="en-US" dirty="0" err="1" smtClean="0">
                          <a:solidFill>
                            <a:srgbClr val="CCCCCC"/>
                          </a:solidFill>
                          <a:latin typeface="Consolas" panose="020B0609020204030204" pitchFamily="49" charset="0"/>
                        </a:rPr>
                        <a:t>.</a:t>
                      </a:r>
                      <a:r>
                        <a:rPr lang="en-US" dirty="0" err="1" smtClean="0">
                          <a:solidFill>
                            <a:srgbClr val="9CDCFE"/>
                          </a:solidFill>
                          <a:latin typeface="Consolas" panose="020B0609020204030204" pitchFamily="49" charset="0"/>
                        </a:rPr>
                        <a:t>Color</a:t>
                      </a:r>
                      <a:r>
                        <a:rPr lang="en-US" dirty="0" smtClean="0">
                          <a:solidFill>
                            <a:srgbClr val="CCCCCC"/>
                          </a:solidFill>
                          <a:latin typeface="Consolas" panose="020B0609020204030204" pitchFamily="49" charset="0"/>
                        </a:rPr>
                        <a:t> </a:t>
                      </a:r>
                      <a:r>
                        <a:rPr lang="en-US" dirty="0" smtClean="0">
                          <a:solidFill>
                            <a:srgbClr val="D4D4D4"/>
                          </a:solidFill>
                          <a:latin typeface="Consolas" panose="020B0609020204030204" pitchFamily="49" charset="0"/>
                        </a:rPr>
                        <a:t>=</a:t>
                      </a:r>
                      <a:r>
                        <a:rPr lang="en-US" dirty="0" smtClean="0">
                          <a:solidFill>
                            <a:srgbClr val="CCCCCC"/>
                          </a:solidFill>
                          <a:latin typeface="Consolas" panose="020B0609020204030204" pitchFamily="49" charset="0"/>
                        </a:rPr>
                        <a:t> </a:t>
                      </a:r>
                      <a:r>
                        <a:rPr lang="en-US" dirty="0" smtClean="0">
                          <a:solidFill>
                            <a:srgbClr val="CE9178"/>
                          </a:solidFill>
                          <a:latin typeface="Consolas" panose="020B0609020204030204" pitchFamily="49" charset="0"/>
                        </a:rPr>
                        <a:t>"Silver"</a:t>
                      </a:r>
                      <a:r>
                        <a:rPr lang="en-US" dirty="0" smtClean="0">
                          <a:solidFill>
                            <a:srgbClr val="CCCCCC"/>
                          </a:solidFill>
                          <a:latin typeface="Consolas" panose="020B0609020204030204" pitchFamily="49" charset="0"/>
                        </a:rPr>
                        <a:t>;</a:t>
                      </a:r>
                    </a:p>
                    <a:p>
                      <a:r>
                        <a:rPr lang="en-US" dirty="0" smtClean="0">
                          <a:solidFill>
                            <a:srgbClr val="CCCCCC"/>
                          </a:solidFill>
                          <a:latin typeface="Consolas" panose="020B0609020204030204" pitchFamily="49" charset="0"/>
                        </a:rPr>
                        <a:t>    </a:t>
                      </a:r>
                      <a:r>
                        <a:rPr lang="en-US" dirty="0" err="1" smtClean="0">
                          <a:solidFill>
                            <a:srgbClr val="9CDCFE"/>
                          </a:solidFill>
                          <a:latin typeface="Consolas" panose="020B0609020204030204" pitchFamily="49" charset="0"/>
                        </a:rPr>
                        <a:t>Perodua</a:t>
                      </a:r>
                      <a:r>
                        <a:rPr lang="en-US" dirty="0" err="1" smtClean="0">
                          <a:solidFill>
                            <a:srgbClr val="CCCCCC"/>
                          </a:solidFill>
                          <a:latin typeface="Consolas" panose="020B0609020204030204" pitchFamily="49" charset="0"/>
                        </a:rPr>
                        <a:t>.</a:t>
                      </a:r>
                      <a:r>
                        <a:rPr lang="en-US" dirty="0" err="1" smtClean="0">
                          <a:solidFill>
                            <a:srgbClr val="9CDCFE"/>
                          </a:solidFill>
                          <a:latin typeface="Consolas" panose="020B0609020204030204" pitchFamily="49" charset="0"/>
                        </a:rPr>
                        <a:t>MaxSpeed</a:t>
                      </a:r>
                      <a:r>
                        <a:rPr lang="en-US" dirty="0" smtClean="0">
                          <a:solidFill>
                            <a:srgbClr val="CCCCCC"/>
                          </a:solidFill>
                          <a:latin typeface="Consolas" panose="020B0609020204030204" pitchFamily="49" charset="0"/>
                        </a:rPr>
                        <a:t> </a:t>
                      </a:r>
                      <a:r>
                        <a:rPr lang="en-US" dirty="0" smtClean="0">
                          <a:solidFill>
                            <a:srgbClr val="D4D4D4"/>
                          </a:solidFill>
                          <a:latin typeface="Consolas" panose="020B0609020204030204" pitchFamily="49" charset="0"/>
                        </a:rPr>
                        <a:t>=</a:t>
                      </a:r>
                      <a:r>
                        <a:rPr lang="en-US" dirty="0" smtClean="0">
                          <a:solidFill>
                            <a:srgbClr val="CCCCCC"/>
                          </a:solidFill>
                          <a:latin typeface="Consolas" panose="020B0609020204030204" pitchFamily="49" charset="0"/>
                        </a:rPr>
                        <a:t> </a:t>
                      </a:r>
                      <a:r>
                        <a:rPr lang="en-US" dirty="0" smtClean="0">
                          <a:solidFill>
                            <a:srgbClr val="CE9178"/>
                          </a:solidFill>
                          <a:latin typeface="Consolas" panose="020B0609020204030204" pitchFamily="49" charset="0"/>
                        </a:rPr>
                        <a:t>'120KM/h'</a:t>
                      </a:r>
                      <a:r>
                        <a:rPr lang="en-US" dirty="0" smtClean="0">
                          <a:solidFill>
                            <a:srgbClr val="CCCCCC"/>
                          </a:solidFill>
                          <a:latin typeface="Consolas" panose="020B0609020204030204" pitchFamily="49" charset="0"/>
                        </a:rPr>
                        <a:t>;</a:t>
                      </a:r>
                    </a:p>
                    <a:p>
                      <a:r>
                        <a:rPr lang="en-US" dirty="0" smtClean="0">
                          <a:solidFill>
                            <a:srgbClr val="CCCCCC"/>
                          </a:solidFill>
                          <a:latin typeface="Consolas" panose="020B0609020204030204" pitchFamily="49" charset="0"/>
                        </a:rPr>
                        <a:t>    </a:t>
                      </a:r>
                      <a:r>
                        <a:rPr lang="en-US" dirty="0" err="1" smtClean="0">
                          <a:solidFill>
                            <a:srgbClr val="9CDCFE"/>
                          </a:solidFill>
                          <a:latin typeface="Consolas" panose="020B0609020204030204" pitchFamily="49" charset="0"/>
                        </a:rPr>
                        <a:t>Perodua</a:t>
                      </a:r>
                      <a:r>
                        <a:rPr lang="en-US" dirty="0" err="1" smtClean="0">
                          <a:solidFill>
                            <a:srgbClr val="CCCCCC"/>
                          </a:solidFill>
                          <a:latin typeface="Consolas" panose="020B0609020204030204" pitchFamily="49" charset="0"/>
                        </a:rPr>
                        <a:t>.</a:t>
                      </a:r>
                      <a:r>
                        <a:rPr lang="en-US" dirty="0" err="1" smtClean="0">
                          <a:solidFill>
                            <a:srgbClr val="9CDCFE"/>
                          </a:solidFill>
                          <a:latin typeface="Consolas" panose="020B0609020204030204" pitchFamily="49" charset="0"/>
                        </a:rPr>
                        <a:t>NumOfSeats</a:t>
                      </a:r>
                      <a:r>
                        <a:rPr lang="en-US" dirty="0" smtClean="0">
                          <a:solidFill>
                            <a:srgbClr val="CCCCCC"/>
                          </a:solidFill>
                          <a:latin typeface="Consolas" panose="020B0609020204030204" pitchFamily="49" charset="0"/>
                        </a:rPr>
                        <a:t> </a:t>
                      </a:r>
                      <a:r>
                        <a:rPr lang="en-US" dirty="0" smtClean="0">
                          <a:solidFill>
                            <a:srgbClr val="D4D4D4"/>
                          </a:solidFill>
                          <a:latin typeface="Consolas" panose="020B0609020204030204" pitchFamily="49" charset="0"/>
                        </a:rPr>
                        <a:t>=</a:t>
                      </a:r>
                      <a:r>
                        <a:rPr lang="en-US" dirty="0" smtClean="0">
                          <a:solidFill>
                            <a:srgbClr val="CCCCCC"/>
                          </a:solidFill>
                          <a:latin typeface="Consolas" panose="020B0609020204030204" pitchFamily="49" charset="0"/>
                        </a:rPr>
                        <a:t> </a:t>
                      </a:r>
                      <a:r>
                        <a:rPr lang="en-US" dirty="0" smtClean="0">
                          <a:solidFill>
                            <a:srgbClr val="CE9178"/>
                          </a:solidFill>
                          <a:latin typeface="Consolas" panose="020B0609020204030204" pitchFamily="49" charset="0"/>
                        </a:rPr>
                        <a:t>'5'</a:t>
                      </a:r>
                      <a:r>
                        <a:rPr lang="en-US" dirty="0" smtClean="0">
                          <a:solidFill>
                            <a:srgbClr val="CCCCCC"/>
                          </a:solidFill>
                          <a:latin typeface="Consolas" panose="020B0609020204030204" pitchFamily="49" charset="0"/>
                        </a:rPr>
                        <a:t>;</a:t>
                      </a:r>
                    </a:p>
                    <a:p>
                      <a:r>
                        <a:rPr lang="en-US" dirty="0" smtClean="0">
                          <a:solidFill>
                            <a:srgbClr val="CCCCCC"/>
                          </a:solidFill>
                          <a:latin typeface="Consolas" panose="020B0609020204030204" pitchFamily="49" charset="0"/>
                        </a:rPr>
                        <a:t/>
                      </a:r>
                      <a:br>
                        <a:rPr lang="en-US" dirty="0" smtClean="0">
                          <a:solidFill>
                            <a:srgbClr val="CCCCCC"/>
                          </a:solidFill>
                          <a:latin typeface="Consolas" panose="020B0609020204030204" pitchFamily="49" charset="0"/>
                        </a:rPr>
                      </a:br>
                      <a:r>
                        <a:rPr lang="en-US" dirty="0" smtClean="0">
                          <a:solidFill>
                            <a:srgbClr val="CCCCCC"/>
                          </a:solidFill>
                          <a:latin typeface="Consolas" panose="020B0609020204030204" pitchFamily="49" charset="0"/>
                        </a:rPr>
                        <a:t>    </a:t>
                      </a:r>
                      <a:r>
                        <a:rPr lang="en-US" dirty="0" smtClean="0">
                          <a:solidFill>
                            <a:srgbClr val="DCDCAA"/>
                          </a:solidFill>
                          <a:latin typeface="Consolas" panose="020B0609020204030204" pitchFamily="49" charset="0"/>
                        </a:rPr>
                        <a:t>print</a:t>
                      </a:r>
                      <a:r>
                        <a:rPr lang="en-US" dirty="0" smtClean="0">
                          <a:solidFill>
                            <a:srgbClr val="CCCCCC"/>
                          </a:solidFill>
                          <a:latin typeface="Consolas" panose="020B0609020204030204" pitchFamily="49" charset="0"/>
                        </a:rPr>
                        <a:t>(</a:t>
                      </a:r>
                      <a:r>
                        <a:rPr lang="en-US" dirty="0" smtClean="0">
                          <a:solidFill>
                            <a:srgbClr val="CE9178"/>
                          </a:solidFill>
                          <a:latin typeface="Consolas" panose="020B0609020204030204" pitchFamily="49" charset="0"/>
                        </a:rPr>
                        <a:t>"Car model name is </a:t>
                      </a:r>
                      <a:r>
                        <a:rPr lang="en-US" dirty="0" smtClean="0">
                          <a:solidFill>
                            <a:srgbClr val="D4D4D4"/>
                          </a:solidFill>
                          <a:latin typeface="Consolas" panose="020B0609020204030204" pitchFamily="49" charset="0"/>
                        </a:rPr>
                        <a:t>${</a:t>
                      </a:r>
                      <a:r>
                        <a:rPr lang="en-US" dirty="0" err="1" smtClean="0">
                          <a:solidFill>
                            <a:srgbClr val="9CDCFE"/>
                          </a:solidFill>
                          <a:latin typeface="Consolas" panose="020B0609020204030204" pitchFamily="49" charset="0"/>
                        </a:rPr>
                        <a:t>Perodua</a:t>
                      </a:r>
                      <a:r>
                        <a:rPr lang="en-US" dirty="0" err="1" smtClean="0">
                          <a:solidFill>
                            <a:srgbClr val="D4D4D4"/>
                          </a:solidFill>
                          <a:latin typeface="Consolas" panose="020B0609020204030204" pitchFamily="49" charset="0"/>
                        </a:rPr>
                        <a:t>.</a:t>
                      </a:r>
                      <a:r>
                        <a:rPr lang="en-US" dirty="0" err="1" smtClean="0">
                          <a:solidFill>
                            <a:srgbClr val="9CDCFE"/>
                          </a:solidFill>
                          <a:latin typeface="Consolas" panose="020B0609020204030204" pitchFamily="49" charset="0"/>
                        </a:rPr>
                        <a:t>Model</a:t>
                      </a:r>
                      <a:r>
                        <a:rPr lang="en-US" dirty="0" smtClean="0">
                          <a:solidFill>
                            <a:srgbClr val="D4D4D4"/>
                          </a:solidFill>
                          <a:latin typeface="Consolas" panose="020B0609020204030204" pitchFamily="49" charset="0"/>
                        </a:rPr>
                        <a:t>}</a:t>
                      </a:r>
                      <a:r>
                        <a:rPr lang="en-US" dirty="0" smtClean="0">
                          <a:solidFill>
                            <a:srgbClr val="CE9178"/>
                          </a:solidFill>
                          <a:latin typeface="Consolas" panose="020B0609020204030204" pitchFamily="49" charset="0"/>
                        </a:rPr>
                        <a:t>"</a:t>
                      </a:r>
                      <a:r>
                        <a:rPr lang="en-US" dirty="0" smtClean="0">
                          <a:solidFill>
                            <a:srgbClr val="CCCCCC"/>
                          </a:solidFill>
                          <a:latin typeface="Consolas" panose="020B0609020204030204" pitchFamily="49" charset="0"/>
                        </a:rPr>
                        <a:t>);</a:t>
                      </a:r>
                    </a:p>
                    <a:p>
                      <a:r>
                        <a:rPr lang="en-US" dirty="0" smtClean="0">
                          <a:solidFill>
                            <a:srgbClr val="CCCCCC"/>
                          </a:solidFill>
                          <a:latin typeface="Consolas" panose="020B0609020204030204" pitchFamily="49" charset="0"/>
                        </a:rPr>
                        <a:t>}</a:t>
                      </a:r>
                    </a:p>
                    <a:p>
                      <a:endParaRPr lang="en-US" b="0" dirty="0" smtClean="0">
                        <a:solidFill>
                          <a:srgbClr val="CCCCCC"/>
                        </a:solidFill>
                        <a:effectLst/>
                        <a:latin typeface="Consolas" panose="020B0609020204030204" pitchFamily="49" charset="0"/>
                      </a:endParaRPr>
                    </a:p>
                    <a:p>
                      <a:endParaRPr lang="en-US" dirty="0"/>
                    </a:p>
                  </a:txBody>
                  <a:tcPr/>
                </a:tc>
                <a:extLst>
                  <a:ext uri="{0D108BD9-81ED-4DB2-BD59-A6C34878D82A}">
                    <a16:rowId xmlns:a16="http://schemas.microsoft.com/office/drawing/2014/main" val="253632526"/>
                  </a:ext>
                </a:extLst>
              </a:tr>
            </a:tbl>
          </a:graphicData>
        </a:graphic>
      </p:graphicFrame>
    </p:spTree>
    <p:extLst>
      <p:ext uri="{BB962C8B-B14F-4D97-AF65-F5344CB8AC3E}">
        <p14:creationId xmlns:p14="http://schemas.microsoft.com/office/powerpoint/2010/main" val="19931239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16</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551237"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Object-Oriented </a:t>
            </a:r>
            <a:r>
              <a:rPr lang="en-US" dirty="0"/>
              <a:t>Programming (OOP)</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8" name="Rectangle 7"/>
          <p:cNvSpPr/>
          <p:nvPr/>
        </p:nvSpPr>
        <p:spPr>
          <a:xfrm>
            <a:off x="954278" y="1183888"/>
            <a:ext cx="10771642" cy="1751249"/>
          </a:xfrm>
          <a:prstGeom prst="rect">
            <a:avLst/>
          </a:prstGeom>
        </p:spPr>
        <p:txBody>
          <a:bodyPr wrap="square">
            <a:spAutoFit/>
          </a:bodyPr>
          <a:lstStyle/>
          <a:p>
            <a:pPr marR="163195" lvl="0">
              <a:lnSpc>
                <a:spcPct val="115000"/>
              </a:lnSpc>
              <a:spcBef>
                <a:spcPts val="1000"/>
              </a:spcBef>
            </a:pPr>
            <a:r>
              <a:rPr lang="en-US" dirty="0"/>
              <a:t>A </a:t>
            </a:r>
            <a:r>
              <a:rPr lang="en-US" b="1" dirty="0"/>
              <a:t>constructor</a:t>
            </a:r>
            <a:r>
              <a:rPr lang="en-US" dirty="0"/>
              <a:t> is a </a:t>
            </a:r>
            <a:r>
              <a:rPr lang="en-US" b="1" dirty="0"/>
              <a:t>special method</a:t>
            </a:r>
            <a:r>
              <a:rPr lang="en-US" dirty="0"/>
              <a:t> in a class that is </a:t>
            </a:r>
            <a:r>
              <a:rPr lang="en-US" b="1" dirty="0"/>
              <a:t>automatically called</a:t>
            </a:r>
            <a:r>
              <a:rPr lang="en-US" dirty="0"/>
              <a:t> when an </a:t>
            </a:r>
            <a:r>
              <a:rPr lang="en-US" b="1" dirty="0"/>
              <a:t>object</a:t>
            </a:r>
            <a:r>
              <a:rPr lang="en-US" dirty="0"/>
              <a:t> of that class is created</a:t>
            </a:r>
            <a:r>
              <a:rPr lang="en-US" dirty="0" smtClean="0"/>
              <a:t>.</a:t>
            </a:r>
          </a:p>
          <a:p>
            <a:pPr marL="285750" marR="163195" lvl="0" indent="-285750">
              <a:lnSpc>
                <a:spcPct val="115000"/>
              </a:lnSpc>
              <a:spcBef>
                <a:spcPts val="1000"/>
              </a:spcBef>
              <a:buFont typeface="Arial" panose="020B0604020202020204" pitchFamily="34" charset="0"/>
              <a:buChar char="•"/>
            </a:pPr>
            <a:r>
              <a:rPr lang="en-US" dirty="0" smtClean="0">
                <a:solidFill>
                  <a:srgbClr val="222222"/>
                </a:solidFill>
                <a:ea typeface="Arial"/>
                <a:cs typeface="Arial"/>
                <a:sym typeface="Arial"/>
              </a:rPr>
              <a:t>The </a:t>
            </a:r>
            <a:r>
              <a:rPr lang="en-US" dirty="0">
                <a:solidFill>
                  <a:srgbClr val="222222"/>
                </a:solidFill>
                <a:ea typeface="Arial"/>
                <a:cs typeface="Arial"/>
                <a:sym typeface="Arial"/>
              </a:rPr>
              <a:t>constructor has the same name as the class</a:t>
            </a:r>
            <a:r>
              <a:rPr lang="en-US" dirty="0" smtClean="0">
                <a:solidFill>
                  <a:srgbClr val="222222"/>
                </a:solidFill>
                <a:ea typeface="Arial"/>
                <a:cs typeface="Arial"/>
                <a:sym typeface="Arial"/>
              </a:rPr>
              <a:t>.</a:t>
            </a:r>
          </a:p>
          <a:p>
            <a:pPr marL="285750" marR="163195" lvl="0" indent="-285750">
              <a:lnSpc>
                <a:spcPct val="115000"/>
              </a:lnSpc>
              <a:spcBef>
                <a:spcPts val="1000"/>
              </a:spcBef>
              <a:buFont typeface="Arial" panose="020B0604020202020204" pitchFamily="34" charset="0"/>
              <a:buChar char="•"/>
            </a:pPr>
            <a:r>
              <a:rPr lang="en-US" dirty="0" smtClean="0">
                <a:solidFill>
                  <a:srgbClr val="222222"/>
                </a:solidFill>
                <a:ea typeface="Arial"/>
                <a:cs typeface="Arial"/>
                <a:sym typeface="Arial"/>
              </a:rPr>
              <a:t> </a:t>
            </a:r>
            <a:r>
              <a:rPr lang="en-US" dirty="0">
                <a:solidFill>
                  <a:srgbClr val="222222"/>
                </a:solidFill>
                <a:ea typeface="Arial"/>
                <a:cs typeface="Arial"/>
                <a:sym typeface="Arial"/>
              </a:rPr>
              <a:t>It does not have a return type (not even void). </a:t>
            </a:r>
            <a:endParaRPr lang="en-US" dirty="0" smtClean="0">
              <a:solidFill>
                <a:srgbClr val="222222"/>
              </a:solidFill>
              <a:ea typeface="Arial"/>
              <a:cs typeface="Arial"/>
              <a:sym typeface="Arial"/>
            </a:endParaRPr>
          </a:p>
          <a:p>
            <a:pPr marL="285750" marR="163195" lvl="0" indent="-285750">
              <a:lnSpc>
                <a:spcPct val="115000"/>
              </a:lnSpc>
              <a:spcBef>
                <a:spcPts val="1000"/>
              </a:spcBef>
              <a:buFont typeface="Arial" panose="020B0604020202020204" pitchFamily="34" charset="0"/>
              <a:buChar char="•"/>
            </a:pPr>
            <a:r>
              <a:rPr lang="en-US" dirty="0" smtClean="0">
                <a:solidFill>
                  <a:srgbClr val="222222"/>
                </a:solidFill>
                <a:ea typeface="Arial"/>
                <a:cs typeface="Arial"/>
                <a:sym typeface="Arial"/>
              </a:rPr>
              <a:t>It </a:t>
            </a:r>
            <a:r>
              <a:rPr lang="en-US" dirty="0">
                <a:solidFill>
                  <a:srgbClr val="222222"/>
                </a:solidFill>
                <a:ea typeface="Arial"/>
                <a:cs typeface="Arial"/>
                <a:sym typeface="Arial"/>
              </a:rPr>
              <a:t>helps to set up the initial state of an object</a:t>
            </a:r>
          </a:p>
        </p:txBody>
      </p:sp>
      <p:pic>
        <p:nvPicPr>
          <p:cNvPr id="13" name="Picture 12"/>
          <p:cNvPicPr>
            <a:picLocks noChangeAspect="1"/>
          </p:cNvPicPr>
          <p:nvPr/>
        </p:nvPicPr>
        <p:blipFill>
          <a:blip r:embed="rId4"/>
          <a:stretch>
            <a:fillRect/>
          </a:stretch>
        </p:blipFill>
        <p:spPr>
          <a:xfrm>
            <a:off x="1809099" y="3119104"/>
            <a:ext cx="7264773" cy="3257717"/>
          </a:xfrm>
          <a:prstGeom prst="rect">
            <a:avLst/>
          </a:prstGeom>
        </p:spPr>
      </p:pic>
    </p:spTree>
    <p:extLst>
      <p:ext uri="{BB962C8B-B14F-4D97-AF65-F5344CB8AC3E}">
        <p14:creationId xmlns:p14="http://schemas.microsoft.com/office/powerpoint/2010/main" val="21457234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17</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551237"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Object-Oriented </a:t>
            </a:r>
            <a:r>
              <a:rPr lang="en-US" dirty="0"/>
              <a:t>Programming (OOP)</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pic>
        <p:nvPicPr>
          <p:cNvPr id="3" name="Picture 2"/>
          <p:cNvPicPr>
            <a:picLocks noChangeAspect="1"/>
          </p:cNvPicPr>
          <p:nvPr/>
        </p:nvPicPr>
        <p:blipFill>
          <a:blip r:embed="rId4"/>
          <a:stretch>
            <a:fillRect/>
          </a:stretch>
        </p:blipFill>
        <p:spPr>
          <a:xfrm>
            <a:off x="583336" y="2454930"/>
            <a:ext cx="4647425" cy="2539858"/>
          </a:xfrm>
          <a:prstGeom prst="rect">
            <a:avLst/>
          </a:prstGeom>
        </p:spPr>
      </p:pic>
      <p:sp>
        <p:nvSpPr>
          <p:cNvPr id="4" name="Rectangle 3"/>
          <p:cNvSpPr/>
          <p:nvPr/>
        </p:nvSpPr>
        <p:spPr>
          <a:xfrm>
            <a:off x="5629920" y="1201091"/>
            <a:ext cx="6096000" cy="5047536"/>
          </a:xfrm>
          <a:prstGeom prst="rect">
            <a:avLst/>
          </a:prstGeom>
          <a:solidFill>
            <a:schemeClr val="tx1">
              <a:lumMod val="95000"/>
              <a:lumOff val="5000"/>
            </a:schemeClr>
          </a:solidFill>
        </p:spPr>
        <p:txBody>
          <a:bodyPr>
            <a:spAutoFit/>
          </a:bodyPr>
          <a:lstStyle/>
          <a:p>
            <a:r>
              <a:rPr lang="en-US" sz="1400" dirty="0">
                <a:solidFill>
                  <a:srgbClr val="569CD6"/>
                </a:solidFill>
                <a:latin typeface="Consolas" panose="020B0609020204030204" pitchFamily="49" charset="0"/>
              </a:rPr>
              <a:t>class</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Car</a:t>
            </a:r>
            <a:r>
              <a:rPr lang="en-US" sz="1400" dirty="0">
                <a:solidFill>
                  <a:srgbClr val="CCCCCC"/>
                </a:solidFill>
                <a:latin typeface="Consolas" panose="020B0609020204030204" pitchFamily="49" charset="0"/>
              </a:rPr>
              <a:t> {</a:t>
            </a:r>
          </a:p>
          <a:p>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late</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Model</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late</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Color</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late</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MaxSpeed</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late</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NumOfSeats</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r>
            <a:br>
              <a:rPr lang="en-US" sz="1400" dirty="0">
                <a:solidFill>
                  <a:srgbClr val="CCCCCC"/>
                </a:solidFill>
                <a:latin typeface="Consolas" panose="020B0609020204030204" pitchFamily="49" charset="0"/>
              </a:rPr>
            </a:br>
            <a:r>
              <a:rPr lang="en-US" sz="1400" dirty="0">
                <a:solidFill>
                  <a:srgbClr val="CCCCCC"/>
                </a:solidFill>
                <a:latin typeface="Consolas" panose="020B0609020204030204" pitchFamily="49" charset="0"/>
              </a:rPr>
              <a:t>  </a:t>
            </a:r>
            <a:r>
              <a:rPr lang="en-US" sz="1400" dirty="0">
                <a:solidFill>
                  <a:srgbClr val="6A9955"/>
                </a:solidFill>
                <a:latin typeface="Consolas" panose="020B0609020204030204" pitchFamily="49" charset="0"/>
              </a:rPr>
              <a:t>// </a:t>
            </a:r>
            <a:r>
              <a:rPr lang="en-US" sz="1400" dirty="0" err="1">
                <a:solidFill>
                  <a:srgbClr val="6A9955"/>
                </a:solidFill>
                <a:latin typeface="Consolas" panose="020B0609020204030204" pitchFamily="49" charset="0"/>
              </a:rPr>
              <a:t>declear</a:t>
            </a:r>
            <a:r>
              <a:rPr lang="en-US" sz="1400" dirty="0">
                <a:solidFill>
                  <a:srgbClr val="6A9955"/>
                </a:solidFill>
                <a:latin typeface="Consolas" panose="020B0609020204030204" pitchFamily="49" charset="0"/>
              </a:rPr>
              <a:t> a Constructor</a:t>
            </a:r>
            <a:endParaRPr lang="en-US" sz="1400" dirty="0">
              <a:solidFill>
                <a:srgbClr val="CCCCCC"/>
              </a:solidFill>
              <a:latin typeface="Consolas" panose="020B0609020204030204" pitchFamily="49" charset="0"/>
            </a:endParaRPr>
          </a:p>
          <a:p>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Car</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Model</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Color</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MaxSpeed</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NumOfSeats</a:t>
            </a:r>
            <a:r>
              <a:rPr lang="en-US" sz="1400" dirty="0">
                <a:solidFill>
                  <a:srgbClr val="CCCCCC"/>
                </a:solidFill>
                <a:latin typeface="Consolas" panose="020B0609020204030204" pitchFamily="49" charset="0"/>
              </a:rPr>
              <a:t>) {</a:t>
            </a:r>
          </a:p>
          <a:p>
            <a:r>
              <a:rPr lang="en-US" sz="1400" dirty="0">
                <a:solidFill>
                  <a:srgbClr val="CCCCCC"/>
                </a:solidFill>
                <a:latin typeface="Consolas" panose="020B0609020204030204" pitchFamily="49" charset="0"/>
              </a:rPr>
              <a:t>    </a:t>
            </a:r>
            <a:r>
              <a:rPr lang="en-US" sz="1400" dirty="0" err="1">
                <a:solidFill>
                  <a:srgbClr val="569CD6"/>
                </a:solidFill>
                <a:latin typeface="Consolas" panose="020B0609020204030204" pitchFamily="49" charset="0"/>
              </a:rPr>
              <a:t>this</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Model</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Model</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err="1">
                <a:solidFill>
                  <a:srgbClr val="569CD6"/>
                </a:solidFill>
                <a:latin typeface="Consolas" panose="020B0609020204030204" pitchFamily="49" charset="0"/>
              </a:rPr>
              <a:t>this</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Color</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Color</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err="1">
                <a:solidFill>
                  <a:srgbClr val="569CD6"/>
                </a:solidFill>
                <a:latin typeface="Consolas" panose="020B0609020204030204" pitchFamily="49" charset="0"/>
              </a:rPr>
              <a:t>this</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MaxSpeed</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MaxSpeed</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err="1">
                <a:solidFill>
                  <a:srgbClr val="569CD6"/>
                </a:solidFill>
                <a:latin typeface="Consolas" panose="020B0609020204030204" pitchFamily="49" charset="0"/>
              </a:rPr>
              <a:t>this</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NumOfSeats</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NumOfSeats</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p>
          <a:p>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r>
            <a:br>
              <a:rPr lang="en-US" sz="1400" dirty="0">
                <a:solidFill>
                  <a:srgbClr val="CCCCCC"/>
                </a:solidFill>
                <a:latin typeface="Consolas" panose="020B0609020204030204" pitchFamily="49" charset="0"/>
              </a:rPr>
            </a:br>
            <a:r>
              <a:rPr lang="en-US" sz="1400" dirty="0">
                <a:solidFill>
                  <a:srgbClr val="569CD6"/>
                </a:solidFill>
                <a:latin typeface="Consolas" panose="020B0609020204030204" pitchFamily="49" charset="0"/>
              </a:rPr>
              <a:t>void</a:t>
            </a:r>
            <a:r>
              <a:rPr lang="en-US" sz="1400" dirty="0">
                <a:solidFill>
                  <a:srgbClr val="CCCCCC"/>
                </a:solidFill>
                <a:latin typeface="Consolas" panose="020B0609020204030204" pitchFamily="49" charset="0"/>
              </a:rPr>
              <a:t> </a:t>
            </a:r>
            <a:r>
              <a:rPr lang="en-US" sz="1400" dirty="0">
                <a:solidFill>
                  <a:srgbClr val="DCDCAA"/>
                </a:solidFill>
                <a:latin typeface="Consolas" panose="020B0609020204030204" pitchFamily="49" charset="0"/>
              </a:rPr>
              <a:t>main</a:t>
            </a:r>
            <a:r>
              <a:rPr lang="en-US" sz="1400" dirty="0">
                <a:solidFill>
                  <a:srgbClr val="CCCCCC"/>
                </a:solidFill>
                <a:latin typeface="Consolas" panose="020B0609020204030204" pitchFamily="49" charset="0"/>
              </a:rPr>
              <a:t>() {</a:t>
            </a:r>
          </a:p>
          <a:p>
            <a:r>
              <a:rPr lang="en-US" sz="1400" dirty="0">
                <a:solidFill>
                  <a:srgbClr val="CCCCCC"/>
                </a:solidFill>
                <a:latin typeface="Consolas" panose="020B0609020204030204" pitchFamily="49" charset="0"/>
              </a:rPr>
              <a:t>  </a:t>
            </a:r>
            <a:r>
              <a:rPr lang="en-US" sz="1400" dirty="0" err="1">
                <a:solidFill>
                  <a:srgbClr val="569CD6"/>
                </a:solidFill>
                <a:latin typeface="Consolas" panose="020B0609020204030204" pitchFamily="49" charset="0"/>
              </a:rPr>
              <a:t>var</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Perodua</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new</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Car</a:t>
            </a:r>
            <a:r>
              <a:rPr lang="en-US" sz="1400" dirty="0">
                <a:solidFill>
                  <a:srgbClr val="CCCCCC"/>
                </a:solidFill>
                <a:latin typeface="Consolas" panose="020B0609020204030204" pitchFamily="49" charset="0"/>
              </a:rPr>
              <a:t>(</a:t>
            </a:r>
            <a:r>
              <a:rPr lang="en-US" sz="1400" dirty="0">
                <a:solidFill>
                  <a:srgbClr val="CE9178"/>
                </a:solidFill>
                <a:latin typeface="Consolas" panose="020B0609020204030204" pitchFamily="49" charset="0"/>
              </a:rPr>
              <a:t>'</a:t>
            </a:r>
            <a:r>
              <a:rPr lang="en-US" sz="1400" dirty="0" err="1">
                <a:solidFill>
                  <a:srgbClr val="CE9178"/>
                </a:solidFill>
                <a:latin typeface="Consolas" panose="020B0609020204030204" pitchFamily="49" charset="0"/>
              </a:rPr>
              <a:t>Axia</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'silver'</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'120km/h'</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'5'</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r>
            <a:br>
              <a:rPr lang="en-US" sz="1400" dirty="0">
                <a:solidFill>
                  <a:srgbClr val="CCCCCC"/>
                </a:solidFill>
                <a:latin typeface="Consolas" panose="020B0609020204030204" pitchFamily="49" charset="0"/>
              </a:rPr>
            </a:br>
            <a:r>
              <a:rPr lang="en-US" sz="1400" dirty="0">
                <a:solidFill>
                  <a:srgbClr val="CCCCCC"/>
                </a:solidFill>
                <a:latin typeface="Consolas" panose="020B0609020204030204" pitchFamily="49" charset="0"/>
              </a:rPr>
              <a:t>  </a:t>
            </a:r>
            <a:r>
              <a:rPr lang="en-US" sz="1400" dirty="0">
                <a:solidFill>
                  <a:srgbClr val="DCDCAA"/>
                </a:solidFill>
                <a:latin typeface="Consolas" panose="020B0609020204030204" pitchFamily="49" charset="0"/>
              </a:rPr>
              <a:t>print</a:t>
            </a:r>
            <a:r>
              <a:rPr lang="en-US" sz="1400" dirty="0">
                <a:solidFill>
                  <a:srgbClr val="CCCCCC"/>
                </a:solidFill>
                <a:latin typeface="Consolas" panose="020B0609020204030204" pitchFamily="49" charset="0"/>
              </a:rPr>
              <a:t>(</a:t>
            </a:r>
            <a:r>
              <a:rPr lang="en-US" sz="1400" dirty="0">
                <a:solidFill>
                  <a:srgbClr val="CE9178"/>
                </a:solidFill>
                <a:latin typeface="Consolas" panose="020B0609020204030204" pitchFamily="49" charset="0"/>
              </a:rPr>
              <a:t>"Model name </a:t>
            </a:r>
            <a:r>
              <a:rPr lang="en-US" sz="1400" dirty="0">
                <a:solidFill>
                  <a:srgbClr val="D4D4D4"/>
                </a:solidFill>
                <a:latin typeface="Consolas" panose="020B0609020204030204" pitchFamily="49" charset="0"/>
              </a:rPr>
              <a:t>${</a:t>
            </a:r>
            <a:r>
              <a:rPr lang="en-US" sz="1400" dirty="0" err="1">
                <a:solidFill>
                  <a:srgbClr val="9CDCFE"/>
                </a:solidFill>
                <a:latin typeface="Consolas" panose="020B0609020204030204" pitchFamily="49" charset="0"/>
              </a:rPr>
              <a:t>Perodua</a:t>
            </a:r>
            <a:r>
              <a:rPr lang="en-US" sz="1400" dirty="0" err="1">
                <a:solidFill>
                  <a:srgbClr val="D4D4D4"/>
                </a:solidFill>
                <a:latin typeface="Consolas" panose="020B0609020204030204" pitchFamily="49" charset="0"/>
              </a:rPr>
              <a:t>.</a:t>
            </a:r>
            <a:r>
              <a:rPr lang="en-US" sz="1400" dirty="0" err="1">
                <a:solidFill>
                  <a:srgbClr val="9CDCFE"/>
                </a:solidFill>
                <a:latin typeface="Consolas" panose="020B0609020204030204" pitchFamily="49" charset="0"/>
              </a:rPr>
              <a:t>Model</a:t>
            </a:r>
            <a:r>
              <a:rPr lang="en-US" sz="1400" dirty="0">
                <a:solidFill>
                  <a:srgbClr val="D4D4D4"/>
                </a:solidFill>
                <a:latin typeface="Consolas" panose="020B0609020204030204" pitchFamily="49" charset="0"/>
              </a:rPr>
              <a:t>}</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r>
            <a:br>
              <a:rPr lang="en-US" sz="1400" dirty="0">
                <a:solidFill>
                  <a:srgbClr val="CCCCCC"/>
                </a:solidFill>
                <a:latin typeface="Consolas" panose="020B0609020204030204" pitchFamily="49" charset="0"/>
              </a:rPr>
            </a:br>
            <a:endParaRPr lang="en-US" sz="14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313286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18</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551237"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Object-Oriented </a:t>
            </a:r>
            <a:r>
              <a:rPr lang="en-US" dirty="0"/>
              <a:t>Programming (OOP)</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pic>
        <p:nvPicPr>
          <p:cNvPr id="5" name="Picture 4"/>
          <p:cNvPicPr>
            <a:picLocks noChangeAspect="1"/>
          </p:cNvPicPr>
          <p:nvPr/>
        </p:nvPicPr>
        <p:blipFill>
          <a:blip r:embed="rId4"/>
          <a:stretch>
            <a:fillRect/>
          </a:stretch>
        </p:blipFill>
        <p:spPr>
          <a:xfrm>
            <a:off x="447848" y="2226351"/>
            <a:ext cx="4443761" cy="1037959"/>
          </a:xfrm>
          <a:prstGeom prst="rect">
            <a:avLst/>
          </a:prstGeom>
        </p:spPr>
      </p:pic>
      <p:sp>
        <p:nvSpPr>
          <p:cNvPr id="6" name="Rectangle 5"/>
          <p:cNvSpPr/>
          <p:nvPr/>
        </p:nvSpPr>
        <p:spPr>
          <a:xfrm>
            <a:off x="963561" y="1422667"/>
            <a:ext cx="6096000" cy="383823"/>
          </a:xfrm>
          <a:prstGeom prst="rect">
            <a:avLst/>
          </a:prstGeom>
        </p:spPr>
        <p:txBody>
          <a:bodyPr>
            <a:spAutoFit/>
          </a:bodyPr>
          <a:lstStyle/>
          <a:p>
            <a:pPr marR="163195" lvl="0">
              <a:lnSpc>
                <a:spcPct val="115000"/>
              </a:lnSpc>
              <a:spcBef>
                <a:spcPts val="1000"/>
              </a:spcBef>
            </a:pPr>
            <a:r>
              <a:rPr lang="en-US" dirty="0">
                <a:solidFill>
                  <a:srgbClr val="222222"/>
                </a:solidFill>
                <a:latin typeface="Arial"/>
                <a:ea typeface="Arial"/>
                <a:cs typeface="Arial"/>
                <a:sym typeface="Arial"/>
              </a:rPr>
              <a:t>Initialize an object using a constructor </a:t>
            </a:r>
            <a:r>
              <a:rPr lang="en-US" dirty="0" smtClean="0">
                <a:solidFill>
                  <a:srgbClr val="222222"/>
                </a:solidFill>
                <a:latin typeface="Arial"/>
                <a:ea typeface="Arial"/>
                <a:cs typeface="Arial"/>
                <a:sym typeface="Arial"/>
              </a:rPr>
              <a:t>name</a:t>
            </a:r>
            <a:endParaRPr lang="en-US" dirty="0">
              <a:solidFill>
                <a:srgbClr val="222222"/>
              </a:solidFill>
              <a:latin typeface="Arial"/>
              <a:ea typeface="Arial"/>
              <a:cs typeface="Arial"/>
              <a:sym typeface="Arial"/>
            </a:endParaRPr>
          </a:p>
        </p:txBody>
      </p:sp>
      <p:sp>
        <p:nvSpPr>
          <p:cNvPr id="7" name="Rectangle 6"/>
          <p:cNvSpPr/>
          <p:nvPr/>
        </p:nvSpPr>
        <p:spPr>
          <a:xfrm>
            <a:off x="5702710" y="985453"/>
            <a:ext cx="6096000" cy="5355312"/>
          </a:xfrm>
          <a:prstGeom prst="rect">
            <a:avLst/>
          </a:prstGeom>
          <a:solidFill>
            <a:schemeClr val="tx1">
              <a:lumMod val="95000"/>
              <a:lumOff val="5000"/>
            </a:schemeClr>
          </a:solidFill>
        </p:spPr>
        <p:txBody>
          <a:bodyPr>
            <a:spAutoFit/>
          </a:bodyPr>
          <a:lstStyle/>
          <a:p>
            <a:r>
              <a:rPr lang="en-US" dirty="0">
                <a:solidFill>
                  <a:srgbClr val="569CD6"/>
                </a:solidFill>
                <a:latin typeface="Consolas" panose="020B0609020204030204" pitchFamily="49" charset="0"/>
              </a:rPr>
              <a:t>class</a:t>
            </a:r>
            <a:r>
              <a:rPr lang="en-US" dirty="0">
                <a:solidFill>
                  <a:srgbClr val="CCCCCC"/>
                </a:solidFill>
                <a:latin typeface="Consolas" panose="020B0609020204030204" pitchFamily="49" charset="0"/>
              </a:rPr>
              <a:t> </a:t>
            </a:r>
            <a:r>
              <a:rPr lang="en-US" dirty="0">
                <a:solidFill>
                  <a:srgbClr val="4EC9B0"/>
                </a:solidFill>
                <a:latin typeface="Consolas" panose="020B0609020204030204" pitchFamily="49" charset="0"/>
              </a:rPr>
              <a:t>Car</a:t>
            </a:r>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a:solidFill>
                  <a:srgbClr val="569CD6"/>
                </a:solidFill>
                <a:latin typeface="Consolas" panose="020B0609020204030204" pitchFamily="49" charset="0"/>
              </a:rPr>
              <a:t>late</a:t>
            </a:r>
            <a:r>
              <a:rPr lang="en-US" dirty="0">
                <a:solidFill>
                  <a:srgbClr val="CCCCCC"/>
                </a:solidFill>
                <a:latin typeface="Consolas" panose="020B0609020204030204" pitchFamily="49" charset="0"/>
              </a:rPr>
              <a:t> </a:t>
            </a:r>
            <a:r>
              <a:rPr lang="en-US" dirty="0">
                <a:solidFill>
                  <a:srgbClr val="4EC9B0"/>
                </a:solidFill>
                <a:latin typeface="Consolas" panose="020B0609020204030204" pitchFamily="49" charset="0"/>
              </a:rPr>
              <a:t>String</a:t>
            </a: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Model</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a:solidFill>
                  <a:srgbClr val="569CD6"/>
                </a:solidFill>
                <a:latin typeface="Consolas" panose="020B0609020204030204" pitchFamily="49" charset="0"/>
              </a:rPr>
              <a:t>late</a:t>
            </a:r>
            <a:r>
              <a:rPr lang="en-US" dirty="0">
                <a:solidFill>
                  <a:srgbClr val="CCCCCC"/>
                </a:solidFill>
                <a:latin typeface="Consolas" panose="020B0609020204030204" pitchFamily="49" charset="0"/>
              </a:rPr>
              <a:t> </a:t>
            </a:r>
            <a:r>
              <a:rPr lang="en-US" dirty="0">
                <a:solidFill>
                  <a:srgbClr val="4EC9B0"/>
                </a:solidFill>
                <a:latin typeface="Consolas" panose="020B0609020204030204" pitchFamily="49" charset="0"/>
              </a:rPr>
              <a:t>String</a:t>
            </a: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Color</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a:solidFill>
                  <a:srgbClr val="569CD6"/>
                </a:solidFill>
                <a:latin typeface="Consolas" panose="020B0609020204030204" pitchFamily="49" charset="0"/>
              </a:rPr>
              <a:t>late</a:t>
            </a:r>
            <a:r>
              <a:rPr lang="en-US" dirty="0">
                <a:solidFill>
                  <a:srgbClr val="CCCCCC"/>
                </a:solidFill>
                <a:latin typeface="Consolas" panose="020B0609020204030204" pitchFamily="49" charset="0"/>
              </a:rPr>
              <a:t> </a:t>
            </a:r>
            <a:r>
              <a:rPr lang="en-US" dirty="0">
                <a:solidFill>
                  <a:srgbClr val="4EC9B0"/>
                </a:solidFill>
                <a:latin typeface="Consolas" panose="020B0609020204030204" pitchFamily="49" charset="0"/>
              </a:rPr>
              <a:t>String</a:t>
            </a:r>
            <a:r>
              <a:rPr lang="en-US" dirty="0">
                <a:solidFill>
                  <a:srgbClr val="CCCCCC"/>
                </a:solidFill>
                <a:latin typeface="Consolas" panose="020B0609020204030204" pitchFamily="49" charset="0"/>
              </a:rPr>
              <a:t> </a:t>
            </a:r>
            <a:r>
              <a:rPr lang="en-US" dirty="0" err="1">
                <a:solidFill>
                  <a:srgbClr val="9CDCFE"/>
                </a:solidFill>
                <a:latin typeface="Consolas" panose="020B0609020204030204" pitchFamily="49" charset="0"/>
              </a:rPr>
              <a:t>MaxSpeed</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a:solidFill>
                  <a:srgbClr val="569CD6"/>
                </a:solidFill>
                <a:latin typeface="Consolas" panose="020B0609020204030204" pitchFamily="49" charset="0"/>
              </a:rPr>
              <a:t>late</a:t>
            </a:r>
            <a:r>
              <a:rPr lang="en-US" dirty="0">
                <a:solidFill>
                  <a:srgbClr val="CCCCCC"/>
                </a:solidFill>
                <a:latin typeface="Consolas" panose="020B0609020204030204" pitchFamily="49" charset="0"/>
              </a:rPr>
              <a:t> </a:t>
            </a:r>
            <a:r>
              <a:rPr lang="en-US" dirty="0">
                <a:solidFill>
                  <a:srgbClr val="4EC9B0"/>
                </a:solidFill>
                <a:latin typeface="Consolas" panose="020B0609020204030204" pitchFamily="49" charset="0"/>
              </a:rPr>
              <a:t>String</a:t>
            </a:r>
            <a:r>
              <a:rPr lang="en-US" dirty="0">
                <a:solidFill>
                  <a:srgbClr val="CCCCCC"/>
                </a:solidFill>
                <a:latin typeface="Consolas" panose="020B0609020204030204" pitchFamily="49" charset="0"/>
              </a:rPr>
              <a:t> </a:t>
            </a:r>
            <a:r>
              <a:rPr lang="en-US" dirty="0" err="1">
                <a:solidFill>
                  <a:srgbClr val="9CDCFE"/>
                </a:solidFill>
                <a:latin typeface="Consolas" panose="020B0609020204030204" pitchFamily="49" charset="0"/>
              </a:rPr>
              <a:t>NumOfSeats</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r>
            <a:br>
              <a:rPr lang="en-US" dirty="0">
                <a:solidFill>
                  <a:srgbClr val="CCCCCC"/>
                </a:solidFill>
                <a:latin typeface="Consolas" panose="020B0609020204030204" pitchFamily="49" charset="0"/>
              </a:rPr>
            </a:br>
            <a:r>
              <a:rPr lang="en-US" dirty="0">
                <a:solidFill>
                  <a:srgbClr val="CCCCCC"/>
                </a:solidFill>
                <a:latin typeface="Consolas" panose="020B0609020204030204" pitchFamily="49" charset="0"/>
              </a:rPr>
              <a:t>  </a:t>
            </a:r>
            <a:r>
              <a:rPr lang="en-US" dirty="0" err="1">
                <a:solidFill>
                  <a:srgbClr val="4EC9B0"/>
                </a:solidFill>
                <a:latin typeface="Consolas" panose="020B0609020204030204" pitchFamily="49" charset="0"/>
              </a:rPr>
              <a:t>Car</a:t>
            </a:r>
            <a:r>
              <a:rPr lang="en-US" dirty="0" err="1">
                <a:solidFill>
                  <a:srgbClr val="CCCCCC"/>
                </a:solidFill>
                <a:latin typeface="Consolas" panose="020B0609020204030204" pitchFamily="49" charset="0"/>
              </a:rPr>
              <a:t>.</a:t>
            </a:r>
            <a:r>
              <a:rPr lang="en-US" dirty="0" err="1">
                <a:solidFill>
                  <a:srgbClr val="DCDCAA"/>
                </a:solidFill>
                <a:latin typeface="Consolas" panose="020B0609020204030204" pitchFamily="49" charset="0"/>
              </a:rPr>
              <a:t>initialze</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Model</a:t>
            </a:r>
            <a:r>
              <a:rPr lang="en-US" dirty="0">
                <a:solidFill>
                  <a:srgbClr val="CCCCCC"/>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 </a:t>
            </a:r>
            <a:r>
              <a:rPr lang="en-US" dirty="0">
                <a:solidFill>
                  <a:srgbClr val="CE9178"/>
                </a:solidFill>
                <a:latin typeface="Consolas" panose="020B0609020204030204" pitchFamily="49" charset="0"/>
              </a:rPr>
              <a:t>'</a:t>
            </a:r>
            <a:r>
              <a:rPr lang="en-US" dirty="0" err="1">
                <a:solidFill>
                  <a:srgbClr val="CE9178"/>
                </a:solidFill>
                <a:latin typeface="Consolas" panose="020B0609020204030204" pitchFamily="49" charset="0"/>
              </a:rPr>
              <a:t>Axia</a:t>
            </a:r>
            <a:r>
              <a:rPr lang="en-US" dirty="0">
                <a:solidFill>
                  <a:srgbClr val="CE9178"/>
                </a:solidFill>
                <a:latin typeface="Consolas" panose="020B0609020204030204" pitchFamily="49" charset="0"/>
              </a:rPr>
              <a:t>'</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Color</a:t>
            </a:r>
            <a:r>
              <a:rPr lang="en-US" dirty="0">
                <a:solidFill>
                  <a:srgbClr val="CCCCCC"/>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 </a:t>
            </a:r>
            <a:r>
              <a:rPr lang="en-US" dirty="0">
                <a:solidFill>
                  <a:srgbClr val="CE9178"/>
                </a:solidFill>
                <a:latin typeface="Consolas" panose="020B0609020204030204" pitchFamily="49" charset="0"/>
              </a:rPr>
              <a:t>'White'</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err="1">
                <a:solidFill>
                  <a:srgbClr val="9CDCFE"/>
                </a:solidFill>
                <a:latin typeface="Consolas" panose="020B0609020204030204" pitchFamily="49" charset="0"/>
              </a:rPr>
              <a:t>MaxSpeed</a:t>
            </a:r>
            <a:r>
              <a:rPr lang="en-US" dirty="0">
                <a:solidFill>
                  <a:srgbClr val="CCCCCC"/>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 </a:t>
            </a:r>
            <a:r>
              <a:rPr lang="en-US" dirty="0">
                <a:solidFill>
                  <a:srgbClr val="CE9178"/>
                </a:solidFill>
                <a:latin typeface="Consolas" panose="020B0609020204030204" pitchFamily="49" charset="0"/>
              </a:rPr>
              <a:t>'130km/h'</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err="1">
                <a:solidFill>
                  <a:srgbClr val="9CDCFE"/>
                </a:solidFill>
                <a:latin typeface="Consolas" panose="020B0609020204030204" pitchFamily="49" charset="0"/>
              </a:rPr>
              <a:t>NumOfSeats</a:t>
            </a:r>
            <a:r>
              <a:rPr lang="en-US" dirty="0">
                <a:solidFill>
                  <a:srgbClr val="CCCCCC"/>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 </a:t>
            </a:r>
            <a:r>
              <a:rPr lang="en-US" dirty="0">
                <a:solidFill>
                  <a:srgbClr val="CE9178"/>
                </a:solidFill>
                <a:latin typeface="Consolas" panose="020B0609020204030204" pitchFamily="49" charset="0"/>
              </a:rPr>
              <a:t>'5'</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r>
            <a:br>
              <a:rPr lang="en-US" dirty="0">
                <a:solidFill>
                  <a:srgbClr val="CCCCCC"/>
                </a:solidFill>
                <a:latin typeface="Consolas" panose="020B0609020204030204" pitchFamily="49" charset="0"/>
              </a:rPr>
            </a:br>
            <a:r>
              <a:rPr lang="en-US" dirty="0">
                <a:solidFill>
                  <a:srgbClr val="569CD6"/>
                </a:solidFill>
                <a:latin typeface="Consolas" panose="020B0609020204030204" pitchFamily="49" charset="0"/>
              </a:rPr>
              <a:t>void</a:t>
            </a:r>
            <a:r>
              <a:rPr lang="en-US" dirty="0">
                <a:solidFill>
                  <a:srgbClr val="CCCCCC"/>
                </a:solidFill>
                <a:latin typeface="Consolas" panose="020B0609020204030204" pitchFamily="49" charset="0"/>
              </a:rPr>
              <a:t> </a:t>
            </a:r>
            <a:r>
              <a:rPr lang="en-US" dirty="0">
                <a:solidFill>
                  <a:srgbClr val="DCDCAA"/>
                </a:solidFill>
                <a:latin typeface="Consolas" panose="020B0609020204030204" pitchFamily="49" charset="0"/>
              </a:rPr>
              <a:t>main</a:t>
            </a:r>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err="1">
                <a:solidFill>
                  <a:srgbClr val="569CD6"/>
                </a:solidFill>
                <a:latin typeface="Consolas" panose="020B0609020204030204" pitchFamily="49" charset="0"/>
              </a:rPr>
              <a:t>var</a:t>
            </a:r>
            <a:r>
              <a:rPr lang="en-US" dirty="0">
                <a:solidFill>
                  <a:srgbClr val="CCCCCC"/>
                </a:solidFill>
                <a:latin typeface="Consolas" panose="020B0609020204030204" pitchFamily="49" charset="0"/>
              </a:rPr>
              <a:t> </a:t>
            </a:r>
            <a:r>
              <a:rPr lang="en-US" dirty="0" err="1">
                <a:solidFill>
                  <a:srgbClr val="9CDCFE"/>
                </a:solidFill>
                <a:latin typeface="Consolas" panose="020B0609020204030204" pitchFamily="49" charset="0"/>
              </a:rPr>
              <a:t>Perodua</a:t>
            </a:r>
            <a:r>
              <a:rPr lang="en-US" dirty="0">
                <a:solidFill>
                  <a:srgbClr val="CCCCCC"/>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 </a:t>
            </a:r>
            <a:r>
              <a:rPr lang="en-US" dirty="0">
                <a:solidFill>
                  <a:srgbClr val="569CD6"/>
                </a:solidFill>
                <a:latin typeface="Consolas" panose="020B0609020204030204" pitchFamily="49" charset="0"/>
              </a:rPr>
              <a:t>new</a:t>
            </a:r>
            <a:r>
              <a:rPr lang="en-US" dirty="0">
                <a:solidFill>
                  <a:srgbClr val="CCCCCC"/>
                </a:solidFill>
                <a:latin typeface="Consolas" panose="020B0609020204030204" pitchFamily="49" charset="0"/>
              </a:rPr>
              <a:t> </a:t>
            </a:r>
            <a:r>
              <a:rPr lang="en-US" dirty="0" err="1">
                <a:solidFill>
                  <a:srgbClr val="4EC9B0"/>
                </a:solidFill>
                <a:latin typeface="Consolas" panose="020B0609020204030204" pitchFamily="49" charset="0"/>
              </a:rPr>
              <a:t>Car</a:t>
            </a:r>
            <a:r>
              <a:rPr lang="en-US" dirty="0" err="1">
                <a:solidFill>
                  <a:srgbClr val="CCCCCC"/>
                </a:solidFill>
                <a:latin typeface="Consolas" panose="020B0609020204030204" pitchFamily="49" charset="0"/>
              </a:rPr>
              <a:t>.</a:t>
            </a:r>
            <a:r>
              <a:rPr lang="en-US" dirty="0" err="1">
                <a:solidFill>
                  <a:srgbClr val="DCDCAA"/>
                </a:solidFill>
                <a:latin typeface="Consolas" panose="020B0609020204030204" pitchFamily="49" charset="0"/>
              </a:rPr>
              <a:t>initialze</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r>
            <a:br>
              <a:rPr lang="en-US" dirty="0">
                <a:solidFill>
                  <a:srgbClr val="CCCCCC"/>
                </a:solidFill>
                <a:latin typeface="Consolas" panose="020B0609020204030204" pitchFamily="49" charset="0"/>
              </a:rPr>
            </a:br>
            <a:r>
              <a:rPr lang="en-US" dirty="0">
                <a:solidFill>
                  <a:srgbClr val="CCCCCC"/>
                </a:solidFill>
                <a:latin typeface="Consolas" panose="020B0609020204030204" pitchFamily="49" charset="0"/>
              </a:rPr>
              <a:t>  </a:t>
            </a:r>
            <a:r>
              <a:rPr lang="en-US" dirty="0">
                <a:solidFill>
                  <a:srgbClr val="DCDCAA"/>
                </a:solidFill>
                <a:latin typeface="Consolas" panose="020B0609020204030204" pitchFamily="49" charset="0"/>
              </a:rPr>
              <a:t>print</a:t>
            </a:r>
            <a:r>
              <a:rPr lang="en-US" dirty="0">
                <a:solidFill>
                  <a:srgbClr val="CCCCCC"/>
                </a:solidFill>
                <a:latin typeface="Consolas" panose="020B0609020204030204" pitchFamily="49" charset="0"/>
              </a:rPr>
              <a:t>(</a:t>
            </a:r>
            <a:r>
              <a:rPr lang="en-US" dirty="0" err="1">
                <a:solidFill>
                  <a:srgbClr val="9CDCFE"/>
                </a:solidFill>
                <a:latin typeface="Consolas" panose="020B0609020204030204" pitchFamily="49" charset="0"/>
              </a:rPr>
              <a:t>Perodua</a:t>
            </a:r>
            <a:r>
              <a:rPr lang="en-US" dirty="0" err="1">
                <a:solidFill>
                  <a:srgbClr val="CCCCCC"/>
                </a:solidFill>
                <a:latin typeface="Consolas" panose="020B0609020204030204" pitchFamily="49" charset="0"/>
              </a:rPr>
              <a:t>.</a:t>
            </a:r>
            <a:r>
              <a:rPr lang="en-US" dirty="0" err="1">
                <a:solidFill>
                  <a:srgbClr val="9CDCFE"/>
                </a:solidFill>
                <a:latin typeface="Consolas" panose="020B0609020204030204" pitchFamily="49" charset="0"/>
              </a:rPr>
              <a:t>Model</a:t>
            </a:r>
            <a:r>
              <a:rPr lang="en-US" dirty="0">
                <a:solidFill>
                  <a:srgbClr val="CCCCCC"/>
                </a:solidFill>
                <a:latin typeface="Consolas" panose="020B0609020204030204" pitchFamily="49" charset="0"/>
              </a:rPr>
              <a:t>);</a:t>
            </a:r>
          </a:p>
          <a:p>
            <a:r>
              <a:rPr lang="en-US" dirty="0" smtClean="0">
                <a:solidFill>
                  <a:srgbClr val="CCCCCC"/>
                </a:solidFill>
                <a:latin typeface="Consolas" panose="020B0609020204030204" pitchFamily="49" charset="0"/>
              </a:rPr>
              <a:t>}</a:t>
            </a: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9509732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19</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551237"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Object-Oriented </a:t>
            </a:r>
            <a:r>
              <a:rPr lang="en-US" dirty="0"/>
              <a:t>Programming (OOP)</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304801" y="1422667"/>
            <a:ext cx="9714098" cy="1765612"/>
          </a:xfrm>
          <a:prstGeom prst="rect">
            <a:avLst/>
          </a:prstGeom>
        </p:spPr>
        <p:txBody>
          <a:bodyPr wrap="square">
            <a:spAutoFit/>
          </a:bodyPr>
          <a:lstStyle/>
          <a:p>
            <a:pPr marR="163195" lvl="0" algn="just">
              <a:lnSpc>
                <a:spcPct val="115000"/>
              </a:lnSpc>
              <a:spcBef>
                <a:spcPts val="1000"/>
              </a:spcBef>
            </a:pPr>
            <a:r>
              <a:rPr lang="en" sz="2000" b="1" dirty="0"/>
              <a:t>Class - Getters and </a:t>
            </a:r>
            <a:r>
              <a:rPr lang="en" sz="2000" b="1" dirty="0" smtClean="0"/>
              <a:t>Setters</a:t>
            </a:r>
          </a:p>
          <a:p>
            <a:pPr marR="163195" lvl="0" algn="just">
              <a:lnSpc>
                <a:spcPct val="115000"/>
              </a:lnSpc>
              <a:spcBef>
                <a:spcPts val="1000"/>
              </a:spcBef>
            </a:pPr>
            <a:r>
              <a:rPr lang="en-US" dirty="0"/>
              <a:t>A </a:t>
            </a:r>
            <a:r>
              <a:rPr lang="en-US" b="1" dirty="0"/>
              <a:t>setter</a:t>
            </a:r>
            <a:r>
              <a:rPr lang="en-US" dirty="0"/>
              <a:t> is a </a:t>
            </a:r>
            <a:r>
              <a:rPr lang="en-US" b="1" dirty="0"/>
              <a:t>special method</a:t>
            </a:r>
            <a:r>
              <a:rPr lang="en-US" dirty="0"/>
              <a:t> used to </a:t>
            </a:r>
            <a:r>
              <a:rPr lang="en-US" b="1" dirty="0"/>
              <a:t>set (assign)</a:t>
            </a:r>
            <a:r>
              <a:rPr lang="en-US" dirty="0"/>
              <a:t> a value to a private or protected </a:t>
            </a:r>
            <a:r>
              <a:rPr lang="en-US" dirty="0" err="1"/>
              <a:t>variable.</a:t>
            </a:r>
            <a:r>
              <a:rPr lang="en-US" dirty="0" err="1" smtClean="0">
                <a:solidFill>
                  <a:srgbClr val="222222"/>
                </a:solidFill>
                <a:ea typeface="Arial"/>
                <a:cs typeface="Arial"/>
                <a:sym typeface="Arial"/>
              </a:rPr>
              <a:t>Getters</a:t>
            </a:r>
            <a:r>
              <a:rPr lang="en-US" dirty="0" smtClean="0">
                <a:solidFill>
                  <a:srgbClr val="222222"/>
                </a:solidFill>
                <a:ea typeface="Arial"/>
                <a:cs typeface="Arial"/>
                <a:sym typeface="Arial"/>
              </a:rPr>
              <a:t> </a:t>
            </a:r>
            <a:r>
              <a:rPr lang="en-US" dirty="0">
                <a:solidFill>
                  <a:srgbClr val="222222"/>
                </a:solidFill>
                <a:ea typeface="Arial"/>
                <a:cs typeface="Arial"/>
                <a:sym typeface="Arial"/>
              </a:rPr>
              <a:t>are defined using the get keyword, whereas setters are defined using the set keyword.</a:t>
            </a:r>
          </a:p>
          <a:p>
            <a:endParaRPr lang="en-US" b="1" dirty="0"/>
          </a:p>
          <a:p>
            <a:r>
              <a:rPr lang="en-US" dirty="0"/>
              <a:t>A </a:t>
            </a:r>
            <a:r>
              <a:rPr lang="en-US" b="1" dirty="0"/>
              <a:t>getter</a:t>
            </a:r>
            <a:r>
              <a:rPr lang="en-US" dirty="0"/>
              <a:t> is a </a:t>
            </a:r>
            <a:r>
              <a:rPr lang="en-US" b="1" dirty="0"/>
              <a:t>special method</a:t>
            </a:r>
            <a:r>
              <a:rPr lang="en-US" dirty="0"/>
              <a:t> used to </a:t>
            </a:r>
            <a:r>
              <a:rPr lang="en-US" b="1" dirty="0"/>
              <a:t>get (retrieve)</a:t>
            </a:r>
            <a:r>
              <a:rPr lang="en-US" dirty="0"/>
              <a:t> the value of a property</a:t>
            </a:r>
            <a:r>
              <a:rPr lang="en-US" dirty="0" smtClean="0"/>
              <a:t>.</a:t>
            </a:r>
            <a:endParaRPr lang="en-US" dirty="0"/>
          </a:p>
        </p:txBody>
      </p:sp>
      <p:pic>
        <p:nvPicPr>
          <p:cNvPr id="3" name="Picture 2"/>
          <p:cNvPicPr>
            <a:picLocks noChangeAspect="1"/>
          </p:cNvPicPr>
          <p:nvPr/>
        </p:nvPicPr>
        <p:blipFill>
          <a:blip r:embed="rId4"/>
          <a:stretch>
            <a:fillRect/>
          </a:stretch>
        </p:blipFill>
        <p:spPr>
          <a:xfrm>
            <a:off x="432620" y="3635398"/>
            <a:ext cx="5277121" cy="2438525"/>
          </a:xfrm>
          <a:prstGeom prst="rect">
            <a:avLst/>
          </a:prstGeom>
        </p:spPr>
      </p:pic>
    </p:spTree>
    <p:extLst>
      <p:ext uri="{BB962C8B-B14F-4D97-AF65-F5344CB8AC3E}">
        <p14:creationId xmlns:p14="http://schemas.microsoft.com/office/powerpoint/2010/main" val="28580259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20</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551237"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Object-Oriented </a:t>
            </a:r>
            <a:r>
              <a:rPr lang="en-US" dirty="0"/>
              <a:t>Programming (OOP)</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8" name="Rectangle 7"/>
          <p:cNvSpPr/>
          <p:nvPr/>
        </p:nvSpPr>
        <p:spPr>
          <a:xfrm>
            <a:off x="2752949" y="2564903"/>
            <a:ext cx="6096000" cy="3754874"/>
          </a:xfrm>
          <a:prstGeom prst="rect">
            <a:avLst/>
          </a:prstGeom>
          <a:solidFill>
            <a:schemeClr val="tx2">
              <a:lumMod val="95000"/>
              <a:lumOff val="5000"/>
            </a:schemeClr>
          </a:solidFill>
        </p:spPr>
        <p:txBody>
          <a:bodyPr>
            <a:spAutoFit/>
          </a:bodyPr>
          <a:lstStyle/>
          <a:p>
            <a:r>
              <a:rPr lang="en-US" sz="1400" dirty="0">
                <a:solidFill>
                  <a:srgbClr val="569CD6"/>
                </a:solidFill>
                <a:latin typeface="Consolas" panose="020B0609020204030204" pitchFamily="49" charset="0"/>
              </a:rPr>
              <a:t>class</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Car</a:t>
            </a:r>
            <a:r>
              <a:rPr lang="en-US" sz="1400" dirty="0">
                <a:solidFill>
                  <a:srgbClr val="CCCCCC"/>
                </a:solidFill>
                <a:latin typeface="Consolas" panose="020B0609020204030204" pitchFamily="49" charset="0"/>
              </a:rPr>
              <a:t> {</a:t>
            </a:r>
          </a:p>
          <a:p>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late</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Model</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late</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Color</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late</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MaxSpeed</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late</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NumOfSeats</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r>
            <a:br>
              <a:rPr lang="en-US" sz="1400" dirty="0">
                <a:solidFill>
                  <a:srgbClr val="CCCCCC"/>
                </a:solidFill>
                <a:latin typeface="Consolas" panose="020B0609020204030204" pitchFamily="49" charset="0"/>
              </a:rPr>
            </a:b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set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SetModelName</a:t>
            </a:r>
            <a:r>
              <a:rPr lang="en-US" sz="1400" dirty="0">
                <a:solidFill>
                  <a:srgbClr val="CCCCCC"/>
                </a:solidFill>
                <a:latin typeface="Consolas" panose="020B0609020204030204" pitchFamily="49" charset="0"/>
              </a:rPr>
              <a:t>(</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=&gt;</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Model</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r>
            <a:br>
              <a:rPr lang="en-US" sz="1400" dirty="0">
                <a:solidFill>
                  <a:srgbClr val="CCCCCC"/>
                </a:solidFill>
                <a:latin typeface="Consolas" panose="020B0609020204030204" pitchFamily="49" charset="0"/>
              </a:rPr>
            </a:b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get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getModelName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=&gt;</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Model</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r>
            <a:br>
              <a:rPr lang="en-US" sz="1400" dirty="0">
                <a:solidFill>
                  <a:srgbClr val="CCCCCC"/>
                </a:solidFill>
                <a:latin typeface="Consolas" panose="020B0609020204030204" pitchFamily="49" charset="0"/>
              </a:rPr>
            </a:br>
            <a:r>
              <a:rPr lang="en-US" sz="1400" dirty="0">
                <a:solidFill>
                  <a:srgbClr val="569CD6"/>
                </a:solidFill>
                <a:latin typeface="Consolas" panose="020B0609020204030204" pitchFamily="49" charset="0"/>
              </a:rPr>
              <a:t>void</a:t>
            </a:r>
            <a:r>
              <a:rPr lang="en-US" sz="1400" dirty="0">
                <a:solidFill>
                  <a:srgbClr val="CCCCCC"/>
                </a:solidFill>
                <a:latin typeface="Consolas" panose="020B0609020204030204" pitchFamily="49" charset="0"/>
              </a:rPr>
              <a:t> </a:t>
            </a:r>
            <a:r>
              <a:rPr lang="en-US" sz="1400" dirty="0">
                <a:solidFill>
                  <a:srgbClr val="DCDCAA"/>
                </a:solidFill>
                <a:latin typeface="Consolas" panose="020B0609020204030204" pitchFamily="49" charset="0"/>
              </a:rPr>
              <a:t>main</a:t>
            </a:r>
            <a:r>
              <a:rPr lang="en-US" sz="1400" dirty="0">
                <a:solidFill>
                  <a:srgbClr val="CCCCCC"/>
                </a:solidFill>
                <a:latin typeface="Consolas" panose="020B0609020204030204" pitchFamily="49" charset="0"/>
              </a:rPr>
              <a:t>() {</a:t>
            </a:r>
          </a:p>
          <a:p>
            <a:r>
              <a:rPr lang="en-US" sz="1400" dirty="0">
                <a:solidFill>
                  <a:srgbClr val="CCCCCC"/>
                </a:solidFill>
                <a:latin typeface="Consolas" panose="020B0609020204030204" pitchFamily="49" charset="0"/>
              </a:rPr>
              <a:t>  </a:t>
            </a:r>
            <a:r>
              <a:rPr lang="en-US" sz="1400" dirty="0" err="1">
                <a:solidFill>
                  <a:srgbClr val="569CD6"/>
                </a:solidFill>
                <a:latin typeface="Consolas" panose="020B0609020204030204" pitchFamily="49" charset="0"/>
              </a:rPr>
              <a:t>var</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Perodua</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new</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Car</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r>
            <a:br>
              <a:rPr lang="en-US" sz="1400" dirty="0">
                <a:solidFill>
                  <a:srgbClr val="CCCCCC"/>
                </a:solidFill>
                <a:latin typeface="Consolas" panose="020B0609020204030204" pitchFamily="49" charset="0"/>
              </a:rPr>
            </a:b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Perodua</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SetModelName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err="1">
                <a:solidFill>
                  <a:srgbClr val="CE9178"/>
                </a:solidFill>
                <a:latin typeface="Consolas" panose="020B0609020204030204" pitchFamily="49" charset="0"/>
              </a:rPr>
              <a:t>Bezza</a:t>
            </a:r>
            <a:r>
              <a:rPr lang="en-US" sz="1400" dirty="0">
                <a:solidFill>
                  <a:srgbClr val="CE9178"/>
                </a:solidFill>
                <a:latin typeface="Consolas" panose="020B0609020204030204" pitchFamily="49" charset="0"/>
              </a:rPr>
              <a:t> new 2025'</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a:solidFill>
                  <a:srgbClr val="DCDCAA"/>
                </a:solidFill>
                <a:latin typeface="Consolas" panose="020B0609020204030204" pitchFamily="49" charset="0"/>
              </a:rPr>
              <a:t>print</a:t>
            </a:r>
            <a:r>
              <a:rPr lang="en-US" sz="1400" dirty="0">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Perodua</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getModelName</a:t>
            </a:r>
            <a:r>
              <a:rPr lang="en-US" sz="1400" dirty="0">
                <a:solidFill>
                  <a:srgbClr val="CCCCCC"/>
                </a:solidFill>
                <a:latin typeface="Consolas" panose="020B0609020204030204" pitchFamily="49" charset="0"/>
              </a:rPr>
              <a:t>);</a:t>
            </a:r>
          </a:p>
          <a:p>
            <a:r>
              <a:rPr lang="en-US" sz="1400" dirty="0" smtClean="0">
                <a:solidFill>
                  <a:srgbClr val="CCCCCC"/>
                </a:solidFill>
                <a:latin typeface="Consolas" panose="020B0609020204030204" pitchFamily="49" charset="0"/>
              </a:rPr>
              <a:t>}</a:t>
            </a:r>
            <a:endParaRPr lang="en-US" sz="1400" dirty="0">
              <a:solidFill>
                <a:srgbClr val="CCCCCC"/>
              </a:solidFill>
              <a:latin typeface="Consolas" panose="020B0609020204030204" pitchFamily="49" charset="0"/>
            </a:endParaRPr>
          </a:p>
        </p:txBody>
      </p:sp>
      <p:sp>
        <p:nvSpPr>
          <p:cNvPr id="4" name="Rectangle 3"/>
          <p:cNvSpPr/>
          <p:nvPr/>
        </p:nvSpPr>
        <p:spPr>
          <a:xfrm>
            <a:off x="462115" y="1246474"/>
            <a:ext cx="9851923" cy="2516586"/>
          </a:xfrm>
          <a:prstGeom prst="rect">
            <a:avLst/>
          </a:prstGeom>
        </p:spPr>
        <p:txBody>
          <a:bodyPr wrap="square">
            <a:spAutoFit/>
          </a:bodyPr>
          <a:lstStyle/>
          <a:p>
            <a:pPr marR="163195" lvl="0">
              <a:lnSpc>
                <a:spcPct val="115000"/>
              </a:lnSpc>
              <a:spcBef>
                <a:spcPts val="1000"/>
              </a:spcBef>
            </a:pPr>
            <a:r>
              <a:rPr lang="en-US" dirty="0">
                <a:solidFill>
                  <a:srgbClr val="222222"/>
                </a:solidFill>
                <a:latin typeface="Arial"/>
                <a:ea typeface="Arial"/>
                <a:cs typeface="Arial"/>
                <a:sym typeface="Arial"/>
              </a:rPr>
              <a:t>Now, in the following code, we will use </a:t>
            </a:r>
            <a:r>
              <a:rPr lang="en-US" dirty="0" err="1">
                <a:solidFill>
                  <a:srgbClr val="222222"/>
                </a:solidFill>
                <a:latin typeface="Arial"/>
                <a:ea typeface="Arial"/>
                <a:cs typeface="Arial"/>
                <a:sym typeface="Arial"/>
              </a:rPr>
              <a:t>setType</a:t>
            </a:r>
            <a:r>
              <a:rPr lang="en-US" dirty="0">
                <a:solidFill>
                  <a:srgbClr val="222222"/>
                </a:solidFill>
                <a:latin typeface="Arial"/>
                <a:ea typeface="Arial"/>
                <a:cs typeface="Arial"/>
                <a:sym typeface="Arial"/>
              </a:rPr>
              <a:t> to set a value and </a:t>
            </a:r>
            <a:r>
              <a:rPr lang="en-US" dirty="0" err="1">
                <a:solidFill>
                  <a:srgbClr val="222222"/>
                </a:solidFill>
                <a:latin typeface="Arial"/>
                <a:ea typeface="Arial"/>
                <a:cs typeface="Arial"/>
                <a:sym typeface="Arial"/>
              </a:rPr>
              <a:t>getType</a:t>
            </a:r>
            <a:r>
              <a:rPr lang="en-US" dirty="0">
                <a:solidFill>
                  <a:srgbClr val="222222"/>
                </a:solidFill>
                <a:latin typeface="Arial"/>
                <a:ea typeface="Arial"/>
                <a:cs typeface="Arial"/>
                <a:sym typeface="Arial"/>
              </a:rPr>
              <a:t> to return or use this value.</a:t>
            </a:r>
          </a:p>
          <a:p>
            <a:pPr marR="163195" lvl="0">
              <a:lnSpc>
                <a:spcPct val="115000"/>
              </a:lnSpc>
              <a:spcBef>
                <a:spcPts val="1000"/>
              </a:spcBef>
            </a:pPr>
            <a:endParaRPr lang="en-US" dirty="0">
              <a:solidFill>
                <a:srgbClr val="222222"/>
              </a:solidFill>
              <a:latin typeface="Arial"/>
              <a:ea typeface="Arial"/>
              <a:cs typeface="Arial"/>
              <a:sym typeface="Arial"/>
            </a:endParaRPr>
          </a:p>
          <a:p>
            <a:pPr marR="163195" lvl="0">
              <a:lnSpc>
                <a:spcPct val="115000"/>
              </a:lnSpc>
              <a:spcBef>
                <a:spcPts val="1000"/>
              </a:spcBef>
            </a:pPr>
            <a:endParaRPr lang="en-US" dirty="0">
              <a:solidFill>
                <a:srgbClr val="222222"/>
              </a:solidFill>
              <a:latin typeface="Arial"/>
              <a:ea typeface="Arial"/>
              <a:cs typeface="Arial"/>
              <a:sym typeface="Arial"/>
            </a:endParaRPr>
          </a:p>
          <a:p>
            <a:pPr marR="163195" lvl="0">
              <a:lnSpc>
                <a:spcPct val="115000"/>
              </a:lnSpc>
              <a:spcBef>
                <a:spcPts val="1000"/>
              </a:spcBef>
            </a:pPr>
            <a:endParaRPr lang="en-US" dirty="0">
              <a:solidFill>
                <a:srgbClr val="222222"/>
              </a:solidFill>
              <a:latin typeface="Arial"/>
              <a:ea typeface="Arial"/>
              <a:cs typeface="Arial"/>
              <a:sym typeface="Arial"/>
            </a:endParaRPr>
          </a:p>
          <a:p>
            <a:pPr marR="163195" lvl="0">
              <a:lnSpc>
                <a:spcPct val="115000"/>
              </a:lnSpc>
              <a:spcBef>
                <a:spcPts val="1000"/>
              </a:spcBef>
            </a:pPr>
            <a:endParaRPr lang="en-US" dirty="0">
              <a:solidFill>
                <a:srgbClr val="222222"/>
              </a:solidFill>
              <a:latin typeface="Arial"/>
              <a:ea typeface="Arial"/>
              <a:cs typeface="Arial"/>
              <a:sym typeface="Arial"/>
            </a:endParaRPr>
          </a:p>
        </p:txBody>
      </p:sp>
    </p:spTree>
    <p:extLst>
      <p:ext uri="{BB962C8B-B14F-4D97-AF65-F5344CB8AC3E}">
        <p14:creationId xmlns:p14="http://schemas.microsoft.com/office/powerpoint/2010/main" val="14297206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21</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551237"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Object-Oriented </a:t>
            </a:r>
            <a:r>
              <a:rPr lang="en-US" dirty="0"/>
              <a:t>Programming (OOP)</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4" name="Rectangle 3"/>
          <p:cNvSpPr/>
          <p:nvPr/>
        </p:nvSpPr>
        <p:spPr>
          <a:xfrm>
            <a:off x="462115" y="1246474"/>
            <a:ext cx="11336595" cy="2706895"/>
          </a:xfrm>
          <a:prstGeom prst="rect">
            <a:avLst/>
          </a:prstGeom>
        </p:spPr>
        <p:txBody>
          <a:bodyPr wrap="square">
            <a:spAutoFit/>
          </a:bodyPr>
          <a:lstStyle/>
          <a:p>
            <a:pPr marR="163195" lvl="0">
              <a:lnSpc>
                <a:spcPct val="115000"/>
              </a:lnSpc>
              <a:spcBef>
                <a:spcPts val="1000"/>
              </a:spcBef>
            </a:pPr>
            <a:r>
              <a:rPr lang="en" b="1" dirty="0"/>
              <a:t>Class </a:t>
            </a:r>
            <a:r>
              <a:rPr lang="en" b="1" dirty="0" smtClean="0"/>
              <a:t>Inheritance</a:t>
            </a:r>
          </a:p>
          <a:p>
            <a:pPr marR="163195" lvl="0">
              <a:lnSpc>
                <a:spcPct val="115000"/>
              </a:lnSpc>
              <a:spcBef>
                <a:spcPts val="1000"/>
              </a:spcBef>
            </a:pPr>
            <a:r>
              <a:rPr lang="en-US" dirty="0">
                <a:solidFill>
                  <a:srgbClr val="222222"/>
                </a:solidFill>
                <a:ea typeface="Arial"/>
                <a:cs typeface="Arial"/>
                <a:sym typeface="Arial"/>
              </a:rPr>
              <a:t>The idea of inheritance is simple but powerful. When you want to create a new class and there is already a class that includes some of the codes that you need, you can derive your new class from the existing class (called parent or super class). While doing this, you can reuse the properties and methods of the existing class without having to write them again.</a:t>
            </a:r>
          </a:p>
          <a:p>
            <a:pPr marR="163195" lvl="0">
              <a:lnSpc>
                <a:spcPct val="115000"/>
              </a:lnSpc>
              <a:spcBef>
                <a:spcPts val="1000"/>
              </a:spcBef>
            </a:pPr>
            <a:r>
              <a:rPr lang="en-US" dirty="0">
                <a:solidFill>
                  <a:srgbClr val="222222"/>
                </a:solidFill>
                <a:ea typeface="Arial"/>
                <a:cs typeface="Arial"/>
                <a:sym typeface="Arial"/>
              </a:rPr>
              <a:t>Example:</a:t>
            </a:r>
          </a:p>
          <a:p>
            <a:pPr marR="163195" lvl="0">
              <a:lnSpc>
                <a:spcPct val="115000"/>
              </a:lnSpc>
              <a:spcBef>
                <a:spcPts val="1000"/>
              </a:spcBef>
            </a:pPr>
            <a:endParaRPr lang="en-US" dirty="0">
              <a:solidFill>
                <a:srgbClr val="222222"/>
              </a:solidFill>
              <a:ea typeface="Arial"/>
              <a:cs typeface="Arial"/>
              <a:sym typeface="Arial"/>
            </a:endParaRPr>
          </a:p>
        </p:txBody>
      </p:sp>
      <p:pic>
        <p:nvPicPr>
          <p:cNvPr id="9" name="Google Shape;414;p48"/>
          <p:cNvPicPr preferRelativeResize="0"/>
          <p:nvPr/>
        </p:nvPicPr>
        <p:blipFill>
          <a:blip r:embed="rId4">
            <a:alphaModFix/>
          </a:blip>
          <a:stretch>
            <a:fillRect/>
          </a:stretch>
        </p:blipFill>
        <p:spPr>
          <a:xfrm>
            <a:off x="1696371" y="3152453"/>
            <a:ext cx="3740867" cy="3167324"/>
          </a:xfrm>
          <a:prstGeom prst="rect">
            <a:avLst/>
          </a:prstGeom>
          <a:noFill/>
          <a:ln>
            <a:noFill/>
          </a:ln>
        </p:spPr>
      </p:pic>
      <p:pic>
        <p:nvPicPr>
          <p:cNvPr id="10" name="Google Shape;416;p48"/>
          <p:cNvPicPr preferRelativeResize="0"/>
          <p:nvPr/>
        </p:nvPicPr>
        <p:blipFill>
          <a:blip r:embed="rId5">
            <a:alphaModFix/>
          </a:blip>
          <a:stretch>
            <a:fillRect/>
          </a:stretch>
        </p:blipFill>
        <p:spPr>
          <a:xfrm>
            <a:off x="6671494" y="3119253"/>
            <a:ext cx="4776008" cy="1301397"/>
          </a:xfrm>
          <a:prstGeom prst="rect">
            <a:avLst/>
          </a:prstGeom>
          <a:noFill/>
          <a:ln>
            <a:noFill/>
          </a:ln>
        </p:spPr>
      </p:pic>
      <p:sp>
        <p:nvSpPr>
          <p:cNvPr id="3" name="Rectangle 2"/>
          <p:cNvSpPr/>
          <p:nvPr/>
        </p:nvSpPr>
        <p:spPr>
          <a:xfrm>
            <a:off x="5830529" y="5006062"/>
            <a:ext cx="6096000" cy="646331"/>
          </a:xfrm>
          <a:prstGeom prst="rect">
            <a:avLst/>
          </a:prstGeom>
        </p:spPr>
        <p:txBody>
          <a:bodyPr>
            <a:spAutoFit/>
          </a:bodyPr>
          <a:lstStyle/>
          <a:p>
            <a:pPr marL="12700" lvl="0" algn="ctr">
              <a:spcBef>
                <a:spcPts val="940"/>
              </a:spcBef>
            </a:pPr>
            <a:r>
              <a:rPr lang="en-US" dirty="0">
                <a:solidFill>
                  <a:srgbClr val="000000"/>
                </a:solidFill>
                <a:latin typeface="Helvetica Neue"/>
                <a:ea typeface="Helvetica Neue"/>
                <a:cs typeface="Helvetica Neue"/>
                <a:sym typeface="Helvetica Neue"/>
              </a:rPr>
              <a:t>Create new class Teacher with the same properties of class Student</a:t>
            </a:r>
          </a:p>
        </p:txBody>
      </p:sp>
    </p:spTree>
    <p:extLst>
      <p:ext uri="{BB962C8B-B14F-4D97-AF65-F5344CB8AC3E}">
        <p14:creationId xmlns:p14="http://schemas.microsoft.com/office/powerpoint/2010/main" val="37574548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22</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551237"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Object-Oriented </a:t>
            </a:r>
            <a:r>
              <a:rPr lang="en-US" dirty="0"/>
              <a:t>Programming (OOP)</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5" name="Rectangle 4"/>
          <p:cNvSpPr/>
          <p:nvPr/>
        </p:nvSpPr>
        <p:spPr>
          <a:xfrm>
            <a:off x="5490711" y="1470469"/>
            <a:ext cx="6096000" cy="4401205"/>
          </a:xfrm>
          <a:prstGeom prst="rect">
            <a:avLst/>
          </a:prstGeom>
          <a:solidFill>
            <a:schemeClr val="tx2"/>
          </a:solidFill>
        </p:spPr>
        <p:txBody>
          <a:bodyPr>
            <a:spAutoFit/>
          </a:bodyPr>
          <a:lstStyle/>
          <a:p>
            <a:r>
              <a:rPr lang="en-US" sz="1400" dirty="0">
                <a:solidFill>
                  <a:srgbClr val="569CD6"/>
                </a:solidFill>
                <a:latin typeface="Consolas" panose="020B0609020204030204" pitchFamily="49" charset="0"/>
              </a:rPr>
              <a:t>class</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Student</a:t>
            </a:r>
            <a:r>
              <a:rPr lang="en-US" sz="1400" dirty="0">
                <a:solidFill>
                  <a:srgbClr val="CCCCCC"/>
                </a:solidFill>
                <a:latin typeface="Consolas" panose="020B0609020204030204" pitchFamily="49" charset="0"/>
              </a:rPr>
              <a:t> {</a:t>
            </a:r>
          </a:p>
          <a:p>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late</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late</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address</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late</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phone</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late</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String</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email</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r>
            <a:br>
              <a:rPr lang="en-US" sz="1400" dirty="0">
                <a:solidFill>
                  <a:srgbClr val="CCCCCC"/>
                </a:solidFill>
                <a:latin typeface="Consolas" panose="020B0609020204030204" pitchFamily="49" charset="0"/>
              </a:rPr>
            </a:br>
            <a:r>
              <a:rPr lang="en-US" sz="1400" dirty="0">
                <a:solidFill>
                  <a:srgbClr val="569CD6"/>
                </a:solidFill>
                <a:latin typeface="Consolas" panose="020B0609020204030204" pitchFamily="49" charset="0"/>
              </a:rPr>
              <a:t>class</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Teacher</a:t>
            </a: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extends</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Student</a:t>
            </a:r>
            <a:r>
              <a:rPr lang="en-US" sz="1400" dirty="0">
                <a:solidFill>
                  <a:srgbClr val="CCCCCC"/>
                </a:solidFill>
                <a:latin typeface="Consolas" panose="020B0609020204030204" pitchFamily="49" charset="0"/>
              </a:rPr>
              <a:t> {</a:t>
            </a:r>
          </a:p>
          <a:p>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void</a:t>
            </a:r>
            <a:r>
              <a:rPr lang="en-US" sz="1400" dirty="0">
                <a:solidFill>
                  <a:srgbClr val="CCCCCC"/>
                </a:solidFill>
                <a:latin typeface="Consolas" panose="020B0609020204030204" pitchFamily="49" charset="0"/>
              </a:rPr>
              <a:t> </a:t>
            </a:r>
            <a:r>
              <a:rPr lang="en-US" sz="1400" dirty="0">
                <a:solidFill>
                  <a:srgbClr val="DCDCAA"/>
                </a:solidFill>
                <a:latin typeface="Consolas" panose="020B0609020204030204" pitchFamily="49" charset="0"/>
              </a:rPr>
              <a:t>Message</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r>
              <a:rPr lang="en-US" sz="1400" dirty="0">
                <a:solidFill>
                  <a:srgbClr val="DCDCAA"/>
                </a:solidFill>
                <a:latin typeface="Consolas" panose="020B0609020204030204" pitchFamily="49" charset="0"/>
              </a:rPr>
              <a:t>print</a:t>
            </a:r>
            <a:r>
              <a:rPr lang="en-US" sz="1400" dirty="0">
                <a:solidFill>
                  <a:srgbClr val="CCCCCC"/>
                </a:solidFill>
                <a:latin typeface="Consolas" panose="020B0609020204030204" pitchFamily="49" charset="0"/>
              </a:rPr>
              <a:t>(</a:t>
            </a:r>
            <a:r>
              <a:rPr lang="en-US" sz="1400" dirty="0">
                <a:solidFill>
                  <a:srgbClr val="CE9178"/>
                </a:solidFill>
                <a:latin typeface="Consolas" panose="020B0609020204030204" pitchFamily="49" charset="0"/>
              </a:rPr>
              <a:t>'I am from </a:t>
            </a:r>
            <a:r>
              <a:rPr lang="en-US" sz="1400" dirty="0" err="1">
                <a:solidFill>
                  <a:srgbClr val="CE9178"/>
                </a:solidFill>
                <a:latin typeface="Consolas" panose="020B0609020204030204" pitchFamily="49" charset="0"/>
              </a:rPr>
              <a:t>Tearcher</a:t>
            </a:r>
            <a:r>
              <a:rPr lang="en-US" sz="1400" dirty="0">
                <a:solidFill>
                  <a:srgbClr val="CE9178"/>
                </a:solidFill>
                <a:latin typeface="Consolas" panose="020B0609020204030204" pitchFamily="49" charset="0"/>
              </a:rPr>
              <a:t> class'</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t>
            </a:r>
          </a:p>
          <a:p>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r>
            <a:br>
              <a:rPr lang="en-US" sz="1400" dirty="0">
                <a:solidFill>
                  <a:srgbClr val="CCCCCC"/>
                </a:solidFill>
                <a:latin typeface="Consolas" panose="020B0609020204030204" pitchFamily="49" charset="0"/>
              </a:rPr>
            </a:br>
            <a:r>
              <a:rPr lang="en-US" sz="1400" dirty="0">
                <a:solidFill>
                  <a:srgbClr val="569CD6"/>
                </a:solidFill>
                <a:latin typeface="Consolas" panose="020B0609020204030204" pitchFamily="49" charset="0"/>
              </a:rPr>
              <a:t>void</a:t>
            </a:r>
            <a:r>
              <a:rPr lang="en-US" sz="1400" dirty="0">
                <a:solidFill>
                  <a:srgbClr val="CCCCCC"/>
                </a:solidFill>
                <a:latin typeface="Consolas" panose="020B0609020204030204" pitchFamily="49" charset="0"/>
              </a:rPr>
              <a:t> </a:t>
            </a:r>
            <a:r>
              <a:rPr lang="en-US" sz="1400" dirty="0">
                <a:solidFill>
                  <a:srgbClr val="DCDCAA"/>
                </a:solidFill>
                <a:latin typeface="Consolas" panose="020B0609020204030204" pitchFamily="49" charset="0"/>
              </a:rPr>
              <a:t>main</a:t>
            </a:r>
            <a:r>
              <a:rPr lang="en-US" sz="1400" dirty="0">
                <a:solidFill>
                  <a:srgbClr val="CCCCCC"/>
                </a:solidFill>
                <a:latin typeface="Consolas" panose="020B0609020204030204" pitchFamily="49" charset="0"/>
              </a:rPr>
              <a:t>() {</a:t>
            </a:r>
          </a:p>
          <a:p>
            <a:r>
              <a:rPr lang="en-US" sz="1400" dirty="0">
                <a:solidFill>
                  <a:srgbClr val="CCCCCC"/>
                </a:solidFill>
                <a:latin typeface="Consolas" panose="020B0609020204030204" pitchFamily="49" charset="0"/>
              </a:rPr>
              <a:t>  </a:t>
            </a:r>
            <a:r>
              <a:rPr lang="en-US" sz="1400" dirty="0" err="1">
                <a:solidFill>
                  <a:srgbClr val="569CD6"/>
                </a:solidFill>
                <a:latin typeface="Consolas" panose="020B0609020204030204" pitchFamily="49" charset="0"/>
              </a:rPr>
              <a:t>var</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Trainer</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new</a:t>
            </a: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Teacher</a:t>
            </a:r>
            <a:r>
              <a:rPr lang="en-US" sz="1400" dirty="0">
                <a:solidFill>
                  <a:srgbClr val="CCCCCC"/>
                </a:solidFill>
                <a:latin typeface="Consolas" panose="020B0609020204030204" pitchFamily="49" charset="0"/>
              </a:rPr>
              <a:t>();</a:t>
            </a:r>
          </a:p>
          <a:p>
            <a:r>
              <a:rPr lang="en-US" sz="1400" dirty="0">
                <a:solidFill>
                  <a:srgbClr val="CCCCCC"/>
                </a:solidFill>
                <a:latin typeface="Consolas" panose="020B0609020204030204" pitchFamily="49" charset="0"/>
              </a:rPr>
              <a:t/>
            </a:r>
            <a:br>
              <a:rPr lang="en-US" sz="1400" dirty="0">
                <a:solidFill>
                  <a:srgbClr val="CCCCCC"/>
                </a:solidFill>
                <a:latin typeface="Consolas" panose="020B0609020204030204" pitchFamily="49" charset="0"/>
              </a:rPr>
            </a:b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Trainer</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'Rakib</a:t>
            </a:r>
            <a:r>
              <a:rPr lang="en-US" sz="1400" dirty="0" smtClean="0">
                <a:solidFill>
                  <a:srgbClr val="CE9178"/>
                </a:solidFill>
                <a:latin typeface="Consolas" panose="020B0609020204030204" pitchFamily="49" charset="0"/>
              </a:rPr>
              <a:t>'</a:t>
            </a:r>
            <a:r>
              <a:rPr lang="en-US" sz="1400" dirty="0" smtClean="0">
                <a:solidFill>
                  <a:srgbClr val="CCCCCC"/>
                </a:solidFill>
                <a:latin typeface="Consolas" panose="020B0609020204030204" pitchFamily="49" charset="0"/>
              </a:rPr>
              <a:t>;</a:t>
            </a:r>
          </a:p>
          <a:p>
            <a:endParaRPr lang="en-US" sz="1400" dirty="0">
              <a:solidFill>
                <a:srgbClr val="CCCCCC"/>
              </a:solidFill>
              <a:latin typeface="Consolas" panose="020B0609020204030204" pitchFamily="49" charset="0"/>
            </a:endParaRPr>
          </a:p>
          <a:p>
            <a:r>
              <a:rPr lang="en-US" sz="1400" dirty="0" smtClean="0">
                <a:solidFill>
                  <a:srgbClr val="CCCCCC"/>
                </a:solidFill>
                <a:latin typeface="Consolas" panose="020B0609020204030204" pitchFamily="49" charset="0"/>
              </a:rPr>
              <a:t>}</a:t>
            </a:r>
            <a:r>
              <a:rPr lang="en-US" sz="1400" dirty="0">
                <a:solidFill>
                  <a:srgbClr val="CCCCCC"/>
                </a:solidFill>
                <a:latin typeface="Consolas" panose="020B0609020204030204" pitchFamily="49" charset="0"/>
              </a:rPr>
              <a:t/>
            </a:r>
            <a:br>
              <a:rPr lang="en-US" sz="1400" dirty="0">
                <a:solidFill>
                  <a:srgbClr val="CCCCCC"/>
                </a:solidFill>
                <a:latin typeface="Consolas" panose="020B0609020204030204" pitchFamily="49" charset="0"/>
              </a:rPr>
            </a:br>
            <a:endParaRPr lang="en-US" sz="1400" b="0" dirty="0">
              <a:solidFill>
                <a:srgbClr val="CCCCCC"/>
              </a:solidFill>
              <a:effectLst/>
              <a:latin typeface="Consolas" panose="020B0609020204030204" pitchFamily="49" charset="0"/>
            </a:endParaRPr>
          </a:p>
        </p:txBody>
      </p:sp>
      <p:pic>
        <p:nvPicPr>
          <p:cNvPr id="6" name="Picture 5"/>
          <p:cNvPicPr>
            <a:picLocks noChangeAspect="1"/>
          </p:cNvPicPr>
          <p:nvPr/>
        </p:nvPicPr>
        <p:blipFill>
          <a:blip r:embed="rId4"/>
          <a:stretch>
            <a:fillRect/>
          </a:stretch>
        </p:blipFill>
        <p:spPr>
          <a:xfrm>
            <a:off x="383823" y="1470469"/>
            <a:ext cx="5036141" cy="4398938"/>
          </a:xfrm>
          <a:prstGeom prst="rect">
            <a:avLst/>
          </a:prstGeom>
        </p:spPr>
      </p:pic>
    </p:spTree>
    <p:extLst>
      <p:ext uri="{BB962C8B-B14F-4D97-AF65-F5344CB8AC3E}">
        <p14:creationId xmlns:p14="http://schemas.microsoft.com/office/powerpoint/2010/main" val="36585263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23</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5557115"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(OOP) </a:t>
            </a:r>
            <a:r>
              <a:rPr lang="en" dirty="0"/>
              <a:t>Abstract Class</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658761" y="1025649"/>
            <a:ext cx="11431382" cy="3919022"/>
          </a:xfrm>
          <a:prstGeom prst="rect">
            <a:avLst/>
          </a:prstGeom>
        </p:spPr>
        <p:txBody>
          <a:bodyPr wrap="square">
            <a:spAutoFit/>
          </a:bodyPr>
          <a:lstStyle/>
          <a:p>
            <a:pPr marR="163195" lvl="0">
              <a:lnSpc>
                <a:spcPct val="115000"/>
              </a:lnSpc>
              <a:spcBef>
                <a:spcPts val="1000"/>
              </a:spcBef>
            </a:pPr>
            <a:r>
              <a:rPr lang="en-US" dirty="0">
                <a:solidFill>
                  <a:srgbClr val="222222"/>
                </a:solidFill>
                <a:ea typeface="Arial"/>
                <a:cs typeface="Arial"/>
                <a:sym typeface="Arial"/>
              </a:rPr>
              <a:t>A class is called abstract when at least one of its methods or functions does not have an implementation (function body). It is the responsibility of the derived / child class to provide the implementation of the abstract members of the parent class.</a:t>
            </a:r>
          </a:p>
          <a:p>
            <a:pPr marR="163195" lvl="0">
              <a:lnSpc>
                <a:spcPct val="115000"/>
              </a:lnSpc>
              <a:spcBef>
                <a:spcPts val="1000"/>
              </a:spcBef>
            </a:pPr>
            <a:r>
              <a:rPr lang="en-US" dirty="0">
                <a:solidFill>
                  <a:srgbClr val="222222"/>
                </a:solidFill>
                <a:ea typeface="Arial"/>
                <a:cs typeface="Arial"/>
                <a:sym typeface="Arial"/>
              </a:rPr>
              <a:t>An abstract class needs to be qualified with the abstract keyword. An abstract class cannot be instantiated, and its only purpose is to be inherited.</a:t>
            </a:r>
          </a:p>
          <a:p>
            <a:pPr marR="163195" lvl="0">
              <a:lnSpc>
                <a:spcPct val="115000"/>
              </a:lnSpc>
              <a:spcBef>
                <a:spcPts val="1000"/>
              </a:spcBef>
            </a:pPr>
            <a:r>
              <a:rPr lang="en-US" b="1" dirty="0">
                <a:solidFill>
                  <a:srgbClr val="222222"/>
                </a:solidFill>
                <a:ea typeface="Arial"/>
                <a:cs typeface="Arial"/>
                <a:sym typeface="Arial"/>
              </a:rPr>
              <a:t>Example:</a:t>
            </a:r>
          </a:p>
          <a:p>
            <a:pPr marR="163195" lvl="0">
              <a:lnSpc>
                <a:spcPct val="115000"/>
              </a:lnSpc>
              <a:spcBef>
                <a:spcPts val="1000"/>
              </a:spcBef>
            </a:pPr>
            <a:r>
              <a:rPr lang="en-US" dirty="0">
                <a:solidFill>
                  <a:srgbClr val="222222"/>
                </a:solidFill>
                <a:ea typeface="Arial"/>
                <a:cs typeface="Arial"/>
                <a:sym typeface="Arial"/>
              </a:rPr>
              <a:t>In the following example, Student is a normal class. If you added the </a:t>
            </a:r>
            <a:r>
              <a:rPr lang="en-US" dirty="0" err="1">
                <a:solidFill>
                  <a:srgbClr val="222222"/>
                </a:solidFill>
                <a:ea typeface="Arial"/>
                <a:cs typeface="Arial"/>
                <a:sym typeface="Arial"/>
              </a:rPr>
              <a:t>contactInfo</a:t>
            </a:r>
            <a:r>
              <a:rPr lang="en-US" dirty="0">
                <a:solidFill>
                  <a:srgbClr val="222222"/>
                </a:solidFill>
                <a:ea typeface="Arial"/>
                <a:cs typeface="Arial"/>
                <a:sym typeface="Arial"/>
              </a:rPr>
              <a:t> method to this class without a method body , you will get an error as illustrated in the following code:</a:t>
            </a:r>
          </a:p>
          <a:p>
            <a:pPr marR="163195" lvl="0">
              <a:lnSpc>
                <a:spcPct val="115000"/>
              </a:lnSpc>
              <a:spcBef>
                <a:spcPts val="1000"/>
              </a:spcBef>
            </a:pPr>
            <a:endParaRPr lang="en-US" dirty="0">
              <a:solidFill>
                <a:srgbClr val="222222"/>
              </a:solidFill>
              <a:ea typeface="Arial"/>
              <a:cs typeface="Arial"/>
              <a:sym typeface="Arial"/>
            </a:endParaRPr>
          </a:p>
          <a:p>
            <a:pPr marR="163195" lvl="0">
              <a:lnSpc>
                <a:spcPct val="115000"/>
              </a:lnSpc>
              <a:spcBef>
                <a:spcPts val="1000"/>
              </a:spcBef>
            </a:pPr>
            <a:endParaRPr lang="en-US" dirty="0">
              <a:solidFill>
                <a:srgbClr val="222222"/>
              </a:solidFill>
              <a:ea typeface="Arial"/>
              <a:cs typeface="Arial"/>
              <a:sym typeface="Arial"/>
            </a:endParaRPr>
          </a:p>
        </p:txBody>
      </p:sp>
      <p:pic>
        <p:nvPicPr>
          <p:cNvPr id="10" name="Google Shape;433;p50"/>
          <p:cNvPicPr preferRelativeResize="0"/>
          <p:nvPr/>
        </p:nvPicPr>
        <p:blipFill>
          <a:blip r:embed="rId4">
            <a:alphaModFix/>
          </a:blip>
          <a:stretch>
            <a:fillRect/>
          </a:stretch>
        </p:blipFill>
        <p:spPr>
          <a:xfrm>
            <a:off x="1120658" y="4250345"/>
            <a:ext cx="3449731" cy="2219635"/>
          </a:xfrm>
          <a:prstGeom prst="rect">
            <a:avLst/>
          </a:prstGeom>
          <a:noFill/>
          <a:ln>
            <a:noFill/>
          </a:ln>
        </p:spPr>
      </p:pic>
      <p:pic>
        <p:nvPicPr>
          <p:cNvPr id="11" name="Google Shape;434;p50"/>
          <p:cNvPicPr preferRelativeResize="0"/>
          <p:nvPr/>
        </p:nvPicPr>
        <p:blipFill>
          <a:blip r:embed="rId5">
            <a:alphaModFix/>
          </a:blip>
          <a:stretch>
            <a:fillRect/>
          </a:stretch>
        </p:blipFill>
        <p:spPr>
          <a:xfrm>
            <a:off x="6374452" y="4250345"/>
            <a:ext cx="3290658" cy="2151405"/>
          </a:xfrm>
          <a:prstGeom prst="rect">
            <a:avLst/>
          </a:prstGeom>
          <a:noFill/>
          <a:ln>
            <a:noFill/>
          </a:ln>
        </p:spPr>
      </p:pic>
      <p:sp>
        <p:nvSpPr>
          <p:cNvPr id="13" name="Google Shape;435;p50"/>
          <p:cNvSpPr/>
          <p:nvPr/>
        </p:nvSpPr>
        <p:spPr>
          <a:xfrm>
            <a:off x="5032285" y="4851396"/>
            <a:ext cx="1108166" cy="780827"/>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Tree>
    <p:extLst>
      <p:ext uri="{BB962C8B-B14F-4D97-AF65-F5344CB8AC3E}">
        <p14:creationId xmlns:p14="http://schemas.microsoft.com/office/powerpoint/2010/main" val="3836382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24</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5557115"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(OOP) </a:t>
            </a:r>
            <a:r>
              <a:rPr lang="en" dirty="0"/>
              <a:t>Abstract Class</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658761" y="1025649"/>
            <a:ext cx="11431382" cy="1149161"/>
          </a:xfrm>
          <a:prstGeom prst="rect">
            <a:avLst/>
          </a:prstGeom>
        </p:spPr>
        <p:txBody>
          <a:bodyPr wrap="square">
            <a:spAutoFit/>
          </a:bodyPr>
          <a:lstStyle/>
          <a:p>
            <a:pPr marR="163195" lvl="0">
              <a:lnSpc>
                <a:spcPct val="115000"/>
              </a:lnSpc>
              <a:spcBef>
                <a:spcPts val="1000"/>
              </a:spcBef>
            </a:pPr>
            <a:r>
              <a:rPr lang="en-US" dirty="0">
                <a:solidFill>
                  <a:srgbClr val="222222"/>
                </a:solidFill>
                <a:latin typeface="Arial"/>
                <a:ea typeface="Arial"/>
                <a:cs typeface="Arial"/>
                <a:sym typeface="Arial"/>
              </a:rPr>
              <a:t>Also, you can’t create an object directly using this abstract class. If you try, you will get an error (red underline) as illustrated in the following screenshot:</a:t>
            </a:r>
          </a:p>
          <a:p>
            <a:pPr marR="163195" lvl="0">
              <a:lnSpc>
                <a:spcPct val="115000"/>
              </a:lnSpc>
              <a:spcBef>
                <a:spcPts val="1000"/>
              </a:spcBef>
            </a:pPr>
            <a:r>
              <a:rPr lang="en-US" dirty="0">
                <a:solidFill>
                  <a:srgbClr val="222222"/>
                </a:solidFill>
                <a:latin typeface="Arial"/>
                <a:ea typeface="Arial"/>
                <a:cs typeface="Arial"/>
                <a:sym typeface="Arial"/>
              </a:rPr>
              <a:t>Example</a:t>
            </a:r>
            <a:r>
              <a:rPr lang="en-US" dirty="0" smtClean="0">
                <a:solidFill>
                  <a:srgbClr val="222222"/>
                </a:solidFill>
                <a:latin typeface="Arial"/>
                <a:ea typeface="Arial"/>
                <a:cs typeface="Arial"/>
                <a:sym typeface="Arial"/>
              </a:rPr>
              <a:t>:</a:t>
            </a:r>
            <a:endParaRPr lang="en-US" dirty="0">
              <a:solidFill>
                <a:srgbClr val="222222"/>
              </a:solidFill>
              <a:latin typeface="Arial"/>
              <a:ea typeface="Arial"/>
              <a:cs typeface="Arial"/>
              <a:sym typeface="Arial"/>
            </a:endParaRPr>
          </a:p>
        </p:txBody>
      </p:sp>
      <p:pic>
        <p:nvPicPr>
          <p:cNvPr id="4" name="Picture 3"/>
          <p:cNvPicPr>
            <a:picLocks noChangeAspect="1"/>
          </p:cNvPicPr>
          <p:nvPr/>
        </p:nvPicPr>
        <p:blipFill>
          <a:blip r:embed="rId4"/>
          <a:stretch>
            <a:fillRect/>
          </a:stretch>
        </p:blipFill>
        <p:spPr>
          <a:xfrm>
            <a:off x="767113" y="2666515"/>
            <a:ext cx="4286470" cy="2921150"/>
          </a:xfrm>
          <a:prstGeom prst="rect">
            <a:avLst/>
          </a:prstGeom>
        </p:spPr>
      </p:pic>
      <p:pic>
        <p:nvPicPr>
          <p:cNvPr id="5" name="Picture 4"/>
          <p:cNvPicPr>
            <a:picLocks noChangeAspect="1"/>
          </p:cNvPicPr>
          <p:nvPr/>
        </p:nvPicPr>
        <p:blipFill>
          <a:blip r:embed="rId5"/>
          <a:stretch>
            <a:fillRect/>
          </a:stretch>
        </p:blipFill>
        <p:spPr>
          <a:xfrm>
            <a:off x="5240390" y="3288234"/>
            <a:ext cx="6590331" cy="1362424"/>
          </a:xfrm>
          <a:prstGeom prst="rect">
            <a:avLst/>
          </a:prstGeom>
        </p:spPr>
      </p:pic>
    </p:spTree>
    <p:extLst>
      <p:ext uri="{BB962C8B-B14F-4D97-AF65-F5344CB8AC3E}">
        <p14:creationId xmlns:p14="http://schemas.microsoft.com/office/powerpoint/2010/main" val="33546913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25</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5557115"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(OOP) </a:t>
            </a:r>
            <a:r>
              <a:rPr lang="en" dirty="0"/>
              <a:t>Abstract Class</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658761" y="1025649"/>
            <a:ext cx="11431382" cy="2706895"/>
          </a:xfrm>
          <a:prstGeom prst="rect">
            <a:avLst/>
          </a:prstGeom>
        </p:spPr>
        <p:txBody>
          <a:bodyPr wrap="square">
            <a:spAutoFit/>
          </a:bodyPr>
          <a:lstStyle/>
          <a:p>
            <a:pPr marR="163195" lvl="0">
              <a:lnSpc>
                <a:spcPct val="115000"/>
              </a:lnSpc>
              <a:spcBef>
                <a:spcPts val="1000"/>
              </a:spcBef>
            </a:pPr>
            <a:r>
              <a:rPr lang="en-US" dirty="0">
                <a:solidFill>
                  <a:srgbClr val="222222"/>
                </a:solidFill>
                <a:ea typeface="Arial"/>
                <a:cs typeface="Arial"/>
                <a:sym typeface="Arial"/>
              </a:rPr>
              <a:t>Instead of that , you should create a child class that inherits these abstract class (Student) properties and abstract methods, then use this child class in creating new objects.</a:t>
            </a:r>
          </a:p>
          <a:p>
            <a:pPr marR="163195" lvl="0">
              <a:lnSpc>
                <a:spcPct val="115000"/>
              </a:lnSpc>
              <a:spcBef>
                <a:spcPts val="1000"/>
              </a:spcBef>
            </a:pPr>
            <a:r>
              <a:rPr lang="en-US" dirty="0">
                <a:solidFill>
                  <a:srgbClr val="222222"/>
                </a:solidFill>
                <a:ea typeface="Arial"/>
                <a:cs typeface="Arial"/>
                <a:sym typeface="Arial"/>
              </a:rPr>
              <a:t>In the following code, </a:t>
            </a:r>
            <a:r>
              <a:rPr lang="en-US" dirty="0" err="1">
                <a:solidFill>
                  <a:srgbClr val="222222"/>
                </a:solidFill>
                <a:ea typeface="Arial"/>
                <a:cs typeface="Arial"/>
                <a:sym typeface="Arial"/>
              </a:rPr>
              <a:t>ITStudent</a:t>
            </a:r>
            <a:r>
              <a:rPr lang="en-US" dirty="0">
                <a:solidFill>
                  <a:srgbClr val="222222"/>
                </a:solidFill>
                <a:ea typeface="Arial"/>
                <a:cs typeface="Arial"/>
                <a:sym typeface="Arial"/>
              </a:rPr>
              <a:t> is a child class, and will inherit all the Student (parent class) properties and methods. When you type the following code , you will see a red underline below </a:t>
            </a:r>
            <a:r>
              <a:rPr lang="en-US" dirty="0" err="1">
                <a:solidFill>
                  <a:srgbClr val="222222"/>
                </a:solidFill>
                <a:ea typeface="Arial"/>
                <a:cs typeface="Arial"/>
                <a:sym typeface="Arial"/>
              </a:rPr>
              <a:t>ITStudent</a:t>
            </a:r>
            <a:r>
              <a:rPr lang="en-US" dirty="0">
                <a:solidFill>
                  <a:srgbClr val="222222"/>
                </a:solidFill>
                <a:ea typeface="Arial"/>
                <a:cs typeface="Arial"/>
                <a:sym typeface="Arial"/>
              </a:rPr>
              <a:t> because the abstract class </a:t>
            </a:r>
            <a:r>
              <a:rPr lang="en-US" dirty="0" err="1">
                <a:solidFill>
                  <a:srgbClr val="222222"/>
                </a:solidFill>
                <a:ea typeface="Arial"/>
                <a:cs typeface="Arial"/>
                <a:sym typeface="Arial"/>
              </a:rPr>
              <a:t>ITStudent</a:t>
            </a:r>
            <a:r>
              <a:rPr lang="en-US" dirty="0">
                <a:solidFill>
                  <a:srgbClr val="222222"/>
                </a:solidFill>
                <a:ea typeface="Arial"/>
                <a:cs typeface="Arial"/>
                <a:sym typeface="Arial"/>
              </a:rPr>
              <a:t> includes an empty abstract method called </a:t>
            </a:r>
            <a:r>
              <a:rPr lang="en-US" dirty="0" err="1">
                <a:solidFill>
                  <a:srgbClr val="222222"/>
                </a:solidFill>
                <a:ea typeface="Arial"/>
                <a:cs typeface="Arial"/>
                <a:sym typeface="Arial"/>
              </a:rPr>
              <a:t>contactInfo</a:t>
            </a:r>
            <a:r>
              <a:rPr lang="en-US" dirty="0">
                <a:solidFill>
                  <a:srgbClr val="222222"/>
                </a:solidFill>
                <a:ea typeface="Arial"/>
                <a:cs typeface="Arial"/>
                <a:sym typeface="Arial"/>
              </a:rPr>
              <a:t>.</a:t>
            </a:r>
          </a:p>
          <a:p>
            <a:pPr marR="163195" lvl="0">
              <a:lnSpc>
                <a:spcPct val="115000"/>
              </a:lnSpc>
              <a:spcBef>
                <a:spcPts val="1000"/>
              </a:spcBef>
            </a:pPr>
            <a:endParaRPr lang="en-US" dirty="0">
              <a:solidFill>
                <a:srgbClr val="222222"/>
              </a:solidFill>
              <a:ea typeface="Arial"/>
              <a:cs typeface="Arial"/>
              <a:sym typeface="Arial"/>
            </a:endParaRPr>
          </a:p>
          <a:p>
            <a:pPr marR="163195" lvl="0">
              <a:lnSpc>
                <a:spcPct val="115000"/>
              </a:lnSpc>
              <a:spcBef>
                <a:spcPts val="1000"/>
              </a:spcBef>
            </a:pPr>
            <a:endParaRPr lang="en-US" dirty="0">
              <a:solidFill>
                <a:srgbClr val="222222"/>
              </a:solidFill>
              <a:ea typeface="Arial"/>
              <a:cs typeface="Arial"/>
              <a:sym typeface="Arial"/>
            </a:endParaRPr>
          </a:p>
        </p:txBody>
      </p:sp>
      <p:pic>
        <p:nvPicPr>
          <p:cNvPr id="6" name="Picture 5"/>
          <p:cNvPicPr>
            <a:picLocks noChangeAspect="1"/>
          </p:cNvPicPr>
          <p:nvPr/>
        </p:nvPicPr>
        <p:blipFill>
          <a:blip r:embed="rId4"/>
          <a:stretch>
            <a:fillRect/>
          </a:stretch>
        </p:blipFill>
        <p:spPr>
          <a:xfrm>
            <a:off x="347086" y="3098629"/>
            <a:ext cx="4457929" cy="2686188"/>
          </a:xfrm>
          <a:prstGeom prst="rect">
            <a:avLst/>
          </a:prstGeom>
        </p:spPr>
      </p:pic>
      <p:pic>
        <p:nvPicPr>
          <p:cNvPr id="7" name="Picture 6"/>
          <p:cNvPicPr>
            <a:picLocks noChangeAspect="1"/>
          </p:cNvPicPr>
          <p:nvPr/>
        </p:nvPicPr>
        <p:blipFill>
          <a:blip r:embed="rId5"/>
          <a:stretch>
            <a:fillRect/>
          </a:stretch>
        </p:blipFill>
        <p:spPr>
          <a:xfrm>
            <a:off x="5058145" y="3562781"/>
            <a:ext cx="6769448" cy="1663786"/>
          </a:xfrm>
          <a:prstGeom prst="rect">
            <a:avLst/>
          </a:prstGeom>
        </p:spPr>
      </p:pic>
    </p:spTree>
    <p:extLst>
      <p:ext uri="{BB962C8B-B14F-4D97-AF65-F5344CB8AC3E}">
        <p14:creationId xmlns:p14="http://schemas.microsoft.com/office/powerpoint/2010/main" val="394359214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26</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5557115"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(OOP) </a:t>
            </a:r>
            <a:r>
              <a:rPr lang="en" dirty="0"/>
              <a:t>Abstract Class</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658761" y="1025649"/>
            <a:ext cx="11431382" cy="383823"/>
          </a:xfrm>
          <a:prstGeom prst="rect">
            <a:avLst/>
          </a:prstGeom>
        </p:spPr>
        <p:txBody>
          <a:bodyPr wrap="square">
            <a:spAutoFit/>
          </a:bodyPr>
          <a:lstStyle/>
          <a:p>
            <a:pPr marR="163195" lvl="0">
              <a:lnSpc>
                <a:spcPct val="115000"/>
              </a:lnSpc>
              <a:spcBef>
                <a:spcPts val="1000"/>
              </a:spcBef>
            </a:pPr>
            <a:r>
              <a:rPr lang="en-US" dirty="0" smtClean="0">
                <a:solidFill>
                  <a:srgbClr val="222222"/>
                </a:solidFill>
                <a:latin typeface="Arial"/>
                <a:ea typeface="Arial"/>
                <a:cs typeface="Arial"/>
                <a:sym typeface="Arial"/>
              </a:rPr>
              <a:t>You can create the student object from the </a:t>
            </a:r>
            <a:r>
              <a:rPr lang="en-US" b="1" dirty="0" err="1" smtClean="0">
                <a:solidFill>
                  <a:srgbClr val="222222"/>
                </a:solidFill>
                <a:latin typeface="Arial"/>
                <a:ea typeface="Arial"/>
                <a:cs typeface="Arial"/>
                <a:sym typeface="Arial"/>
              </a:rPr>
              <a:t>ITStudent</a:t>
            </a:r>
            <a:r>
              <a:rPr lang="en-US" dirty="0" smtClean="0">
                <a:solidFill>
                  <a:srgbClr val="222222"/>
                </a:solidFill>
                <a:latin typeface="Arial"/>
                <a:ea typeface="Arial"/>
                <a:cs typeface="Arial"/>
                <a:sym typeface="Arial"/>
              </a:rPr>
              <a:t> class as illustrated in the following code:</a:t>
            </a:r>
            <a:endParaRPr lang="en-US" dirty="0">
              <a:solidFill>
                <a:srgbClr val="222222"/>
              </a:solidFill>
              <a:latin typeface="Arial"/>
              <a:ea typeface="Arial"/>
              <a:cs typeface="Arial"/>
              <a:sym typeface="Arial"/>
            </a:endParaRPr>
          </a:p>
        </p:txBody>
      </p:sp>
      <p:pic>
        <p:nvPicPr>
          <p:cNvPr id="4" name="Picture 3"/>
          <p:cNvPicPr>
            <a:picLocks noChangeAspect="1"/>
          </p:cNvPicPr>
          <p:nvPr/>
        </p:nvPicPr>
        <p:blipFill>
          <a:blip r:embed="rId4"/>
          <a:stretch>
            <a:fillRect/>
          </a:stretch>
        </p:blipFill>
        <p:spPr>
          <a:xfrm>
            <a:off x="3124085" y="1738919"/>
            <a:ext cx="4826248" cy="4407126"/>
          </a:xfrm>
          <a:prstGeom prst="rect">
            <a:avLst/>
          </a:prstGeom>
        </p:spPr>
      </p:pic>
    </p:spTree>
    <p:extLst>
      <p:ext uri="{BB962C8B-B14F-4D97-AF65-F5344CB8AC3E}">
        <p14:creationId xmlns:p14="http://schemas.microsoft.com/office/powerpoint/2010/main" val="367738139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27</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5557115" cy="572700"/>
          </a:xfrm>
          <a:prstGeom prst="rect">
            <a:avLst/>
          </a:prstGeom>
        </p:spPr>
        <p:txBody>
          <a:bodyPr spcFirstLastPara="1" wrap="square" lIns="91425" tIns="91425" rIns="91425" bIns="91425" anchor="t" anchorCtr="0">
            <a:noAutofit/>
          </a:bodyPr>
          <a:lstStyle/>
          <a:p>
            <a:pPr lvl="0" algn="ctr">
              <a:spcBef>
                <a:spcPts val="0"/>
              </a:spcBef>
            </a:pPr>
            <a:r>
              <a:rPr lang="en-US" dirty="0" smtClean="0"/>
              <a:t>2. (OOP) </a:t>
            </a:r>
            <a:r>
              <a:rPr lang="en" dirty="0"/>
              <a:t>Abstract Class</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658761" y="1025649"/>
            <a:ext cx="11067159" cy="703911"/>
          </a:xfrm>
          <a:prstGeom prst="rect">
            <a:avLst/>
          </a:prstGeom>
        </p:spPr>
        <p:txBody>
          <a:bodyPr wrap="square">
            <a:spAutoFit/>
          </a:bodyPr>
          <a:lstStyle/>
          <a:p>
            <a:pPr marR="163195" lvl="0">
              <a:lnSpc>
                <a:spcPct val="115000"/>
              </a:lnSpc>
              <a:spcBef>
                <a:spcPts val="1000"/>
              </a:spcBef>
            </a:pPr>
            <a:r>
              <a:rPr lang="en-US" dirty="0">
                <a:solidFill>
                  <a:srgbClr val="222222"/>
                </a:solidFill>
                <a:ea typeface="Arial"/>
                <a:cs typeface="Arial"/>
                <a:sym typeface="Arial"/>
              </a:rPr>
              <a:t>Although this abstract class has abstract methods, it can include normal methods also. For example, you can add </a:t>
            </a:r>
            <a:r>
              <a:rPr lang="en-US" dirty="0" err="1">
                <a:solidFill>
                  <a:srgbClr val="222222"/>
                </a:solidFill>
                <a:ea typeface="Arial"/>
                <a:cs typeface="Arial"/>
                <a:sym typeface="Arial"/>
              </a:rPr>
              <a:t>CourseInfo</a:t>
            </a:r>
            <a:r>
              <a:rPr lang="en-US" dirty="0">
                <a:solidFill>
                  <a:srgbClr val="222222"/>
                </a:solidFill>
                <a:ea typeface="Arial"/>
                <a:cs typeface="Arial"/>
                <a:sym typeface="Arial"/>
              </a:rPr>
              <a:t> method with a method body to your abstract class: Student as illustrated in the following code </a:t>
            </a:r>
            <a:r>
              <a:rPr lang="en-US" dirty="0" smtClean="0">
                <a:solidFill>
                  <a:srgbClr val="222222"/>
                </a:solidFill>
                <a:ea typeface="Arial"/>
                <a:cs typeface="Arial"/>
                <a:sym typeface="Arial"/>
              </a:rPr>
              <a:t>:</a:t>
            </a:r>
            <a:endParaRPr lang="en-US" dirty="0">
              <a:solidFill>
                <a:srgbClr val="222222"/>
              </a:solidFill>
              <a:ea typeface="Arial"/>
              <a:cs typeface="Arial"/>
              <a:sym typeface="Arial"/>
            </a:endParaRPr>
          </a:p>
        </p:txBody>
      </p:sp>
      <p:pic>
        <p:nvPicPr>
          <p:cNvPr id="8" name="Google Shape;480;p55"/>
          <p:cNvPicPr preferRelativeResize="0"/>
          <p:nvPr/>
        </p:nvPicPr>
        <p:blipFill>
          <a:blip r:embed="rId4">
            <a:alphaModFix/>
          </a:blip>
          <a:stretch>
            <a:fillRect/>
          </a:stretch>
        </p:blipFill>
        <p:spPr>
          <a:xfrm>
            <a:off x="583336" y="2095586"/>
            <a:ext cx="4709724" cy="4118401"/>
          </a:xfrm>
          <a:prstGeom prst="rect">
            <a:avLst/>
          </a:prstGeom>
          <a:noFill/>
          <a:ln>
            <a:noFill/>
          </a:ln>
        </p:spPr>
      </p:pic>
      <p:pic>
        <p:nvPicPr>
          <p:cNvPr id="9" name="Google Shape;482;p55"/>
          <p:cNvPicPr preferRelativeResize="0"/>
          <p:nvPr/>
        </p:nvPicPr>
        <p:blipFill>
          <a:blip r:embed="rId5">
            <a:alphaModFix/>
          </a:blip>
          <a:stretch>
            <a:fillRect/>
          </a:stretch>
        </p:blipFill>
        <p:spPr>
          <a:xfrm>
            <a:off x="6492487" y="3227763"/>
            <a:ext cx="4897140" cy="1854046"/>
          </a:xfrm>
          <a:prstGeom prst="rect">
            <a:avLst/>
          </a:prstGeom>
          <a:noFill/>
          <a:ln>
            <a:noFill/>
          </a:ln>
        </p:spPr>
      </p:pic>
    </p:spTree>
    <p:extLst>
      <p:ext uri="{BB962C8B-B14F-4D97-AF65-F5344CB8AC3E}">
        <p14:creationId xmlns:p14="http://schemas.microsoft.com/office/powerpoint/2010/main" val="34909943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28</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268433" cy="572700"/>
          </a:xfrm>
          <a:prstGeom prst="rect">
            <a:avLst/>
          </a:prstGeom>
        </p:spPr>
        <p:txBody>
          <a:bodyPr spcFirstLastPara="1" wrap="square" lIns="91425" tIns="91425" rIns="91425" bIns="91425" anchor="t" anchorCtr="0">
            <a:noAutofit/>
          </a:bodyPr>
          <a:lstStyle/>
          <a:p>
            <a:pPr lvl="0" algn="ctr">
              <a:spcBef>
                <a:spcPts val="0"/>
              </a:spcBef>
            </a:pPr>
            <a:r>
              <a:rPr lang="en" sz="2800" dirty="0"/>
              <a:t>Create a Small Overtime Payment Program</a:t>
            </a:r>
            <a:endParaRPr lang="en-US" sz="2800"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658761" y="1025649"/>
            <a:ext cx="11067159" cy="5265480"/>
          </a:xfrm>
          <a:prstGeom prst="rect">
            <a:avLst/>
          </a:prstGeom>
        </p:spPr>
        <p:txBody>
          <a:bodyPr wrap="square">
            <a:spAutoFit/>
          </a:bodyPr>
          <a:lstStyle/>
          <a:p>
            <a:pPr marR="163195" lvl="0">
              <a:lnSpc>
                <a:spcPct val="115000"/>
              </a:lnSpc>
              <a:spcBef>
                <a:spcPts val="1000"/>
              </a:spcBef>
            </a:pPr>
            <a:r>
              <a:rPr lang="en-US" sz="1600" b="1" dirty="0">
                <a:solidFill>
                  <a:srgbClr val="222222"/>
                </a:solidFill>
                <a:ea typeface="Arial"/>
                <a:cs typeface="Arial"/>
                <a:sym typeface="Arial"/>
              </a:rPr>
              <a:t>Step 1: </a:t>
            </a:r>
            <a:r>
              <a:rPr lang="en-US" sz="1600" dirty="0">
                <a:solidFill>
                  <a:srgbClr val="222222"/>
                </a:solidFill>
                <a:ea typeface="Arial"/>
                <a:cs typeface="Arial"/>
                <a:sym typeface="Arial"/>
              </a:rPr>
              <a:t>Set Up the Project in Visual Studio Code</a:t>
            </a:r>
          </a:p>
          <a:p>
            <a:pPr marR="163195" lvl="0">
              <a:lnSpc>
                <a:spcPct val="115000"/>
              </a:lnSpc>
              <a:spcBef>
                <a:spcPts val="1000"/>
              </a:spcBef>
            </a:pPr>
            <a:r>
              <a:rPr lang="en-US" sz="1600" dirty="0">
                <a:solidFill>
                  <a:srgbClr val="222222"/>
                </a:solidFill>
                <a:ea typeface="Arial"/>
                <a:cs typeface="Arial"/>
                <a:sym typeface="Arial"/>
              </a:rPr>
              <a:t>1. Open Visual Studio Code  and click on `File → Open Folder`.</a:t>
            </a:r>
          </a:p>
          <a:p>
            <a:pPr marR="163195" lvl="0">
              <a:lnSpc>
                <a:spcPct val="115000"/>
              </a:lnSpc>
              <a:spcBef>
                <a:spcPts val="1000"/>
              </a:spcBef>
            </a:pPr>
            <a:r>
              <a:rPr lang="en-US" sz="1600" dirty="0">
                <a:solidFill>
                  <a:srgbClr val="222222"/>
                </a:solidFill>
                <a:ea typeface="Arial"/>
                <a:cs typeface="Arial"/>
                <a:sym typeface="Arial"/>
              </a:rPr>
              <a:t>2. Create a new folder named `Lab3` and open it in VS Code.</a:t>
            </a:r>
          </a:p>
          <a:p>
            <a:pPr marR="163195" lvl="0">
              <a:lnSpc>
                <a:spcPct val="115000"/>
              </a:lnSpc>
              <a:spcBef>
                <a:spcPts val="1000"/>
              </a:spcBef>
            </a:pPr>
            <a:endParaRPr lang="en-US" sz="1600" dirty="0">
              <a:solidFill>
                <a:srgbClr val="222222"/>
              </a:solidFill>
              <a:ea typeface="Arial"/>
              <a:cs typeface="Arial"/>
              <a:sym typeface="Arial"/>
            </a:endParaRPr>
          </a:p>
          <a:p>
            <a:pPr marR="163195" lvl="0">
              <a:lnSpc>
                <a:spcPct val="115000"/>
              </a:lnSpc>
              <a:spcBef>
                <a:spcPts val="1000"/>
              </a:spcBef>
            </a:pPr>
            <a:r>
              <a:rPr lang="en-US" sz="1600" b="1" dirty="0">
                <a:solidFill>
                  <a:srgbClr val="222222"/>
                </a:solidFill>
                <a:ea typeface="Arial"/>
                <a:cs typeface="Arial"/>
                <a:sym typeface="Arial"/>
              </a:rPr>
              <a:t>Step 2:</a:t>
            </a:r>
            <a:r>
              <a:rPr lang="en-US" sz="1600" dirty="0">
                <a:solidFill>
                  <a:srgbClr val="222222"/>
                </a:solidFill>
                <a:ea typeface="Arial"/>
                <a:cs typeface="Arial"/>
                <a:sym typeface="Arial"/>
              </a:rPr>
              <a:t> Create `</a:t>
            </a:r>
            <a:r>
              <a:rPr lang="en-US" sz="1600" dirty="0" err="1">
                <a:solidFill>
                  <a:srgbClr val="222222"/>
                </a:solidFill>
                <a:ea typeface="Arial"/>
                <a:cs typeface="Arial"/>
                <a:sym typeface="Arial"/>
              </a:rPr>
              <a:t>myLib.dart</a:t>
            </a:r>
            <a:r>
              <a:rPr lang="en-US" sz="1600" dirty="0">
                <a:solidFill>
                  <a:srgbClr val="222222"/>
                </a:solidFill>
                <a:ea typeface="Arial"/>
                <a:cs typeface="Arial"/>
                <a:sym typeface="Arial"/>
              </a:rPr>
              <a:t>` Library File</a:t>
            </a:r>
          </a:p>
          <a:p>
            <a:pPr marR="163195" lvl="0">
              <a:lnSpc>
                <a:spcPct val="115000"/>
              </a:lnSpc>
              <a:spcBef>
                <a:spcPts val="1000"/>
              </a:spcBef>
            </a:pPr>
            <a:r>
              <a:rPr lang="en-US" sz="1600" dirty="0">
                <a:solidFill>
                  <a:srgbClr val="222222"/>
                </a:solidFill>
                <a:ea typeface="Arial"/>
                <a:cs typeface="Arial"/>
                <a:sym typeface="Arial"/>
              </a:rPr>
              <a:t>1. In VS Code, right-click on the `Lab3` folder in the file explorer, and select **New File**.</a:t>
            </a:r>
          </a:p>
          <a:p>
            <a:pPr marR="163195" lvl="0">
              <a:lnSpc>
                <a:spcPct val="115000"/>
              </a:lnSpc>
              <a:spcBef>
                <a:spcPts val="1000"/>
              </a:spcBef>
            </a:pPr>
            <a:r>
              <a:rPr lang="en-US" sz="1600" dirty="0">
                <a:solidFill>
                  <a:srgbClr val="222222"/>
                </a:solidFill>
                <a:ea typeface="Arial"/>
                <a:cs typeface="Arial"/>
                <a:sym typeface="Arial"/>
              </a:rPr>
              <a:t>2. Name the file `</a:t>
            </a:r>
            <a:r>
              <a:rPr lang="en-US" sz="1600" dirty="0" err="1">
                <a:solidFill>
                  <a:srgbClr val="222222"/>
                </a:solidFill>
                <a:ea typeface="Arial"/>
                <a:cs typeface="Arial"/>
                <a:sym typeface="Arial"/>
              </a:rPr>
              <a:t>myLib.dart</a:t>
            </a:r>
            <a:r>
              <a:rPr lang="en-US" sz="1600" dirty="0">
                <a:solidFill>
                  <a:srgbClr val="222222"/>
                </a:solidFill>
                <a:ea typeface="Arial"/>
                <a:cs typeface="Arial"/>
                <a:sym typeface="Arial"/>
              </a:rPr>
              <a:t>` and press Enter.</a:t>
            </a:r>
          </a:p>
          <a:p>
            <a:pPr marR="163195" lvl="0">
              <a:lnSpc>
                <a:spcPct val="115000"/>
              </a:lnSpc>
              <a:spcBef>
                <a:spcPts val="1000"/>
              </a:spcBef>
            </a:pPr>
            <a:r>
              <a:rPr lang="en-US" sz="1600" dirty="0">
                <a:solidFill>
                  <a:srgbClr val="222222"/>
                </a:solidFill>
                <a:ea typeface="Arial"/>
                <a:cs typeface="Arial"/>
                <a:sym typeface="Arial"/>
              </a:rPr>
              <a:t>3. In `</a:t>
            </a:r>
            <a:r>
              <a:rPr lang="en-US" sz="1600" dirty="0" err="1">
                <a:solidFill>
                  <a:srgbClr val="222222"/>
                </a:solidFill>
                <a:ea typeface="Arial"/>
                <a:cs typeface="Arial"/>
                <a:sym typeface="Arial"/>
              </a:rPr>
              <a:t>myLib.dart</a:t>
            </a:r>
            <a:r>
              <a:rPr lang="en-US" sz="1600" dirty="0">
                <a:solidFill>
                  <a:srgbClr val="222222"/>
                </a:solidFill>
                <a:ea typeface="Arial"/>
                <a:cs typeface="Arial"/>
                <a:sym typeface="Arial"/>
              </a:rPr>
              <a:t>`, define the `employee` class with its properties and methods. Write the following code: </a:t>
            </a:r>
          </a:p>
          <a:p>
            <a:pPr marR="163195" lvl="0">
              <a:lnSpc>
                <a:spcPct val="115000"/>
              </a:lnSpc>
              <a:spcBef>
                <a:spcPts val="1000"/>
              </a:spcBef>
            </a:pPr>
            <a:endParaRPr lang="en-US" sz="700" dirty="0">
              <a:solidFill>
                <a:srgbClr val="222222"/>
              </a:solidFill>
              <a:ea typeface="Arial"/>
              <a:cs typeface="Arial"/>
              <a:sym typeface="Arial"/>
            </a:endParaRPr>
          </a:p>
          <a:p>
            <a:pPr marL="457200" lvl="0">
              <a:lnSpc>
                <a:spcPct val="135714"/>
              </a:lnSpc>
            </a:pPr>
            <a:r>
              <a:rPr lang="en-US" sz="1200" dirty="0">
                <a:solidFill>
                  <a:srgbClr val="569CD6"/>
                </a:solidFill>
                <a:highlight>
                  <a:srgbClr val="1E1E1E"/>
                </a:highlight>
                <a:ea typeface="Consolas"/>
                <a:cs typeface="Consolas"/>
                <a:sym typeface="Consolas"/>
              </a:rPr>
              <a:t>class</a:t>
            </a:r>
            <a:r>
              <a:rPr lang="en-US" sz="1200" dirty="0">
                <a:solidFill>
                  <a:srgbClr val="D4D4D4"/>
                </a:solidFill>
                <a:highlight>
                  <a:srgbClr val="1E1E1E"/>
                </a:highlight>
                <a:ea typeface="Consolas"/>
                <a:cs typeface="Consolas"/>
                <a:sym typeface="Consolas"/>
              </a:rPr>
              <a:t> </a:t>
            </a:r>
            <a:r>
              <a:rPr lang="en-US" sz="1200" dirty="0">
                <a:solidFill>
                  <a:srgbClr val="4EC9B0"/>
                </a:solidFill>
                <a:highlight>
                  <a:srgbClr val="1E1E1E"/>
                </a:highlight>
                <a:ea typeface="Consolas"/>
                <a:cs typeface="Consolas"/>
                <a:sym typeface="Consolas"/>
              </a:rPr>
              <a:t>employee</a:t>
            </a:r>
            <a:r>
              <a:rPr lang="en-US" sz="1200" dirty="0">
                <a:solidFill>
                  <a:srgbClr val="D4D4D4"/>
                </a:solidFill>
                <a:highlight>
                  <a:srgbClr val="1E1E1E"/>
                </a:highlight>
                <a:ea typeface="Consolas"/>
                <a:cs typeface="Consolas"/>
                <a:sym typeface="Consolas"/>
              </a:rPr>
              <a:t>{</a:t>
            </a:r>
          </a:p>
          <a:p>
            <a:pPr marL="457200" lvl="0">
              <a:lnSpc>
                <a:spcPct val="135714"/>
              </a:lnSpc>
            </a:pPr>
            <a:r>
              <a:rPr lang="en-US" sz="1200" dirty="0">
                <a:solidFill>
                  <a:srgbClr val="D4D4D4"/>
                </a:solidFill>
                <a:highlight>
                  <a:srgbClr val="1E1E1E"/>
                </a:highlight>
                <a:ea typeface="Consolas"/>
                <a:cs typeface="Consolas"/>
                <a:sym typeface="Consolas"/>
              </a:rPr>
              <a:t>  </a:t>
            </a:r>
            <a:r>
              <a:rPr lang="en-US" sz="1200" dirty="0">
                <a:solidFill>
                  <a:srgbClr val="569CD6"/>
                </a:solidFill>
                <a:highlight>
                  <a:srgbClr val="1E1E1E"/>
                </a:highlight>
                <a:ea typeface="Consolas"/>
                <a:cs typeface="Consolas"/>
                <a:sym typeface="Consolas"/>
              </a:rPr>
              <a:t>late</a:t>
            </a:r>
            <a:r>
              <a:rPr lang="en-US" sz="1200" dirty="0">
                <a:solidFill>
                  <a:srgbClr val="D4D4D4"/>
                </a:solidFill>
                <a:highlight>
                  <a:srgbClr val="1E1E1E"/>
                </a:highlight>
                <a:ea typeface="Consolas"/>
                <a:cs typeface="Consolas"/>
                <a:sym typeface="Consolas"/>
              </a:rPr>
              <a:t> </a:t>
            </a:r>
            <a:r>
              <a:rPr lang="en-US" sz="1200" dirty="0">
                <a:solidFill>
                  <a:srgbClr val="4EC9B0"/>
                </a:solidFill>
                <a:highlight>
                  <a:srgbClr val="1E1E1E"/>
                </a:highlight>
                <a:ea typeface="Consolas"/>
                <a:cs typeface="Consolas"/>
                <a:sym typeface="Consolas"/>
              </a:rPr>
              <a:t>String</a:t>
            </a:r>
            <a:r>
              <a:rPr lang="en-US" sz="1200" dirty="0">
                <a:solidFill>
                  <a:srgbClr val="D4D4D4"/>
                </a:solidFill>
                <a:highlight>
                  <a:srgbClr val="1E1E1E"/>
                </a:highlight>
                <a:ea typeface="Consolas"/>
                <a:cs typeface="Consolas"/>
                <a:sym typeface="Consolas"/>
              </a:rPr>
              <a:t> </a:t>
            </a:r>
            <a:r>
              <a:rPr lang="en-US" sz="1200" dirty="0" err="1">
                <a:solidFill>
                  <a:srgbClr val="9CDCFE"/>
                </a:solidFill>
                <a:highlight>
                  <a:srgbClr val="1E1E1E"/>
                </a:highlight>
                <a:ea typeface="Consolas"/>
                <a:cs typeface="Consolas"/>
                <a:sym typeface="Consolas"/>
              </a:rPr>
              <a:t>jobTitle</a:t>
            </a:r>
            <a:r>
              <a:rPr lang="en-US" sz="1200" dirty="0">
                <a:solidFill>
                  <a:srgbClr val="D4D4D4"/>
                </a:solidFill>
                <a:highlight>
                  <a:srgbClr val="1E1E1E"/>
                </a:highlight>
                <a:ea typeface="Consolas"/>
                <a:cs typeface="Consolas"/>
                <a:sym typeface="Consolas"/>
              </a:rPr>
              <a:t>;</a:t>
            </a:r>
          </a:p>
          <a:p>
            <a:pPr marL="457200" lvl="0">
              <a:lnSpc>
                <a:spcPct val="135714"/>
              </a:lnSpc>
            </a:pPr>
            <a:r>
              <a:rPr lang="en-US" sz="1200" dirty="0">
                <a:solidFill>
                  <a:srgbClr val="D4D4D4"/>
                </a:solidFill>
                <a:highlight>
                  <a:srgbClr val="1E1E1E"/>
                </a:highlight>
                <a:ea typeface="Consolas"/>
                <a:cs typeface="Consolas"/>
                <a:sym typeface="Consolas"/>
              </a:rPr>
              <a:t>  </a:t>
            </a:r>
            <a:r>
              <a:rPr lang="en-US" sz="1200" dirty="0">
                <a:solidFill>
                  <a:srgbClr val="569CD6"/>
                </a:solidFill>
                <a:highlight>
                  <a:srgbClr val="1E1E1E"/>
                </a:highlight>
                <a:ea typeface="Consolas"/>
                <a:cs typeface="Consolas"/>
                <a:sym typeface="Consolas"/>
              </a:rPr>
              <a:t>late</a:t>
            </a:r>
            <a:r>
              <a:rPr lang="en-US" sz="1200" dirty="0">
                <a:solidFill>
                  <a:srgbClr val="D4D4D4"/>
                </a:solidFill>
                <a:highlight>
                  <a:srgbClr val="1E1E1E"/>
                </a:highlight>
                <a:ea typeface="Consolas"/>
                <a:cs typeface="Consolas"/>
                <a:sym typeface="Consolas"/>
              </a:rPr>
              <a:t> </a:t>
            </a:r>
            <a:r>
              <a:rPr lang="en-US" sz="1200" dirty="0">
                <a:solidFill>
                  <a:srgbClr val="4EC9B0"/>
                </a:solidFill>
                <a:highlight>
                  <a:srgbClr val="1E1E1E"/>
                </a:highlight>
                <a:ea typeface="Consolas"/>
                <a:cs typeface="Consolas"/>
                <a:sym typeface="Consolas"/>
              </a:rPr>
              <a:t>String</a:t>
            </a:r>
            <a:r>
              <a:rPr lang="en-US" sz="1200" dirty="0">
                <a:solidFill>
                  <a:srgbClr val="D4D4D4"/>
                </a:solidFill>
                <a:highlight>
                  <a:srgbClr val="1E1E1E"/>
                </a:highlight>
                <a:ea typeface="Consolas"/>
                <a:cs typeface="Consolas"/>
                <a:sym typeface="Consolas"/>
              </a:rPr>
              <a:t> </a:t>
            </a:r>
            <a:r>
              <a:rPr lang="en-US" sz="1200" dirty="0">
                <a:solidFill>
                  <a:srgbClr val="9CDCFE"/>
                </a:solidFill>
                <a:highlight>
                  <a:srgbClr val="1E1E1E"/>
                </a:highlight>
                <a:ea typeface="Consolas"/>
                <a:cs typeface="Consolas"/>
                <a:sym typeface="Consolas"/>
              </a:rPr>
              <a:t>location</a:t>
            </a:r>
            <a:r>
              <a:rPr lang="en-US" sz="1200" dirty="0">
                <a:solidFill>
                  <a:srgbClr val="D4D4D4"/>
                </a:solidFill>
                <a:highlight>
                  <a:srgbClr val="1E1E1E"/>
                </a:highlight>
                <a:ea typeface="Consolas"/>
                <a:cs typeface="Consolas"/>
                <a:sym typeface="Consolas"/>
              </a:rPr>
              <a:t>;</a:t>
            </a:r>
          </a:p>
          <a:p>
            <a:pPr marL="457200" lvl="0">
              <a:lnSpc>
                <a:spcPct val="135714"/>
              </a:lnSpc>
            </a:pPr>
            <a:r>
              <a:rPr lang="en-US" sz="1200" dirty="0">
                <a:solidFill>
                  <a:srgbClr val="D4D4D4"/>
                </a:solidFill>
                <a:highlight>
                  <a:srgbClr val="1E1E1E"/>
                </a:highlight>
                <a:ea typeface="Consolas"/>
                <a:cs typeface="Consolas"/>
                <a:sym typeface="Consolas"/>
              </a:rPr>
              <a:t>  </a:t>
            </a:r>
            <a:r>
              <a:rPr lang="en-US" sz="1200" dirty="0">
                <a:solidFill>
                  <a:srgbClr val="569CD6"/>
                </a:solidFill>
                <a:highlight>
                  <a:srgbClr val="1E1E1E"/>
                </a:highlight>
                <a:ea typeface="Consolas"/>
                <a:cs typeface="Consolas"/>
                <a:sym typeface="Consolas"/>
              </a:rPr>
              <a:t>late</a:t>
            </a:r>
            <a:r>
              <a:rPr lang="en-US" sz="1200" dirty="0">
                <a:solidFill>
                  <a:srgbClr val="D4D4D4"/>
                </a:solidFill>
                <a:highlight>
                  <a:srgbClr val="1E1E1E"/>
                </a:highlight>
                <a:ea typeface="Consolas"/>
                <a:cs typeface="Consolas"/>
                <a:sym typeface="Consolas"/>
              </a:rPr>
              <a:t> </a:t>
            </a:r>
            <a:r>
              <a:rPr lang="en-US" sz="1200" dirty="0">
                <a:solidFill>
                  <a:srgbClr val="4EC9B0"/>
                </a:solidFill>
                <a:highlight>
                  <a:srgbClr val="1E1E1E"/>
                </a:highlight>
                <a:ea typeface="Consolas"/>
                <a:cs typeface="Consolas"/>
                <a:sym typeface="Consolas"/>
              </a:rPr>
              <a:t>double</a:t>
            </a:r>
            <a:r>
              <a:rPr lang="en-US" sz="1200" dirty="0">
                <a:solidFill>
                  <a:srgbClr val="D4D4D4"/>
                </a:solidFill>
                <a:highlight>
                  <a:srgbClr val="1E1E1E"/>
                </a:highlight>
                <a:ea typeface="Consolas"/>
                <a:cs typeface="Consolas"/>
                <a:sym typeface="Consolas"/>
              </a:rPr>
              <a:t> </a:t>
            </a:r>
            <a:r>
              <a:rPr lang="en-US" sz="1200" dirty="0">
                <a:solidFill>
                  <a:srgbClr val="9CDCFE"/>
                </a:solidFill>
                <a:highlight>
                  <a:srgbClr val="1E1E1E"/>
                </a:highlight>
                <a:ea typeface="Consolas"/>
                <a:cs typeface="Consolas"/>
                <a:sym typeface="Consolas"/>
              </a:rPr>
              <a:t>salary</a:t>
            </a:r>
            <a:r>
              <a:rPr lang="en-US" sz="1200" dirty="0">
                <a:solidFill>
                  <a:srgbClr val="D4D4D4"/>
                </a:solidFill>
                <a:highlight>
                  <a:srgbClr val="1E1E1E"/>
                </a:highlight>
                <a:ea typeface="Consolas"/>
                <a:cs typeface="Consolas"/>
                <a:sym typeface="Consolas"/>
              </a:rPr>
              <a:t>;</a:t>
            </a:r>
          </a:p>
          <a:p>
            <a:pPr marL="457200" lvl="0">
              <a:lnSpc>
                <a:spcPct val="135714"/>
              </a:lnSpc>
            </a:pPr>
            <a:r>
              <a:rPr lang="en-US" sz="1200" dirty="0">
                <a:solidFill>
                  <a:srgbClr val="D4D4D4"/>
                </a:solidFill>
                <a:highlight>
                  <a:srgbClr val="1E1E1E"/>
                </a:highlight>
                <a:ea typeface="Consolas"/>
                <a:cs typeface="Consolas"/>
                <a:sym typeface="Consolas"/>
              </a:rPr>
              <a:t>  </a:t>
            </a:r>
            <a:r>
              <a:rPr lang="en-US" sz="1200" dirty="0">
                <a:solidFill>
                  <a:srgbClr val="569CD6"/>
                </a:solidFill>
                <a:highlight>
                  <a:srgbClr val="1E1E1E"/>
                </a:highlight>
                <a:ea typeface="Consolas"/>
                <a:cs typeface="Consolas"/>
                <a:sym typeface="Consolas"/>
              </a:rPr>
              <a:t>late</a:t>
            </a:r>
            <a:r>
              <a:rPr lang="en-US" sz="1200" dirty="0">
                <a:solidFill>
                  <a:srgbClr val="D4D4D4"/>
                </a:solidFill>
                <a:highlight>
                  <a:srgbClr val="1E1E1E"/>
                </a:highlight>
                <a:ea typeface="Consolas"/>
                <a:cs typeface="Consolas"/>
                <a:sym typeface="Consolas"/>
              </a:rPr>
              <a:t> </a:t>
            </a:r>
            <a:r>
              <a:rPr lang="en-US" sz="1200" dirty="0">
                <a:solidFill>
                  <a:srgbClr val="4EC9B0"/>
                </a:solidFill>
                <a:highlight>
                  <a:srgbClr val="1E1E1E"/>
                </a:highlight>
                <a:ea typeface="Consolas"/>
                <a:cs typeface="Consolas"/>
                <a:sym typeface="Consolas"/>
              </a:rPr>
              <a:t>double</a:t>
            </a:r>
            <a:r>
              <a:rPr lang="en-US" sz="1200" dirty="0">
                <a:solidFill>
                  <a:srgbClr val="D4D4D4"/>
                </a:solidFill>
                <a:highlight>
                  <a:srgbClr val="1E1E1E"/>
                </a:highlight>
                <a:ea typeface="Consolas"/>
                <a:cs typeface="Consolas"/>
                <a:sym typeface="Consolas"/>
              </a:rPr>
              <a:t> </a:t>
            </a:r>
            <a:r>
              <a:rPr lang="en-US" sz="1200" dirty="0" err="1">
                <a:solidFill>
                  <a:srgbClr val="9CDCFE"/>
                </a:solidFill>
                <a:highlight>
                  <a:srgbClr val="1E1E1E"/>
                </a:highlight>
                <a:ea typeface="Consolas"/>
                <a:cs typeface="Consolas"/>
                <a:sym typeface="Consolas"/>
              </a:rPr>
              <a:t>Overtimehr</a:t>
            </a:r>
            <a:r>
              <a:rPr lang="en-US" sz="1200" dirty="0">
                <a:solidFill>
                  <a:srgbClr val="D4D4D4"/>
                </a:solidFill>
                <a:highlight>
                  <a:srgbClr val="1E1E1E"/>
                </a:highlight>
                <a:ea typeface="Consolas"/>
                <a:cs typeface="Consolas"/>
                <a:sym typeface="Consolas"/>
              </a:rPr>
              <a:t>; </a:t>
            </a:r>
            <a:r>
              <a:rPr lang="en-US" sz="1200" dirty="0">
                <a:solidFill>
                  <a:srgbClr val="6A9955"/>
                </a:solidFill>
                <a:highlight>
                  <a:srgbClr val="1E1E1E"/>
                </a:highlight>
                <a:ea typeface="Consolas"/>
                <a:cs typeface="Consolas"/>
                <a:sym typeface="Consolas"/>
              </a:rPr>
              <a:t>//Number of Overtime hour</a:t>
            </a:r>
            <a:endParaRPr lang="en-US" sz="1200" dirty="0">
              <a:solidFill>
                <a:srgbClr val="D4D4D4"/>
              </a:solidFill>
              <a:highlight>
                <a:srgbClr val="1E1E1E"/>
              </a:highlight>
              <a:ea typeface="Consolas"/>
              <a:cs typeface="Consolas"/>
              <a:sym typeface="Consolas"/>
            </a:endParaRPr>
          </a:p>
          <a:p>
            <a:pPr marL="457200" lvl="0">
              <a:lnSpc>
                <a:spcPct val="135714"/>
              </a:lnSpc>
            </a:pPr>
            <a:r>
              <a:rPr lang="en-US" sz="1200" dirty="0">
                <a:solidFill>
                  <a:srgbClr val="4EC9B0"/>
                </a:solidFill>
                <a:highlight>
                  <a:srgbClr val="1E1E1E"/>
                </a:highlight>
                <a:ea typeface="Consolas"/>
                <a:cs typeface="Consolas"/>
                <a:sym typeface="Consolas"/>
              </a:rPr>
              <a:t>employee</a:t>
            </a:r>
            <a:r>
              <a:rPr lang="en-US" sz="1200" dirty="0">
                <a:solidFill>
                  <a:srgbClr val="D4D4D4"/>
                </a:solidFill>
                <a:highlight>
                  <a:srgbClr val="1E1E1E"/>
                </a:highlight>
                <a:ea typeface="Consolas"/>
                <a:cs typeface="Consolas"/>
                <a:sym typeface="Consolas"/>
              </a:rPr>
              <a:t>(</a:t>
            </a:r>
            <a:r>
              <a:rPr lang="en-US" sz="1200" dirty="0" err="1">
                <a:solidFill>
                  <a:srgbClr val="569CD6"/>
                </a:solidFill>
                <a:highlight>
                  <a:srgbClr val="1E1E1E"/>
                </a:highlight>
                <a:ea typeface="Consolas"/>
                <a:cs typeface="Consolas"/>
                <a:sym typeface="Consolas"/>
              </a:rPr>
              <a:t>this</a:t>
            </a:r>
            <a:r>
              <a:rPr lang="en-US" sz="1200" dirty="0" err="1">
                <a:solidFill>
                  <a:srgbClr val="D4D4D4"/>
                </a:solidFill>
                <a:highlight>
                  <a:srgbClr val="1E1E1E"/>
                </a:highlight>
                <a:ea typeface="Consolas"/>
                <a:cs typeface="Consolas"/>
                <a:sym typeface="Consolas"/>
              </a:rPr>
              <a:t>.</a:t>
            </a:r>
            <a:r>
              <a:rPr lang="en-US" sz="1200" dirty="0" err="1">
                <a:solidFill>
                  <a:srgbClr val="9CDCFE"/>
                </a:solidFill>
                <a:highlight>
                  <a:srgbClr val="1E1E1E"/>
                </a:highlight>
                <a:ea typeface="Consolas"/>
                <a:cs typeface="Consolas"/>
                <a:sym typeface="Consolas"/>
              </a:rPr>
              <a:t>jobTitle</a:t>
            </a:r>
            <a:r>
              <a:rPr lang="en-US" sz="1200" dirty="0">
                <a:solidFill>
                  <a:srgbClr val="D4D4D4"/>
                </a:solidFill>
                <a:highlight>
                  <a:srgbClr val="1E1E1E"/>
                </a:highlight>
                <a:ea typeface="Consolas"/>
                <a:cs typeface="Consolas"/>
                <a:sym typeface="Consolas"/>
              </a:rPr>
              <a:t>, </a:t>
            </a:r>
            <a:r>
              <a:rPr lang="en-US" sz="1200" dirty="0" err="1">
                <a:solidFill>
                  <a:srgbClr val="569CD6"/>
                </a:solidFill>
                <a:highlight>
                  <a:srgbClr val="1E1E1E"/>
                </a:highlight>
                <a:ea typeface="Consolas"/>
                <a:cs typeface="Consolas"/>
                <a:sym typeface="Consolas"/>
              </a:rPr>
              <a:t>this</a:t>
            </a:r>
            <a:r>
              <a:rPr lang="en-US" sz="1200" dirty="0" err="1">
                <a:solidFill>
                  <a:srgbClr val="D4D4D4"/>
                </a:solidFill>
                <a:highlight>
                  <a:srgbClr val="1E1E1E"/>
                </a:highlight>
                <a:ea typeface="Consolas"/>
                <a:cs typeface="Consolas"/>
                <a:sym typeface="Consolas"/>
              </a:rPr>
              <a:t>.</a:t>
            </a:r>
            <a:r>
              <a:rPr lang="en-US" sz="1200" dirty="0" err="1">
                <a:solidFill>
                  <a:srgbClr val="9CDCFE"/>
                </a:solidFill>
                <a:highlight>
                  <a:srgbClr val="1E1E1E"/>
                </a:highlight>
                <a:ea typeface="Consolas"/>
                <a:cs typeface="Consolas"/>
                <a:sym typeface="Consolas"/>
              </a:rPr>
              <a:t>location</a:t>
            </a:r>
            <a:r>
              <a:rPr lang="en-US" sz="1200" dirty="0">
                <a:solidFill>
                  <a:srgbClr val="D4D4D4"/>
                </a:solidFill>
                <a:highlight>
                  <a:srgbClr val="1E1E1E"/>
                </a:highlight>
                <a:ea typeface="Consolas"/>
                <a:cs typeface="Consolas"/>
                <a:sym typeface="Consolas"/>
              </a:rPr>
              <a:t> , </a:t>
            </a:r>
            <a:r>
              <a:rPr lang="en-US" sz="1200" dirty="0" err="1">
                <a:solidFill>
                  <a:srgbClr val="569CD6"/>
                </a:solidFill>
                <a:highlight>
                  <a:srgbClr val="1E1E1E"/>
                </a:highlight>
                <a:ea typeface="Consolas"/>
                <a:cs typeface="Consolas"/>
                <a:sym typeface="Consolas"/>
              </a:rPr>
              <a:t>this</a:t>
            </a:r>
            <a:r>
              <a:rPr lang="en-US" sz="1200" dirty="0" err="1">
                <a:solidFill>
                  <a:srgbClr val="D4D4D4"/>
                </a:solidFill>
                <a:highlight>
                  <a:srgbClr val="1E1E1E"/>
                </a:highlight>
                <a:ea typeface="Consolas"/>
                <a:cs typeface="Consolas"/>
                <a:sym typeface="Consolas"/>
              </a:rPr>
              <a:t>.</a:t>
            </a:r>
            <a:r>
              <a:rPr lang="en-US" sz="1200" dirty="0" err="1">
                <a:solidFill>
                  <a:srgbClr val="9CDCFE"/>
                </a:solidFill>
                <a:highlight>
                  <a:srgbClr val="1E1E1E"/>
                </a:highlight>
                <a:ea typeface="Consolas"/>
                <a:cs typeface="Consolas"/>
                <a:sym typeface="Consolas"/>
              </a:rPr>
              <a:t>salary</a:t>
            </a:r>
            <a:r>
              <a:rPr lang="en-US" sz="1200" dirty="0">
                <a:solidFill>
                  <a:srgbClr val="D4D4D4"/>
                </a:solidFill>
                <a:highlight>
                  <a:srgbClr val="1E1E1E"/>
                </a:highlight>
                <a:ea typeface="Consolas"/>
                <a:cs typeface="Consolas"/>
                <a:sym typeface="Consolas"/>
              </a:rPr>
              <a:t>, </a:t>
            </a:r>
            <a:r>
              <a:rPr lang="en-US" sz="1200" dirty="0" err="1">
                <a:solidFill>
                  <a:srgbClr val="569CD6"/>
                </a:solidFill>
                <a:highlight>
                  <a:srgbClr val="1E1E1E"/>
                </a:highlight>
                <a:ea typeface="Consolas"/>
                <a:cs typeface="Consolas"/>
                <a:sym typeface="Consolas"/>
              </a:rPr>
              <a:t>this</a:t>
            </a:r>
            <a:r>
              <a:rPr lang="en-US" sz="1200" dirty="0" err="1">
                <a:solidFill>
                  <a:srgbClr val="D4D4D4"/>
                </a:solidFill>
                <a:highlight>
                  <a:srgbClr val="1E1E1E"/>
                </a:highlight>
                <a:ea typeface="Consolas"/>
                <a:cs typeface="Consolas"/>
                <a:sym typeface="Consolas"/>
              </a:rPr>
              <a:t>.</a:t>
            </a:r>
            <a:r>
              <a:rPr lang="en-US" sz="1200" dirty="0" err="1">
                <a:solidFill>
                  <a:srgbClr val="9CDCFE"/>
                </a:solidFill>
                <a:highlight>
                  <a:srgbClr val="1E1E1E"/>
                </a:highlight>
                <a:ea typeface="Consolas"/>
                <a:cs typeface="Consolas"/>
                <a:sym typeface="Consolas"/>
              </a:rPr>
              <a:t>Overtimehr</a:t>
            </a:r>
            <a:r>
              <a:rPr lang="en-US" sz="1200" dirty="0">
                <a:solidFill>
                  <a:srgbClr val="D4D4D4"/>
                </a:solidFill>
                <a:highlight>
                  <a:srgbClr val="1E1E1E"/>
                </a:highlight>
                <a:ea typeface="Consolas"/>
                <a:cs typeface="Consolas"/>
                <a:sym typeface="Consolas"/>
              </a:rPr>
              <a:t>);</a:t>
            </a:r>
          </a:p>
          <a:p>
            <a:pPr marL="457200" lvl="0">
              <a:lnSpc>
                <a:spcPct val="135714"/>
              </a:lnSpc>
            </a:pPr>
            <a:r>
              <a:rPr lang="en-US" sz="1200" dirty="0" smtClean="0">
                <a:solidFill>
                  <a:srgbClr val="D4D4D4"/>
                </a:solidFill>
                <a:highlight>
                  <a:srgbClr val="1E1E1E"/>
                </a:highlight>
                <a:ea typeface="Consolas"/>
                <a:cs typeface="Consolas"/>
                <a:sym typeface="Consolas"/>
              </a:rPr>
              <a:t>}</a:t>
            </a:r>
            <a:endParaRPr lang="en-US" sz="1200" dirty="0">
              <a:solidFill>
                <a:srgbClr val="D4D4D4"/>
              </a:solidFill>
              <a:highlight>
                <a:srgbClr val="1E1E1E"/>
              </a:highlight>
              <a:ea typeface="Consolas"/>
              <a:cs typeface="Consolas"/>
              <a:sym typeface="Consolas"/>
            </a:endParaRPr>
          </a:p>
        </p:txBody>
      </p:sp>
      <p:pic>
        <p:nvPicPr>
          <p:cNvPr id="4" name="Picture 3"/>
          <p:cNvPicPr>
            <a:picLocks noChangeAspect="1"/>
          </p:cNvPicPr>
          <p:nvPr/>
        </p:nvPicPr>
        <p:blipFill>
          <a:blip r:embed="rId4"/>
          <a:stretch>
            <a:fillRect/>
          </a:stretch>
        </p:blipFill>
        <p:spPr>
          <a:xfrm>
            <a:off x="5893982" y="4370841"/>
            <a:ext cx="5406279" cy="1920288"/>
          </a:xfrm>
          <a:prstGeom prst="rect">
            <a:avLst/>
          </a:prstGeom>
        </p:spPr>
      </p:pic>
    </p:spTree>
    <p:extLst>
      <p:ext uri="{BB962C8B-B14F-4D97-AF65-F5344CB8AC3E}">
        <p14:creationId xmlns:p14="http://schemas.microsoft.com/office/powerpoint/2010/main" val="100726946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29</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268433" cy="572700"/>
          </a:xfrm>
          <a:prstGeom prst="rect">
            <a:avLst/>
          </a:prstGeom>
        </p:spPr>
        <p:txBody>
          <a:bodyPr spcFirstLastPara="1" wrap="square" lIns="91425" tIns="91425" rIns="91425" bIns="91425" anchor="t" anchorCtr="0">
            <a:noAutofit/>
          </a:bodyPr>
          <a:lstStyle/>
          <a:p>
            <a:pPr lvl="0" algn="ctr">
              <a:spcBef>
                <a:spcPts val="0"/>
              </a:spcBef>
            </a:pPr>
            <a:r>
              <a:rPr lang="en" sz="2800" dirty="0"/>
              <a:t>Create a Small Overtime Payment Program</a:t>
            </a:r>
            <a:endParaRPr lang="en-US" sz="2800"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658762" y="1025649"/>
            <a:ext cx="5760892" cy="5258747"/>
          </a:xfrm>
          <a:prstGeom prst="rect">
            <a:avLst/>
          </a:prstGeom>
        </p:spPr>
        <p:txBody>
          <a:bodyPr wrap="square">
            <a:spAutoFit/>
          </a:bodyPr>
          <a:lstStyle/>
          <a:p>
            <a:pPr marR="163195" lvl="0">
              <a:lnSpc>
                <a:spcPct val="115000"/>
              </a:lnSpc>
              <a:spcBef>
                <a:spcPts val="1000"/>
              </a:spcBef>
            </a:pPr>
            <a:r>
              <a:rPr lang="en-US" sz="1400" b="1" dirty="0">
                <a:solidFill>
                  <a:srgbClr val="222222"/>
                </a:solidFill>
                <a:ea typeface="Arial"/>
                <a:cs typeface="Arial"/>
                <a:sym typeface="Arial"/>
              </a:rPr>
              <a:t>Step 3: Create </a:t>
            </a:r>
            <a:r>
              <a:rPr lang="en-US" sz="1400" b="1" dirty="0" err="1">
                <a:solidFill>
                  <a:srgbClr val="222222"/>
                </a:solidFill>
                <a:ea typeface="Arial"/>
                <a:cs typeface="Arial"/>
                <a:sym typeface="Arial"/>
              </a:rPr>
              <a:t>main.dart</a:t>
            </a:r>
            <a:r>
              <a:rPr lang="en-US" sz="1400" b="1" dirty="0">
                <a:solidFill>
                  <a:srgbClr val="222222"/>
                </a:solidFill>
                <a:ea typeface="Arial"/>
                <a:cs typeface="Arial"/>
                <a:sym typeface="Arial"/>
              </a:rPr>
              <a:t> File</a:t>
            </a:r>
          </a:p>
          <a:p>
            <a:pPr marL="171450" marR="163195" lvl="0">
              <a:lnSpc>
                <a:spcPct val="115000"/>
              </a:lnSpc>
              <a:spcBef>
                <a:spcPts val="1000"/>
              </a:spcBef>
              <a:buClr>
                <a:srgbClr val="222222"/>
              </a:buClr>
              <a:buSzPts val="900"/>
            </a:pPr>
            <a:r>
              <a:rPr lang="en-US" dirty="0">
                <a:solidFill>
                  <a:srgbClr val="222222"/>
                </a:solidFill>
                <a:ea typeface="Arial"/>
                <a:cs typeface="Arial"/>
                <a:sym typeface="Arial"/>
              </a:rPr>
              <a:t>Right-click on the Lab3 folder again and select New File.</a:t>
            </a:r>
          </a:p>
          <a:p>
            <a:pPr marL="171450" marR="163195" lvl="0">
              <a:lnSpc>
                <a:spcPct val="115000"/>
              </a:lnSpc>
              <a:buClr>
                <a:srgbClr val="222222"/>
              </a:buClr>
              <a:buSzPts val="900"/>
            </a:pPr>
            <a:r>
              <a:rPr lang="en-US" dirty="0">
                <a:solidFill>
                  <a:srgbClr val="222222"/>
                </a:solidFill>
                <a:ea typeface="Arial"/>
                <a:cs typeface="Arial"/>
                <a:sym typeface="Arial"/>
              </a:rPr>
              <a:t>Name the file </a:t>
            </a:r>
            <a:r>
              <a:rPr lang="en-US" dirty="0" err="1">
                <a:solidFill>
                  <a:srgbClr val="222222"/>
                </a:solidFill>
                <a:ea typeface="Arial"/>
                <a:cs typeface="Arial"/>
                <a:sym typeface="Arial"/>
              </a:rPr>
              <a:t>main.dart</a:t>
            </a:r>
            <a:r>
              <a:rPr lang="en-US" dirty="0">
                <a:solidFill>
                  <a:srgbClr val="222222"/>
                </a:solidFill>
                <a:ea typeface="Arial"/>
                <a:cs typeface="Arial"/>
                <a:sym typeface="Arial"/>
              </a:rPr>
              <a:t> and press Enter.</a:t>
            </a:r>
          </a:p>
          <a:p>
            <a:pPr marL="171450" marR="163195" lvl="0">
              <a:lnSpc>
                <a:spcPct val="115000"/>
              </a:lnSpc>
              <a:buClr>
                <a:srgbClr val="222222"/>
              </a:buClr>
              <a:buSzPts val="900"/>
            </a:pPr>
            <a:r>
              <a:rPr lang="en-US" dirty="0">
                <a:solidFill>
                  <a:srgbClr val="222222"/>
                </a:solidFill>
                <a:ea typeface="Arial"/>
                <a:cs typeface="Arial"/>
                <a:sym typeface="Arial"/>
              </a:rPr>
              <a:t>Open </a:t>
            </a:r>
            <a:r>
              <a:rPr lang="en-US" dirty="0" err="1">
                <a:solidFill>
                  <a:srgbClr val="222222"/>
                </a:solidFill>
                <a:ea typeface="Arial"/>
                <a:cs typeface="Arial"/>
                <a:sym typeface="Arial"/>
              </a:rPr>
              <a:t>main.dart</a:t>
            </a:r>
            <a:r>
              <a:rPr lang="en-US" dirty="0">
                <a:solidFill>
                  <a:srgbClr val="222222"/>
                </a:solidFill>
                <a:ea typeface="Arial"/>
                <a:cs typeface="Arial"/>
                <a:sym typeface="Arial"/>
              </a:rPr>
              <a:t> and type the following code:</a:t>
            </a:r>
            <a:endParaRPr lang="en-US" sz="800" dirty="0">
              <a:solidFill>
                <a:srgbClr val="222222"/>
              </a:solidFill>
              <a:ea typeface="Arial"/>
              <a:cs typeface="Arial"/>
              <a:sym typeface="Arial"/>
            </a:endParaRPr>
          </a:p>
          <a:p>
            <a:pPr marL="457200" lvl="0">
              <a:lnSpc>
                <a:spcPct val="135714"/>
              </a:lnSpc>
            </a:pPr>
            <a:endParaRPr lang="en-US" sz="1200" dirty="0" smtClean="0">
              <a:sym typeface="Consolas"/>
            </a:endParaRPr>
          </a:p>
          <a:p>
            <a:pPr marL="457200" lvl="0">
              <a:lnSpc>
                <a:spcPct val="135714"/>
              </a:lnSpc>
            </a:pPr>
            <a:r>
              <a:rPr lang="en-US" sz="1200" dirty="0" smtClean="0">
                <a:sym typeface="Consolas"/>
              </a:rPr>
              <a:t>import </a:t>
            </a:r>
            <a:r>
              <a:rPr lang="en-US" sz="1200" dirty="0">
                <a:sym typeface="Consolas"/>
              </a:rPr>
              <a:t>'</a:t>
            </a:r>
            <a:r>
              <a:rPr lang="en-US" sz="1200" dirty="0" err="1">
                <a:sym typeface="Consolas"/>
              </a:rPr>
              <a:t>mylib.dart</a:t>
            </a:r>
            <a:r>
              <a:rPr lang="en-US" sz="1200" dirty="0">
                <a:sym typeface="Consolas"/>
              </a:rPr>
              <a:t>' as </a:t>
            </a:r>
            <a:r>
              <a:rPr lang="en-US" sz="1200" dirty="0" err="1">
                <a:sym typeface="Consolas"/>
              </a:rPr>
              <a:t>emp_Manager</a:t>
            </a:r>
            <a:r>
              <a:rPr lang="en-US" sz="1200" dirty="0">
                <a:sym typeface="Consolas"/>
              </a:rPr>
              <a:t>;</a:t>
            </a:r>
          </a:p>
          <a:p>
            <a:pPr marL="457200" lvl="0">
              <a:lnSpc>
                <a:spcPct val="135714"/>
              </a:lnSpc>
            </a:pPr>
            <a:endParaRPr lang="en-US" sz="1200" dirty="0">
              <a:sym typeface="Consolas"/>
            </a:endParaRPr>
          </a:p>
          <a:p>
            <a:pPr marL="457200" lvl="0">
              <a:lnSpc>
                <a:spcPct val="135714"/>
              </a:lnSpc>
            </a:pPr>
            <a:r>
              <a:rPr lang="en-US" sz="1200" dirty="0">
                <a:sym typeface="Consolas"/>
              </a:rPr>
              <a:t>void main() {</a:t>
            </a:r>
          </a:p>
          <a:p>
            <a:pPr marL="457200" lvl="0">
              <a:lnSpc>
                <a:spcPct val="135714"/>
              </a:lnSpc>
            </a:pPr>
            <a:r>
              <a:rPr lang="en-US" sz="1200" dirty="0">
                <a:sym typeface="Consolas"/>
              </a:rPr>
              <a:t>  double </a:t>
            </a:r>
            <a:r>
              <a:rPr lang="en-US" sz="1200" dirty="0" err="1">
                <a:sym typeface="Consolas"/>
              </a:rPr>
              <a:t>extraPayPerHr</a:t>
            </a:r>
            <a:r>
              <a:rPr lang="en-US" sz="1200" dirty="0">
                <a:sym typeface="Consolas"/>
              </a:rPr>
              <a:t>;</a:t>
            </a:r>
          </a:p>
          <a:p>
            <a:pPr marL="457200" lvl="0">
              <a:lnSpc>
                <a:spcPct val="135714"/>
              </a:lnSpc>
            </a:pPr>
            <a:r>
              <a:rPr lang="en-US" sz="1200" dirty="0">
                <a:sym typeface="Consolas"/>
              </a:rPr>
              <a:t>  </a:t>
            </a:r>
            <a:r>
              <a:rPr lang="en-US" sz="1200" dirty="0" err="1">
                <a:sym typeface="Consolas"/>
              </a:rPr>
              <a:t>var</a:t>
            </a:r>
            <a:r>
              <a:rPr lang="en-US" sz="1200" dirty="0">
                <a:sym typeface="Consolas"/>
              </a:rPr>
              <a:t> </a:t>
            </a:r>
            <a:r>
              <a:rPr lang="en-US" sz="1200" dirty="0" err="1">
                <a:sym typeface="Consolas"/>
              </a:rPr>
              <a:t>william</a:t>
            </a:r>
            <a:r>
              <a:rPr lang="en-US" sz="1200" dirty="0">
                <a:sym typeface="Consolas"/>
              </a:rPr>
              <a:t> = </a:t>
            </a:r>
            <a:r>
              <a:rPr lang="en-US" sz="1200" dirty="0" err="1">
                <a:sym typeface="Consolas"/>
              </a:rPr>
              <a:t>emp_Manager.employee</a:t>
            </a:r>
            <a:r>
              <a:rPr lang="en-US" sz="1200" dirty="0">
                <a:sym typeface="Consolas"/>
              </a:rPr>
              <a:t>("Manager", "Madrid", 5000, 7);</a:t>
            </a:r>
          </a:p>
          <a:p>
            <a:pPr marL="457200" lvl="0">
              <a:lnSpc>
                <a:spcPct val="135714"/>
              </a:lnSpc>
            </a:pPr>
            <a:r>
              <a:rPr lang="en-US" sz="1200" dirty="0">
                <a:sym typeface="Consolas"/>
              </a:rPr>
              <a:t>  if (</a:t>
            </a:r>
            <a:r>
              <a:rPr lang="en-US" sz="1200" dirty="0" err="1">
                <a:sym typeface="Consolas"/>
              </a:rPr>
              <a:t>william.salary</a:t>
            </a:r>
            <a:r>
              <a:rPr lang="en-US" sz="1200" dirty="0">
                <a:sym typeface="Consolas"/>
              </a:rPr>
              <a:t> &gt;= 4000) {</a:t>
            </a:r>
          </a:p>
          <a:p>
            <a:pPr marL="457200" lvl="0">
              <a:lnSpc>
                <a:spcPct val="135714"/>
              </a:lnSpc>
            </a:pPr>
            <a:r>
              <a:rPr lang="en-US" sz="1200" dirty="0">
                <a:sym typeface="Consolas"/>
              </a:rPr>
              <a:t>    </a:t>
            </a:r>
            <a:r>
              <a:rPr lang="en-US" sz="1200" dirty="0" err="1">
                <a:sym typeface="Consolas"/>
              </a:rPr>
              <a:t>extraPayPerHr</a:t>
            </a:r>
            <a:r>
              <a:rPr lang="en-US" sz="1200" dirty="0">
                <a:sym typeface="Consolas"/>
              </a:rPr>
              <a:t> = 10;</a:t>
            </a:r>
          </a:p>
          <a:p>
            <a:pPr marL="457200" lvl="0">
              <a:lnSpc>
                <a:spcPct val="135714"/>
              </a:lnSpc>
            </a:pPr>
            <a:r>
              <a:rPr lang="en-US" sz="1200" dirty="0">
                <a:sym typeface="Consolas"/>
              </a:rPr>
              <a:t>  } else {</a:t>
            </a:r>
          </a:p>
          <a:p>
            <a:pPr marL="457200" lvl="0">
              <a:lnSpc>
                <a:spcPct val="135714"/>
              </a:lnSpc>
            </a:pPr>
            <a:r>
              <a:rPr lang="en-US" sz="1200" dirty="0">
                <a:sym typeface="Consolas"/>
              </a:rPr>
              <a:t>    </a:t>
            </a:r>
            <a:r>
              <a:rPr lang="en-US" sz="1200" dirty="0" err="1">
                <a:sym typeface="Consolas"/>
              </a:rPr>
              <a:t>extraPayPerHr</a:t>
            </a:r>
            <a:r>
              <a:rPr lang="en-US" sz="1200" dirty="0">
                <a:sym typeface="Consolas"/>
              </a:rPr>
              <a:t> = 20;</a:t>
            </a:r>
          </a:p>
          <a:p>
            <a:pPr marL="457200" lvl="0">
              <a:lnSpc>
                <a:spcPct val="135714"/>
              </a:lnSpc>
            </a:pPr>
            <a:r>
              <a:rPr lang="en-US" sz="1200" dirty="0">
                <a:sym typeface="Consolas"/>
              </a:rPr>
              <a:t>  }</a:t>
            </a:r>
          </a:p>
          <a:p>
            <a:pPr marL="457200" lvl="0">
              <a:lnSpc>
                <a:spcPct val="135714"/>
              </a:lnSpc>
            </a:pPr>
            <a:r>
              <a:rPr lang="en-US" sz="1200" dirty="0">
                <a:sym typeface="Consolas"/>
              </a:rPr>
              <a:t>  double </a:t>
            </a:r>
            <a:r>
              <a:rPr lang="en-US" sz="1200" dirty="0" err="1">
                <a:sym typeface="Consolas"/>
              </a:rPr>
              <a:t>totalSalary</a:t>
            </a:r>
            <a:r>
              <a:rPr lang="en-US" sz="1200" dirty="0">
                <a:sym typeface="Consolas"/>
              </a:rPr>
              <a:t> = </a:t>
            </a:r>
            <a:r>
              <a:rPr lang="en-US" sz="1200" dirty="0" err="1">
                <a:sym typeface="Consolas"/>
              </a:rPr>
              <a:t>william.salary</a:t>
            </a:r>
            <a:r>
              <a:rPr lang="en-US" sz="1200" dirty="0">
                <a:sym typeface="Consolas"/>
              </a:rPr>
              <a:t> + (</a:t>
            </a:r>
            <a:r>
              <a:rPr lang="en-US" sz="1200" dirty="0" err="1">
                <a:sym typeface="Consolas"/>
              </a:rPr>
              <a:t>william.Overtimehr</a:t>
            </a:r>
            <a:r>
              <a:rPr lang="en-US" sz="1200" dirty="0">
                <a:sym typeface="Consolas"/>
              </a:rPr>
              <a:t> * </a:t>
            </a:r>
            <a:r>
              <a:rPr lang="en-US" sz="1200" dirty="0" err="1">
                <a:sym typeface="Consolas"/>
              </a:rPr>
              <a:t>extraPayPerHr</a:t>
            </a:r>
            <a:r>
              <a:rPr lang="en-US" sz="1200" dirty="0">
                <a:sym typeface="Consolas"/>
              </a:rPr>
              <a:t>);</a:t>
            </a:r>
          </a:p>
          <a:p>
            <a:pPr marL="457200" lvl="0">
              <a:lnSpc>
                <a:spcPct val="135714"/>
              </a:lnSpc>
            </a:pPr>
            <a:r>
              <a:rPr lang="en-US" sz="1200" dirty="0">
                <a:sym typeface="Consolas"/>
              </a:rPr>
              <a:t>  print("Total Salary = \$${</a:t>
            </a:r>
            <a:r>
              <a:rPr lang="en-US" sz="1200" dirty="0" err="1">
                <a:sym typeface="Consolas"/>
              </a:rPr>
              <a:t>totalSalary</a:t>
            </a:r>
            <a:r>
              <a:rPr lang="en-US" sz="1200" dirty="0">
                <a:sym typeface="Consolas"/>
              </a:rPr>
              <a:t>} USD");</a:t>
            </a:r>
          </a:p>
          <a:p>
            <a:pPr marL="457200" lvl="0">
              <a:lnSpc>
                <a:spcPct val="135714"/>
              </a:lnSpc>
            </a:pPr>
            <a:r>
              <a:rPr lang="en-US" sz="1200" dirty="0">
                <a:sym typeface="Consolas"/>
              </a:rPr>
              <a:t>}</a:t>
            </a:r>
          </a:p>
        </p:txBody>
      </p:sp>
      <p:pic>
        <p:nvPicPr>
          <p:cNvPr id="4" name="Picture 3"/>
          <p:cNvPicPr>
            <a:picLocks noChangeAspect="1"/>
          </p:cNvPicPr>
          <p:nvPr/>
        </p:nvPicPr>
        <p:blipFill>
          <a:blip r:embed="rId4"/>
          <a:stretch>
            <a:fillRect/>
          </a:stretch>
        </p:blipFill>
        <p:spPr>
          <a:xfrm>
            <a:off x="6216075" y="1743912"/>
            <a:ext cx="5874068" cy="3181585"/>
          </a:xfrm>
          <a:prstGeom prst="rect">
            <a:avLst/>
          </a:prstGeom>
        </p:spPr>
      </p:pic>
    </p:spTree>
    <p:extLst>
      <p:ext uri="{BB962C8B-B14F-4D97-AF65-F5344CB8AC3E}">
        <p14:creationId xmlns:p14="http://schemas.microsoft.com/office/powerpoint/2010/main" val="94484924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30</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268433" cy="572700"/>
          </a:xfrm>
          <a:prstGeom prst="rect">
            <a:avLst/>
          </a:prstGeom>
        </p:spPr>
        <p:txBody>
          <a:bodyPr spcFirstLastPara="1" wrap="square" lIns="91425" tIns="91425" rIns="91425" bIns="91425" anchor="t" anchorCtr="0">
            <a:noAutofit/>
          </a:bodyPr>
          <a:lstStyle/>
          <a:p>
            <a:pPr lvl="0" algn="ctr">
              <a:spcBef>
                <a:spcPts val="0"/>
              </a:spcBef>
            </a:pPr>
            <a:r>
              <a:rPr lang="en" sz="2800" dirty="0"/>
              <a:t>Create a Small Overtime Payment Program</a:t>
            </a:r>
            <a:endParaRPr lang="en-US" sz="2800"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658761" y="1025649"/>
            <a:ext cx="11067159" cy="3499163"/>
          </a:xfrm>
          <a:prstGeom prst="rect">
            <a:avLst/>
          </a:prstGeom>
        </p:spPr>
        <p:txBody>
          <a:bodyPr wrap="square">
            <a:spAutoFit/>
          </a:bodyPr>
          <a:lstStyle/>
          <a:p>
            <a:pPr lvl="0">
              <a:lnSpc>
                <a:spcPct val="115000"/>
              </a:lnSpc>
              <a:spcBef>
                <a:spcPts val="1400"/>
              </a:spcBef>
            </a:pPr>
            <a:r>
              <a:rPr lang="en-US" sz="2000" b="1" dirty="0">
                <a:solidFill>
                  <a:srgbClr val="000000"/>
                </a:solidFill>
                <a:latin typeface="Arial"/>
                <a:ea typeface="Arial"/>
                <a:cs typeface="Arial"/>
                <a:sym typeface="Arial"/>
              </a:rPr>
              <a:t>Step 4: Run the Program</a:t>
            </a:r>
          </a:p>
          <a:p>
            <a:pPr marL="457200" lvl="0" indent="-298450">
              <a:lnSpc>
                <a:spcPct val="115000"/>
              </a:lnSpc>
              <a:spcBef>
                <a:spcPts val="1200"/>
              </a:spcBef>
              <a:buClr>
                <a:srgbClr val="000000"/>
              </a:buClr>
              <a:buSzPts val="1100"/>
              <a:buFont typeface="Arial"/>
              <a:buAutoNum type="arabicPeriod"/>
            </a:pPr>
            <a:r>
              <a:rPr lang="en-US" sz="1600" dirty="0">
                <a:solidFill>
                  <a:srgbClr val="000000"/>
                </a:solidFill>
                <a:latin typeface="Arial"/>
                <a:ea typeface="Arial"/>
                <a:cs typeface="Arial"/>
                <a:sym typeface="Arial"/>
              </a:rPr>
              <a:t>In VS Code, open the </a:t>
            </a:r>
            <a:r>
              <a:rPr lang="en-US" sz="1600" b="1" dirty="0">
                <a:solidFill>
                  <a:srgbClr val="000000"/>
                </a:solidFill>
                <a:latin typeface="Arial"/>
                <a:ea typeface="Arial"/>
                <a:cs typeface="Arial"/>
                <a:sym typeface="Arial"/>
              </a:rPr>
              <a:t>Terminal</a:t>
            </a:r>
            <a:r>
              <a:rPr lang="en-US" sz="1600" dirty="0">
                <a:solidFill>
                  <a:srgbClr val="000000"/>
                </a:solidFill>
                <a:latin typeface="Arial"/>
                <a:ea typeface="Arial"/>
                <a:cs typeface="Arial"/>
                <a:sym typeface="Arial"/>
              </a:rPr>
              <a:t> by selecting </a:t>
            </a:r>
            <a:r>
              <a:rPr lang="en-US" sz="1600" dirty="0">
                <a:solidFill>
                  <a:srgbClr val="188038"/>
                </a:solidFill>
                <a:latin typeface="Roboto Mono"/>
                <a:ea typeface="Roboto Mono"/>
                <a:cs typeface="Roboto Mono"/>
                <a:sym typeface="Roboto Mono"/>
              </a:rPr>
              <a:t>Terminal → New Terminal</a:t>
            </a:r>
            <a:r>
              <a:rPr lang="en-US" sz="1600" dirty="0">
                <a:solidFill>
                  <a:srgbClr val="000000"/>
                </a:solidFill>
                <a:latin typeface="Arial"/>
                <a:ea typeface="Arial"/>
                <a:cs typeface="Arial"/>
                <a:sym typeface="Arial"/>
              </a:rPr>
              <a:t>.</a:t>
            </a:r>
          </a:p>
          <a:p>
            <a:pPr marL="457200" lvl="0">
              <a:lnSpc>
                <a:spcPct val="135714"/>
              </a:lnSpc>
              <a:spcBef>
                <a:spcPts val="1200"/>
              </a:spcBef>
            </a:pPr>
            <a:r>
              <a:rPr lang="en-US" sz="1600" dirty="0">
                <a:solidFill>
                  <a:srgbClr val="000000"/>
                </a:solidFill>
                <a:latin typeface="Arial"/>
                <a:ea typeface="Arial"/>
                <a:cs typeface="Arial"/>
                <a:sym typeface="Arial"/>
              </a:rPr>
              <a:t>Run the program by typing:</a:t>
            </a:r>
            <a:br>
              <a:rPr lang="en-US" sz="1600" dirty="0">
                <a:solidFill>
                  <a:srgbClr val="000000"/>
                </a:solidFill>
                <a:latin typeface="Arial"/>
                <a:ea typeface="Arial"/>
                <a:cs typeface="Arial"/>
                <a:sym typeface="Arial"/>
              </a:rPr>
            </a:br>
            <a:r>
              <a:rPr lang="en-US" sz="1600" dirty="0">
                <a:solidFill>
                  <a:srgbClr val="000000"/>
                </a:solidFill>
                <a:latin typeface="Arial"/>
                <a:ea typeface="Arial"/>
                <a:cs typeface="Arial"/>
                <a:sym typeface="Arial"/>
              </a:rPr>
              <a:t>bash</a:t>
            </a:r>
            <a:br>
              <a:rPr lang="en-US" sz="1600" dirty="0">
                <a:solidFill>
                  <a:srgbClr val="000000"/>
                </a:solidFill>
                <a:latin typeface="Arial"/>
                <a:ea typeface="Arial"/>
                <a:cs typeface="Arial"/>
                <a:sym typeface="Arial"/>
              </a:rPr>
            </a:br>
            <a:r>
              <a:rPr lang="en-US" sz="1600" dirty="0">
                <a:solidFill>
                  <a:srgbClr val="000000"/>
                </a:solidFill>
                <a:latin typeface="Arial"/>
                <a:ea typeface="Arial"/>
                <a:cs typeface="Arial"/>
                <a:sym typeface="Arial"/>
              </a:rPr>
              <a:t>Copy code</a:t>
            </a:r>
            <a:br>
              <a:rPr lang="en-US" sz="1600" dirty="0">
                <a:solidFill>
                  <a:srgbClr val="000000"/>
                </a:solidFill>
                <a:latin typeface="Arial"/>
                <a:ea typeface="Arial"/>
                <a:cs typeface="Arial"/>
                <a:sym typeface="Arial"/>
              </a:rPr>
            </a:br>
            <a:r>
              <a:rPr lang="en-US" sz="1600" dirty="0">
                <a:solidFill>
                  <a:srgbClr val="188038"/>
                </a:solidFill>
                <a:latin typeface="Roboto Mono"/>
                <a:ea typeface="Roboto Mono"/>
                <a:cs typeface="Roboto Mono"/>
                <a:sym typeface="Roboto Mono"/>
              </a:rPr>
              <a:t>dart </a:t>
            </a:r>
            <a:r>
              <a:rPr lang="en-US" sz="1600" dirty="0" err="1">
                <a:solidFill>
                  <a:srgbClr val="188038"/>
                </a:solidFill>
                <a:latin typeface="Roboto Mono"/>
                <a:ea typeface="Roboto Mono"/>
                <a:cs typeface="Roboto Mono"/>
                <a:sym typeface="Roboto Mono"/>
              </a:rPr>
              <a:t>main.dart</a:t>
            </a:r>
            <a:endParaRPr lang="en-US" sz="1600" dirty="0">
              <a:solidFill>
                <a:srgbClr val="000000"/>
              </a:solidFill>
              <a:latin typeface="Arial"/>
              <a:ea typeface="Arial"/>
              <a:cs typeface="Arial"/>
              <a:sym typeface="Arial"/>
            </a:endParaRPr>
          </a:p>
          <a:p>
            <a:pPr marL="457200" lvl="0">
              <a:lnSpc>
                <a:spcPct val="135714"/>
              </a:lnSpc>
            </a:pPr>
            <a:endParaRPr lang="en-US" sz="1100" b="1" dirty="0">
              <a:solidFill>
                <a:srgbClr val="222222"/>
              </a:solidFill>
              <a:latin typeface="Arial"/>
              <a:ea typeface="Arial"/>
              <a:cs typeface="Arial"/>
              <a:sym typeface="Arial"/>
            </a:endParaRPr>
          </a:p>
          <a:p>
            <a:pPr lvl="0">
              <a:lnSpc>
                <a:spcPct val="135714"/>
              </a:lnSpc>
            </a:pPr>
            <a:endParaRPr lang="en-US" sz="1400" dirty="0">
              <a:solidFill>
                <a:srgbClr val="D4D4D4"/>
              </a:solidFill>
              <a:highlight>
                <a:srgbClr val="1E1E1E"/>
              </a:highlight>
              <a:latin typeface="Consolas"/>
              <a:ea typeface="Consolas"/>
              <a:cs typeface="Consolas"/>
              <a:sym typeface="Consolas"/>
            </a:endParaRPr>
          </a:p>
          <a:p>
            <a:pPr lvl="0">
              <a:lnSpc>
                <a:spcPct val="135714"/>
              </a:lnSpc>
            </a:pPr>
            <a:endParaRPr lang="en-US" sz="1400" dirty="0">
              <a:solidFill>
                <a:srgbClr val="D4D4D4"/>
              </a:solidFill>
              <a:highlight>
                <a:srgbClr val="1E1E1E"/>
              </a:highlight>
              <a:latin typeface="Consolas"/>
              <a:ea typeface="Consolas"/>
              <a:cs typeface="Consolas"/>
              <a:sym typeface="Consolas"/>
            </a:endParaRPr>
          </a:p>
          <a:p>
            <a:pPr marR="163195" lvl="0">
              <a:lnSpc>
                <a:spcPct val="115000"/>
              </a:lnSpc>
              <a:spcBef>
                <a:spcPts val="1000"/>
              </a:spcBef>
            </a:pPr>
            <a:endParaRPr lang="en-US" sz="1100" dirty="0">
              <a:solidFill>
                <a:srgbClr val="222222"/>
              </a:solidFill>
              <a:latin typeface="Arial"/>
              <a:ea typeface="Arial"/>
              <a:cs typeface="Arial"/>
              <a:sym typeface="Arial"/>
            </a:endParaRPr>
          </a:p>
        </p:txBody>
      </p:sp>
      <p:pic>
        <p:nvPicPr>
          <p:cNvPr id="4" name="Picture 3"/>
          <p:cNvPicPr>
            <a:picLocks noChangeAspect="1"/>
          </p:cNvPicPr>
          <p:nvPr/>
        </p:nvPicPr>
        <p:blipFill>
          <a:blip r:embed="rId4"/>
          <a:stretch>
            <a:fillRect/>
          </a:stretch>
        </p:blipFill>
        <p:spPr>
          <a:xfrm>
            <a:off x="978487" y="3913370"/>
            <a:ext cx="9725776" cy="1904273"/>
          </a:xfrm>
          <a:prstGeom prst="rect">
            <a:avLst/>
          </a:prstGeom>
        </p:spPr>
      </p:pic>
    </p:spTree>
    <p:extLst>
      <p:ext uri="{BB962C8B-B14F-4D97-AF65-F5344CB8AC3E}">
        <p14:creationId xmlns:p14="http://schemas.microsoft.com/office/powerpoint/2010/main" val="6813056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31</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24458" cy="572700"/>
          </a:xfrm>
          <a:prstGeom prst="rect">
            <a:avLst/>
          </a:prstGeom>
        </p:spPr>
        <p:txBody>
          <a:bodyPr spcFirstLastPara="1" wrap="square" lIns="91425" tIns="91425" rIns="91425" bIns="91425" anchor="t" anchorCtr="0">
            <a:noAutofit/>
          </a:bodyPr>
          <a:lstStyle/>
          <a:p>
            <a:pPr lvl="0" algn="ctr">
              <a:spcBef>
                <a:spcPts val="0"/>
              </a:spcBef>
            </a:pPr>
            <a:r>
              <a:rPr lang="en" sz="2800" dirty="0" smtClean="0"/>
              <a:t>3. Dart </a:t>
            </a:r>
            <a:r>
              <a:rPr lang="en" sz="2800" dirty="0"/>
              <a:t>Project Structure and Dart Libraries</a:t>
            </a:r>
            <a:endParaRPr lang="en-US" sz="2800"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658761" y="1025649"/>
            <a:ext cx="11067159" cy="5644109"/>
          </a:xfrm>
          <a:prstGeom prst="rect">
            <a:avLst/>
          </a:prstGeom>
        </p:spPr>
        <p:txBody>
          <a:bodyPr wrap="square">
            <a:spAutoFit/>
          </a:bodyPr>
          <a:lstStyle/>
          <a:p>
            <a:pPr marL="171450" marR="163195" lvl="0">
              <a:lnSpc>
                <a:spcPct val="115000"/>
              </a:lnSpc>
              <a:spcBef>
                <a:spcPts val="1000"/>
              </a:spcBef>
              <a:buClr>
                <a:srgbClr val="222222"/>
              </a:buClr>
              <a:buSzPts val="900"/>
            </a:pPr>
            <a:r>
              <a:rPr lang="en-US" dirty="0">
                <a:solidFill>
                  <a:srgbClr val="222222"/>
                </a:solidFill>
                <a:ea typeface="Arial"/>
                <a:cs typeface="Arial"/>
                <a:sym typeface="Arial"/>
              </a:rPr>
              <a:t>When creating a Flutter application, click on </a:t>
            </a:r>
            <a:r>
              <a:rPr lang="en-US" b="1" dirty="0">
                <a:solidFill>
                  <a:srgbClr val="222222"/>
                </a:solidFill>
                <a:ea typeface="Arial"/>
                <a:cs typeface="Arial"/>
                <a:sym typeface="Arial"/>
              </a:rPr>
              <a:t>Ctrl + Shift + P </a:t>
            </a:r>
            <a:r>
              <a:rPr lang="en-US" dirty="0">
                <a:solidFill>
                  <a:srgbClr val="222222"/>
                </a:solidFill>
                <a:ea typeface="Arial"/>
                <a:cs typeface="Arial"/>
                <a:sym typeface="Arial"/>
              </a:rPr>
              <a:t>(Show and Run Commands). Click on Flutter &gt; New Project</a:t>
            </a:r>
          </a:p>
          <a:p>
            <a:pPr marL="457200" marR="163195" lvl="0">
              <a:lnSpc>
                <a:spcPct val="115000"/>
              </a:lnSpc>
              <a:spcBef>
                <a:spcPts val="1000"/>
              </a:spcBef>
            </a:pPr>
            <a:endParaRPr lang="en-US" dirty="0">
              <a:solidFill>
                <a:srgbClr val="222222"/>
              </a:solidFill>
              <a:ea typeface="Arial"/>
              <a:cs typeface="Arial"/>
              <a:sym typeface="Arial"/>
            </a:endParaRPr>
          </a:p>
          <a:p>
            <a:pPr marL="457200" marR="163195" lvl="0">
              <a:lnSpc>
                <a:spcPct val="115000"/>
              </a:lnSpc>
              <a:spcBef>
                <a:spcPts val="1000"/>
              </a:spcBef>
            </a:pPr>
            <a:endParaRPr lang="en-US" dirty="0">
              <a:solidFill>
                <a:srgbClr val="222222"/>
              </a:solidFill>
              <a:ea typeface="Arial"/>
              <a:cs typeface="Arial"/>
              <a:sym typeface="Arial"/>
            </a:endParaRPr>
          </a:p>
          <a:p>
            <a:pPr marL="457200" marR="163195" lvl="0">
              <a:lnSpc>
                <a:spcPct val="115000"/>
              </a:lnSpc>
              <a:spcBef>
                <a:spcPts val="1000"/>
              </a:spcBef>
            </a:pPr>
            <a:endParaRPr lang="en-US" dirty="0">
              <a:solidFill>
                <a:srgbClr val="222222"/>
              </a:solidFill>
              <a:ea typeface="Arial"/>
              <a:cs typeface="Arial"/>
              <a:sym typeface="Arial"/>
            </a:endParaRPr>
          </a:p>
          <a:p>
            <a:pPr marL="457200" marR="163195" lvl="0">
              <a:lnSpc>
                <a:spcPct val="115000"/>
              </a:lnSpc>
              <a:spcBef>
                <a:spcPts val="1000"/>
              </a:spcBef>
            </a:pPr>
            <a:endParaRPr lang="en-US" dirty="0">
              <a:solidFill>
                <a:srgbClr val="222222"/>
              </a:solidFill>
              <a:ea typeface="Arial"/>
              <a:cs typeface="Arial"/>
              <a:sym typeface="Arial"/>
            </a:endParaRPr>
          </a:p>
          <a:p>
            <a:pPr marL="457200" marR="163195" lvl="0">
              <a:lnSpc>
                <a:spcPct val="115000"/>
              </a:lnSpc>
              <a:spcBef>
                <a:spcPts val="1000"/>
              </a:spcBef>
            </a:pPr>
            <a:endParaRPr lang="en-US" dirty="0">
              <a:solidFill>
                <a:srgbClr val="222222"/>
              </a:solidFill>
              <a:ea typeface="Arial"/>
              <a:cs typeface="Arial"/>
              <a:sym typeface="Arial"/>
            </a:endParaRPr>
          </a:p>
          <a:p>
            <a:pPr marR="163195" lvl="0">
              <a:lnSpc>
                <a:spcPct val="115000"/>
              </a:lnSpc>
              <a:spcBef>
                <a:spcPts val="1000"/>
              </a:spcBef>
            </a:pPr>
            <a:endParaRPr lang="en-US" dirty="0">
              <a:solidFill>
                <a:srgbClr val="222222"/>
              </a:solidFill>
              <a:ea typeface="Arial"/>
              <a:cs typeface="Arial"/>
              <a:sym typeface="Arial"/>
            </a:endParaRPr>
          </a:p>
          <a:p>
            <a:pPr marL="171450" marR="163195" lvl="0">
              <a:lnSpc>
                <a:spcPct val="115000"/>
              </a:lnSpc>
              <a:spcBef>
                <a:spcPts val="1000"/>
              </a:spcBef>
              <a:buClr>
                <a:srgbClr val="222222"/>
              </a:buClr>
              <a:buSzPts val="900"/>
            </a:pPr>
            <a:r>
              <a:rPr lang="en-US" dirty="0" smtClean="0">
                <a:solidFill>
                  <a:srgbClr val="222222"/>
                </a:solidFill>
                <a:ea typeface="Arial"/>
                <a:cs typeface="Arial"/>
                <a:sym typeface="Arial"/>
              </a:rPr>
              <a:t>First time you show an error message</a:t>
            </a:r>
          </a:p>
          <a:p>
            <a:pPr marL="171450" marR="163195" lvl="0">
              <a:lnSpc>
                <a:spcPct val="115000"/>
              </a:lnSpc>
              <a:spcBef>
                <a:spcPts val="1000"/>
              </a:spcBef>
              <a:buClr>
                <a:srgbClr val="222222"/>
              </a:buClr>
              <a:buSzPts val="900"/>
            </a:pPr>
            <a:endParaRPr lang="en-US" dirty="0">
              <a:solidFill>
                <a:srgbClr val="222222"/>
              </a:solidFill>
              <a:ea typeface="Arial"/>
              <a:cs typeface="Arial"/>
              <a:sym typeface="Arial"/>
            </a:endParaRPr>
          </a:p>
          <a:p>
            <a:pPr marL="457200" marR="163195" lvl="0">
              <a:lnSpc>
                <a:spcPct val="115000"/>
              </a:lnSpc>
              <a:spcBef>
                <a:spcPts val="1000"/>
              </a:spcBef>
            </a:pPr>
            <a:endParaRPr lang="en-US" dirty="0">
              <a:solidFill>
                <a:srgbClr val="222222"/>
              </a:solidFill>
              <a:ea typeface="Arial"/>
              <a:cs typeface="Arial"/>
              <a:sym typeface="Arial"/>
            </a:endParaRPr>
          </a:p>
          <a:p>
            <a:pPr marL="457200" marR="163195" lvl="0">
              <a:lnSpc>
                <a:spcPct val="115000"/>
              </a:lnSpc>
              <a:spcBef>
                <a:spcPts val="1000"/>
              </a:spcBef>
            </a:pPr>
            <a:endParaRPr lang="en-US" dirty="0">
              <a:solidFill>
                <a:srgbClr val="222222"/>
              </a:solidFill>
              <a:ea typeface="Arial"/>
              <a:cs typeface="Arial"/>
              <a:sym typeface="Arial"/>
            </a:endParaRPr>
          </a:p>
          <a:p>
            <a:pPr marR="163195" lvl="0">
              <a:lnSpc>
                <a:spcPct val="115000"/>
              </a:lnSpc>
              <a:spcBef>
                <a:spcPts val="1000"/>
              </a:spcBef>
            </a:pPr>
            <a:endParaRPr lang="en-US" dirty="0">
              <a:solidFill>
                <a:srgbClr val="222222"/>
              </a:solidFill>
              <a:ea typeface="Arial"/>
              <a:cs typeface="Arial"/>
              <a:sym typeface="Arial"/>
            </a:endParaRPr>
          </a:p>
        </p:txBody>
      </p:sp>
      <p:pic>
        <p:nvPicPr>
          <p:cNvPr id="10" name="Google Shape;490;p56"/>
          <p:cNvPicPr preferRelativeResize="0"/>
          <p:nvPr/>
        </p:nvPicPr>
        <p:blipFill>
          <a:blip r:embed="rId4">
            <a:alphaModFix/>
          </a:blip>
          <a:stretch>
            <a:fillRect/>
          </a:stretch>
        </p:blipFill>
        <p:spPr>
          <a:xfrm>
            <a:off x="2565424" y="1957324"/>
            <a:ext cx="6263943" cy="2250881"/>
          </a:xfrm>
          <a:prstGeom prst="rect">
            <a:avLst/>
          </a:prstGeom>
          <a:noFill/>
          <a:ln>
            <a:noFill/>
          </a:ln>
        </p:spPr>
      </p:pic>
      <p:pic>
        <p:nvPicPr>
          <p:cNvPr id="4" name="Picture 3"/>
          <p:cNvPicPr>
            <a:picLocks noChangeAspect="1"/>
          </p:cNvPicPr>
          <p:nvPr/>
        </p:nvPicPr>
        <p:blipFill>
          <a:blip r:embed="rId5"/>
          <a:stretch>
            <a:fillRect/>
          </a:stretch>
        </p:blipFill>
        <p:spPr>
          <a:xfrm>
            <a:off x="3065184" y="5017960"/>
            <a:ext cx="5264421" cy="1301817"/>
          </a:xfrm>
          <a:prstGeom prst="rect">
            <a:avLst/>
          </a:prstGeom>
        </p:spPr>
      </p:pic>
    </p:spTree>
    <p:extLst>
      <p:ext uri="{BB962C8B-B14F-4D97-AF65-F5344CB8AC3E}">
        <p14:creationId xmlns:p14="http://schemas.microsoft.com/office/powerpoint/2010/main" val="2992916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32</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24458" cy="572700"/>
          </a:xfrm>
          <a:prstGeom prst="rect">
            <a:avLst/>
          </a:prstGeom>
        </p:spPr>
        <p:txBody>
          <a:bodyPr spcFirstLastPara="1" wrap="square" lIns="91425" tIns="91425" rIns="91425" bIns="91425" anchor="t" anchorCtr="0">
            <a:noAutofit/>
          </a:bodyPr>
          <a:lstStyle/>
          <a:p>
            <a:pPr lvl="0" algn="ctr">
              <a:spcBef>
                <a:spcPts val="0"/>
              </a:spcBef>
            </a:pPr>
            <a:r>
              <a:rPr lang="en" sz="2800" dirty="0" smtClean="0"/>
              <a:t>3. Dart </a:t>
            </a:r>
            <a:r>
              <a:rPr lang="en" sz="2800" dirty="0"/>
              <a:t>Project Structure and Dart Libraries</a:t>
            </a:r>
            <a:endParaRPr lang="en-US" sz="2800"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658761" y="1025649"/>
            <a:ext cx="11067159" cy="2198038"/>
          </a:xfrm>
          <a:prstGeom prst="rect">
            <a:avLst/>
          </a:prstGeom>
        </p:spPr>
        <p:txBody>
          <a:bodyPr wrap="square">
            <a:spAutoFit/>
          </a:bodyPr>
          <a:lstStyle/>
          <a:p>
            <a:pPr marL="171450" marR="163195" lvl="0">
              <a:lnSpc>
                <a:spcPct val="115000"/>
              </a:lnSpc>
              <a:spcBef>
                <a:spcPts val="1000"/>
              </a:spcBef>
              <a:buClr>
                <a:srgbClr val="222222"/>
              </a:buClr>
              <a:buSzPts val="900"/>
            </a:pPr>
            <a:r>
              <a:rPr lang="en-US" dirty="0" smtClean="0">
                <a:ea typeface="Arial"/>
                <a:cs typeface="Arial"/>
                <a:sym typeface="Arial"/>
              </a:rPr>
              <a:t>In here if you want to download SDK </a:t>
            </a:r>
          </a:p>
          <a:p>
            <a:pPr marL="171450" marR="163195" lvl="0">
              <a:lnSpc>
                <a:spcPct val="115000"/>
              </a:lnSpc>
              <a:spcBef>
                <a:spcPts val="1000"/>
              </a:spcBef>
              <a:buClr>
                <a:srgbClr val="222222"/>
              </a:buClr>
              <a:buSzPts val="900"/>
            </a:pPr>
            <a:r>
              <a:rPr lang="en-US" dirty="0" smtClean="0">
                <a:ea typeface="Arial"/>
                <a:cs typeface="Arial"/>
                <a:sym typeface="Arial"/>
              </a:rPr>
              <a:t>you need to install </a:t>
            </a:r>
            <a:r>
              <a:rPr lang="en-US" b="1" i="1" dirty="0" err="1" smtClean="0">
                <a:ea typeface="Arial"/>
                <a:cs typeface="Arial"/>
                <a:sym typeface="Arial"/>
              </a:rPr>
              <a:t>Git</a:t>
            </a:r>
            <a:r>
              <a:rPr lang="en-US" b="1" i="1" dirty="0" smtClean="0">
                <a:ea typeface="Arial"/>
                <a:cs typeface="Arial"/>
                <a:sym typeface="Arial"/>
              </a:rPr>
              <a:t> </a:t>
            </a:r>
          </a:p>
          <a:p>
            <a:pPr marL="171450" marR="163195" lvl="0">
              <a:lnSpc>
                <a:spcPct val="115000"/>
              </a:lnSpc>
              <a:spcBef>
                <a:spcPts val="1000"/>
              </a:spcBef>
              <a:buClr>
                <a:srgbClr val="222222"/>
              </a:buClr>
              <a:buSzPts val="900"/>
            </a:pPr>
            <a:endParaRPr lang="en-US" b="1" i="1" dirty="0">
              <a:ea typeface="Arial"/>
              <a:cs typeface="Arial"/>
              <a:sym typeface="Arial"/>
            </a:endParaRPr>
          </a:p>
          <a:p>
            <a:pPr marL="171450" marR="163195" lvl="0">
              <a:lnSpc>
                <a:spcPct val="115000"/>
              </a:lnSpc>
              <a:spcBef>
                <a:spcPts val="1000"/>
              </a:spcBef>
              <a:buClr>
                <a:srgbClr val="222222"/>
              </a:buClr>
              <a:buSzPts val="900"/>
            </a:pPr>
            <a:r>
              <a:rPr lang="en-US" b="1" i="1" dirty="0" smtClean="0">
                <a:ea typeface="Arial"/>
                <a:cs typeface="Arial"/>
                <a:sym typeface="Arial"/>
                <a:hlinkClick r:id="rId4"/>
              </a:rPr>
              <a:t>Click here</a:t>
            </a:r>
            <a:r>
              <a:rPr lang="en-US" b="1" i="1" dirty="0" smtClean="0">
                <a:ea typeface="Arial"/>
                <a:cs typeface="Arial"/>
                <a:sym typeface="Arial"/>
              </a:rPr>
              <a:t> download the </a:t>
            </a:r>
            <a:r>
              <a:rPr lang="en-US" b="1" i="1" dirty="0" err="1" smtClean="0">
                <a:ea typeface="Arial"/>
                <a:cs typeface="Arial"/>
                <a:sym typeface="Arial"/>
              </a:rPr>
              <a:t>git</a:t>
            </a:r>
            <a:r>
              <a:rPr lang="en-US" b="1" i="1" dirty="0" smtClean="0">
                <a:ea typeface="Arial"/>
                <a:cs typeface="Arial"/>
                <a:sym typeface="Arial"/>
              </a:rPr>
              <a:t> and install it</a:t>
            </a:r>
            <a:endParaRPr lang="en-US" b="1" i="1" dirty="0" smtClean="0">
              <a:ea typeface="Arial"/>
              <a:cs typeface="Arial"/>
              <a:sym typeface="Arial"/>
            </a:endParaRPr>
          </a:p>
          <a:p>
            <a:pPr marL="171450" marR="163195" lvl="0">
              <a:lnSpc>
                <a:spcPct val="115000"/>
              </a:lnSpc>
              <a:spcBef>
                <a:spcPts val="1000"/>
              </a:spcBef>
              <a:buClr>
                <a:srgbClr val="222222"/>
              </a:buClr>
              <a:buSzPts val="900"/>
            </a:pPr>
            <a:endParaRPr lang="en-US" dirty="0" smtClean="0">
              <a:ea typeface="Arial"/>
              <a:cs typeface="Arial"/>
              <a:sym typeface="Arial"/>
            </a:endParaRPr>
          </a:p>
        </p:txBody>
      </p:sp>
      <p:pic>
        <p:nvPicPr>
          <p:cNvPr id="11" name="Picture 10"/>
          <p:cNvPicPr>
            <a:picLocks noChangeAspect="1"/>
          </p:cNvPicPr>
          <p:nvPr/>
        </p:nvPicPr>
        <p:blipFill>
          <a:blip r:embed="rId5"/>
          <a:stretch>
            <a:fillRect/>
          </a:stretch>
        </p:blipFill>
        <p:spPr>
          <a:xfrm>
            <a:off x="6825722" y="1258111"/>
            <a:ext cx="5264421" cy="1301817"/>
          </a:xfrm>
          <a:prstGeom prst="rect">
            <a:avLst/>
          </a:prstGeom>
        </p:spPr>
      </p:pic>
      <p:pic>
        <p:nvPicPr>
          <p:cNvPr id="4" name="Picture 3"/>
          <p:cNvPicPr>
            <a:picLocks noChangeAspect="1"/>
          </p:cNvPicPr>
          <p:nvPr/>
        </p:nvPicPr>
        <p:blipFill>
          <a:blip r:embed="rId6"/>
          <a:stretch>
            <a:fillRect/>
          </a:stretch>
        </p:blipFill>
        <p:spPr>
          <a:xfrm>
            <a:off x="2317515" y="3038847"/>
            <a:ext cx="5456100" cy="30832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05931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33</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24458" cy="572700"/>
          </a:xfrm>
          <a:prstGeom prst="rect">
            <a:avLst/>
          </a:prstGeom>
        </p:spPr>
        <p:txBody>
          <a:bodyPr spcFirstLastPara="1" wrap="square" lIns="91425" tIns="91425" rIns="91425" bIns="91425" anchor="t" anchorCtr="0">
            <a:noAutofit/>
          </a:bodyPr>
          <a:lstStyle/>
          <a:p>
            <a:pPr lvl="0" algn="ctr">
              <a:spcBef>
                <a:spcPts val="0"/>
              </a:spcBef>
            </a:pPr>
            <a:r>
              <a:rPr lang="en" sz="2800" dirty="0" smtClean="0"/>
              <a:t>3. Dart </a:t>
            </a:r>
            <a:r>
              <a:rPr lang="en" sz="2800" dirty="0"/>
              <a:t>Project Structure and Dart Libraries</a:t>
            </a:r>
            <a:endParaRPr lang="en-US" sz="2800"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658761" y="1025649"/>
            <a:ext cx="11067159" cy="3091616"/>
          </a:xfrm>
          <a:prstGeom prst="rect">
            <a:avLst/>
          </a:prstGeom>
        </p:spPr>
        <p:txBody>
          <a:bodyPr wrap="square">
            <a:spAutoFit/>
          </a:bodyPr>
          <a:lstStyle/>
          <a:p>
            <a:pPr marL="171450" marR="163195" lvl="0">
              <a:lnSpc>
                <a:spcPct val="115000"/>
              </a:lnSpc>
              <a:spcBef>
                <a:spcPts val="1000"/>
              </a:spcBef>
              <a:buClr>
                <a:srgbClr val="222222"/>
              </a:buClr>
              <a:buSzPts val="900"/>
            </a:pPr>
            <a:r>
              <a:rPr lang="en-US" dirty="0" smtClean="0">
                <a:ea typeface="Arial"/>
                <a:cs typeface="Arial"/>
                <a:sym typeface="Arial"/>
              </a:rPr>
              <a:t>Step 1- First time install the flutter </a:t>
            </a:r>
            <a:r>
              <a:rPr lang="en-US" dirty="0" err="1" smtClean="0">
                <a:ea typeface="Arial"/>
                <a:cs typeface="Arial"/>
                <a:sym typeface="Arial"/>
              </a:rPr>
              <a:t>sdk</a:t>
            </a:r>
            <a:endParaRPr lang="en-US" dirty="0" smtClean="0">
              <a:ea typeface="Arial"/>
              <a:cs typeface="Arial"/>
              <a:sym typeface="Arial"/>
            </a:endParaRPr>
          </a:p>
          <a:p>
            <a:pPr marL="171450" marR="163195" lvl="0">
              <a:lnSpc>
                <a:spcPct val="115000"/>
              </a:lnSpc>
              <a:spcBef>
                <a:spcPts val="1000"/>
              </a:spcBef>
              <a:buClr>
                <a:srgbClr val="222222"/>
              </a:buClr>
              <a:buSzPts val="900"/>
            </a:pPr>
            <a:r>
              <a:rPr lang="en-US" dirty="0" smtClean="0">
                <a:ea typeface="Arial"/>
                <a:cs typeface="Arial"/>
                <a:sym typeface="Arial"/>
              </a:rPr>
              <a:t>Click here =&gt; </a:t>
            </a:r>
            <a:r>
              <a:rPr lang="en-US" dirty="0" smtClean="0">
                <a:ea typeface="Arial"/>
                <a:cs typeface="Arial"/>
                <a:sym typeface="Arial"/>
                <a:hlinkClick r:id="rId4"/>
              </a:rPr>
              <a:t>https://docs.flutter.dev/install/manual</a:t>
            </a:r>
            <a:endParaRPr lang="en-US" dirty="0">
              <a:ea typeface="Arial"/>
              <a:cs typeface="Arial"/>
              <a:sym typeface="Arial"/>
            </a:endParaRPr>
          </a:p>
          <a:p>
            <a:pPr marL="171450" marR="163195" lvl="0">
              <a:lnSpc>
                <a:spcPct val="115000"/>
              </a:lnSpc>
              <a:spcBef>
                <a:spcPts val="1000"/>
              </a:spcBef>
              <a:buClr>
                <a:srgbClr val="222222"/>
              </a:buClr>
              <a:buSzPts val="900"/>
            </a:pPr>
            <a:r>
              <a:rPr lang="en-US" dirty="0" smtClean="0">
                <a:ea typeface="Arial"/>
                <a:cs typeface="Arial"/>
                <a:sym typeface="Arial"/>
              </a:rPr>
              <a:t>Step 2 - Extract the zip file</a:t>
            </a:r>
          </a:p>
          <a:p>
            <a:pPr marL="171450" marR="163195" lvl="0">
              <a:lnSpc>
                <a:spcPct val="115000"/>
              </a:lnSpc>
              <a:spcBef>
                <a:spcPts val="1000"/>
              </a:spcBef>
              <a:buClr>
                <a:srgbClr val="222222"/>
              </a:buClr>
              <a:buSzPts val="900"/>
            </a:pPr>
            <a:r>
              <a:rPr lang="en-US" dirty="0" smtClean="0">
                <a:ea typeface="Arial"/>
                <a:cs typeface="Arial"/>
                <a:sym typeface="Arial"/>
              </a:rPr>
              <a:t>Step 3 – Go vs Code and click </a:t>
            </a:r>
            <a:r>
              <a:rPr lang="en-US" b="1" dirty="0" smtClean="0">
                <a:ea typeface="Arial"/>
                <a:cs typeface="Arial"/>
                <a:sym typeface="Arial"/>
              </a:rPr>
              <a:t>Locate SDK</a:t>
            </a:r>
          </a:p>
          <a:p>
            <a:pPr marL="171450" marR="163195" lvl="0">
              <a:lnSpc>
                <a:spcPct val="115000"/>
              </a:lnSpc>
              <a:spcBef>
                <a:spcPts val="1000"/>
              </a:spcBef>
              <a:buClr>
                <a:srgbClr val="222222"/>
              </a:buClr>
              <a:buSzPts val="900"/>
            </a:pPr>
            <a:r>
              <a:rPr lang="en-US" dirty="0" smtClean="0">
                <a:ea typeface="Arial"/>
                <a:cs typeface="Arial"/>
                <a:sym typeface="Arial"/>
              </a:rPr>
              <a:t>And select </a:t>
            </a:r>
            <a:r>
              <a:rPr lang="en-US" dirty="0">
                <a:ea typeface="Arial"/>
                <a:cs typeface="Arial"/>
                <a:sym typeface="Arial"/>
              </a:rPr>
              <a:t>this path: </a:t>
            </a:r>
            <a:r>
              <a:rPr lang="en-US" b="1" i="1" dirty="0" err="1" smtClean="0">
                <a:ea typeface="Arial"/>
                <a:cs typeface="Arial"/>
                <a:sym typeface="Arial"/>
              </a:rPr>
              <a:t>local_computer_disk</a:t>
            </a:r>
            <a:r>
              <a:rPr lang="en-US" b="1" i="1" dirty="0" smtClean="0">
                <a:ea typeface="Arial"/>
                <a:cs typeface="Arial"/>
                <a:sym typeface="Arial"/>
              </a:rPr>
              <a:t>: flutter_windows_3.35.7-stable\flutters\bin</a:t>
            </a:r>
          </a:p>
          <a:p>
            <a:pPr marL="171450" marR="163195" lvl="0">
              <a:lnSpc>
                <a:spcPct val="115000"/>
              </a:lnSpc>
              <a:spcBef>
                <a:spcPts val="1000"/>
              </a:spcBef>
              <a:buClr>
                <a:srgbClr val="222222"/>
              </a:buClr>
              <a:buSzPts val="900"/>
            </a:pPr>
            <a:endParaRPr lang="en-US" dirty="0" smtClean="0">
              <a:ea typeface="Arial"/>
              <a:cs typeface="Arial"/>
              <a:sym typeface="Arial"/>
            </a:endParaRPr>
          </a:p>
          <a:p>
            <a:pPr marL="171450" marR="163195" lvl="0">
              <a:lnSpc>
                <a:spcPct val="115000"/>
              </a:lnSpc>
              <a:spcBef>
                <a:spcPts val="1000"/>
              </a:spcBef>
              <a:buClr>
                <a:srgbClr val="222222"/>
              </a:buClr>
              <a:buSzPts val="900"/>
            </a:pPr>
            <a:r>
              <a:rPr lang="en-US" dirty="0" smtClean="0">
                <a:ea typeface="Arial"/>
                <a:cs typeface="Arial"/>
                <a:sym typeface="Arial"/>
              </a:rPr>
              <a:t>Now Select you folder and project name</a:t>
            </a:r>
            <a:endParaRPr lang="en-US" dirty="0">
              <a:ea typeface="Arial"/>
              <a:cs typeface="Arial"/>
              <a:sym typeface="Arial"/>
            </a:endParaRPr>
          </a:p>
        </p:txBody>
      </p:sp>
      <p:pic>
        <p:nvPicPr>
          <p:cNvPr id="9" name="Google Shape;491;p56"/>
          <p:cNvPicPr preferRelativeResize="0"/>
          <p:nvPr/>
        </p:nvPicPr>
        <p:blipFill>
          <a:blip r:embed="rId5">
            <a:alphaModFix/>
          </a:blip>
          <a:stretch>
            <a:fillRect/>
          </a:stretch>
        </p:blipFill>
        <p:spPr>
          <a:xfrm>
            <a:off x="1401636" y="4363722"/>
            <a:ext cx="4417442" cy="1142967"/>
          </a:xfrm>
          <a:prstGeom prst="rect">
            <a:avLst/>
          </a:prstGeom>
          <a:noFill/>
          <a:ln>
            <a:noFill/>
          </a:ln>
        </p:spPr>
      </p:pic>
      <p:pic>
        <p:nvPicPr>
          <p:cNvPr id="11" name="Picture 10"/>
          <p:cNvPicPr>
            <a:picLocks noChangeAspect="1"/>
          </p:cNvPicPr>
          <p:nvPr/>
        </p:nvPicPr>
        <p:blipFill>
          <a:blip r:embed="rId6"/>
          <a:stretch>
            <a:fillRect/>
          </a:stretch>
        </p:blipFill>
        <p:spPr>
          <a:xfrm>
            <a:off x="6825722" y="1258111"/>
            <a:ext cx="5264421" cy="1301817"/>
          </a:xfrm>
          <a:prstGeom prst="rect">
            <a:avLst/>
          </a:prstGeom>
        </p:spPr>
      </p:pic>
    </p:spTree>
    <p:extLst>
      <p:ext uri="{BB962C8B-B14F-4D97-AF65-F5344CB8AC3E}">
        <p14:creationId xmlns:p14="http://schemas.microsoft.com/office/powerpoint/2010/main" val="397095732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34</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24458" cy="572700"/>
          </a:xfrm>
          <a:prstGeom prst="rect">
            <a:avLst/>
          </a:prstGeom>
        </p:spPr>
        <p:txBody>
          <a:bodyPr spcFirstLastPara="1" wrap="square" lIns="91425" tIns="91425" rIns="91425" bIns="91425" anchor="t" anchorCtr="0">
            <a:noAutofit/>
          </a:bodyPr>
          <a:lstStyle/>
          <a:p>
            <a:pPr lvl="0" algn="ctr">
              <a:spcBef>
                <a:spcPts val="0"/>
              </a:spcBef>
            </a:pPr>
            <a:r>
              <a:rPr lang="en" sz="2800" dirty="0" smtClean="0"/>
              <a:t>3. Dart </a:t>
            </a:r>
            <a:r>
              <a:rPr lang="en" sz="2800" dirty="0"/>
              <a:t>Project Structure and Dart Libraries</a:t>
            </a:r>
            <a:endParaRPr lang="en-US" sz="2800"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3" name="Rectangle 2"/>
          <p:cNvSpPr/>
          <p:nvPr/>
        </p:nvSpPr>
        <p:spPr>
          <a:xfrm>
            <a:off x="658761" y="1025649"/>
            <a:ext cx="11067159" cy="385362"/>
          </a:xfrm>
          <a:prstGeom prst="rect">
            <a:avLst/>
          </a:prstGeom>
        </p:spPr>
        <p:txBody>
          <a:bodyPr wrap="square">
            <a:spAutoFit/>
          </a:bodyPr>
          <a:lstStyle/>
          <a:p>
            <a:pPr marL="171450" marR="163195" lvl="0">
              <a:lnSpc>
                <a:spcPct val="115000"/>
              </a:lnSpc>
              <a:spcBef>
                <a:spcPts val="1000"/>
              </a:spcBef>
              <a:buClr>
                <a:srgbClr val="222222"/>
              </a:buClr>
              <a:buSzPts val="900"/>
            </a:pPr>
            <a:r>
              <a:rPr lang="en-US" dirty="0" smtClean="0">
                <a:solidFill>
                  <a:srgbClr val="222222"/>
                </a:solidFill>
                <a:ea typeface="Arial"/>
                <a:cs typeface="Arial"/>
                <a:sym typeface="Arial"/>
              </a:rPr>
              <a:t>Select you folder and project name</a:t>
            </a:r>
            <a:endParaRPr lang="en-US" dirty="0">
              <a:solidFill>
                <a:srgbClr val="222222"/>
              </a:solidFill>
              <a:ea typeface="Arial"/>
              <a:cs typeface="Arial"/>
              <a:sym typeface="Arial"/>
            </a:endParaRPr>
          </a:p>
        </p:txBody>
      </p:sp>
      <p:pic>
        <p:nvPicPr>
          <p:cNvPr id="10" name="Google Shape;499;p57"/>
          <p:cNvPicPr preferRelativeResize="0"/>
          <p:nvPr/>
        </p:nvPicPr>
        <p:blipFill>
          <a:blip r:embed="rId4">
            <a:alphaModFix/>
          </a:blip>
          <a:stretch>
            <a:fillRect/>
          </a:stretch>
        </p:blipFill>
        <p:spPr>
          <a:xfrm>
            <a:off x="2267014" y="1461112"/>
            <a:ext cx="7819665" cy="4251853"/>
          </a:xfrm>
          <a:prstGeom prst="rect">
            <a:avLst/>
          </a:prstGeom>
          <a:noFill/>
          <a:ln>
            <a:noFill/>
          </a:ln>
        </p:spPr>
      </p:pic>
      <p:sp>
        <p:nvSpPr>
          <p:cNvPr id="22" name="Google Shape;500;p57"/>
          <p:cNvSpPr txBox="1">
            <a:spLocks/>
          </p:cNvSpPr>
          <p:nvPr/>
        </p:nvSpPr>
        <p:spPr>
          <a:xfrm>
            <a:off x="140225" y="2539999"/>
            <a:ext cx="1849940" cy="2348008"/>
          </a:xfrm>
          <a:prstGeom prst="rect">
            <a:avLst/>
          </a:prstGeom>
          <a:solidFill>
            <a:schemeClr val="bg1"/>
          </a:solidFill>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spcBef>
                <a:spcPts val="940"/>
              </a:spcBef>
              <a:buFont typeface="Arial" panose="020B0604020202020204" pitchFamily="34" charset="0"/>
              <a:buNone/>
            </a:pPr>
            <a:r>
              <a:rPr lang="en-US" sz="1200" b="1" dirty="0" smtClean="0">
                <a:solidFill>
                  <a:srgbClr val="188038"/>
                </a:solidFill>
                <a:ea typeface="Roboto Mono"/>
                <a:cs typeface="Roboto Mono"/>
                <a:sym typeface="Roboto Mono"/>
              </a:rPr>
              <a:t>lib/</a:t>
            </a:r>
            <a:r>
              <a:rPr lang="en-US" sz="1200" dirty="0" smtClean="0">
                <a:solidFill>
                  <a:srgbClr val="000000"/>
                </a:solidFill>
                <a:ea typeface="Arial"/>
                <a:cs typeface="Arial"/>
                <a:sym typeface="Arial"/>
              </a:rPr>
              <a:t>: </a:t>
            </a:r>
          </a:p>
          <a:p>
            <a:pPr marL="12700" indent="0" algn="just">
              <a:spcBef>
                <a:spcPts val="940"/>
              </a:spcBef>
              <a:buFont typeface="Arial" panose="020B0604020202020204" pitchFamily="34" charset="0"/>
              <a:buNone/>
            </a:pPr>
            <a:r>
              <a:rPr lang="en-US" sz="1200" dirty="0" smtClean="0">
                <a:solidFill>
                  <a:srgbClr val="000000"/>
                </a:solidFill>
                <a:ea typeface="Arial"/>
                <a:cs typeface="Arial"/>
                <a:sym typeface="Arial"/>
              </a:rPr>
              <a:t>This directory contains all your Dart library files. It’s common to place main code files and utility files here if you are building a package or a library. For a small project, you may skip this directory and keep all files at the root level.</a:t>
            </a:r>
            <a:endParaRPr lang="en-US" sz="1100" dirty="0">
              <a:solidFill>
                <a:srgbClr val="000000"/>
              </a:solidFill>
              <a:ea typeface="Helvetica Neue"/>
              <a:cs typeface="Helvetica Neue"/>
              <a:sym typeface="Helvetica Neue"/>
            </a:endParaRPr>
          </a:p>
        </p:txBody>
      </p:sp>
      <p:sp>
        <p:nvSpPr>
          <p:cNvPr id="24" name="Google Shape;501;p57"/>
          <p:cNvSpPr txBox="1">
            <a:spLocks/>
          </p:cNvSpPr>
          <p:nvPr/>
        </p:nvSpPr>
        <p:spPr>
          <a:xfrm>
            <a:off x="10313210" y="2099795"/>
            <a:ext cx="1545709" cy="2698448"/>
          </a:xfrm>
          <a:prstGeom prst="rect">
            <a:avLst/>
          </a:prstGeom>
          <a:solidFill>
            <a:schemeClr val="bg2">
              <a:lumMod val="75000"/>
            </a:schemeClr>
          </a:solidFill>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spcBef>
                <a:spcPts val="940"/>
              </a:spcBef>
              <a:buFont typeface="Arial" panose="020B0604020202020204" pitchFamily="34" charset="0"/>
              <a:buNone/>
            </a:pPr>
            <a:r>
              <a:rPr lang="en-US" sz="1600" b="1" dirty="0" smtClean="0">
                <a:solidFill>
                  <a:srgbClr val="188038"/>
                </a:solidFill>
                <a:ea typeface="Roboto Mono"/>
                <a:cs typeface="Roboto Mono"/>
                <a:sym typeface="Roboto Mono"/>
              </a:rPr>
              <a:t>test/:</a:t>
            </a:r>
            <a:r>
              <a:rPr lang="en-US" sz="1600" dirty="0" smtClean="0">
                <a:solidFill>
                  <a:srgbClr val="000000"/>
                </a:solidFill>
                <a:ea typeface="Arial"/>
                <a:cs typeface="Arial"/>
                <a:sym typeface="Arial"/>
              </a:rPr>
              <a:t> This directory is for testing files, where you can write and organize unit tests for your project.</a:t>
            </a:r>
            <a:endParaRPr lang="en-US" sz="1400" dirty="0">
              <a:solidFill>
                <a:srgbClr val="000000"/>
              </a:solidFill>
              <a:ea typeface="Helvetica Neue"/>
              <a:cs typeface="Helvetica Neue"/>
              <a:sym typeface="Helvetica Neue"/>
            </a:endParaRPr>
          </a:p>
        </p:txBody>
      </p:sp>
      <p:sp>
        <p:nvSpPr>
          <p:cNvPr id="25" name="Google Shape;502;p57"/>
          <p:cNvSpPr txBox="1">
            <a:spLocks/>
          </p:cNvSpPr>
          <p:nvPr/>
        </p:nvSpPr>
        <p:spPr>
          <a:xfrm>
            <a:off x="2372116" y="6005827"/>
            <a:ext cx="5376548" cy="627900"/>
          </a:xfrm>
          <a:prstGeom prst="rect">
            <a:avLst/>
          </a:prstGeom>
          <a:solidFill>
            <a:schemeClr val="bg1"/>
          </a:solidFill>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spcBef>
                <a:spcPts val="940"/>
              </a:spcBef>
              <a:buFont typeface="Arial" panose="020B0604020202020204" pitchFamily="34" charset="0"/>
              <a:buNone/>
            </a:pPr>
            <a:r>
              <a:rPr lang="en-US" sz="1100" b="1" dirty="0" err="1" smtClean="0">
                <a:solidFill>
                  <a:srgbClr val="188038"/>
                </a:solidFill>
                <a:ea typeface="Roboto Mono"/>
                <a:cs typeface="Roboto Mono"/>
                <a:sym typeface="Roboto Mono"/>
              </a:rPr>
              <a:t>pubspec.yaml</a:t>
            </a:r>
            <a:r>
              <a:rPr lang="en-US" sz="1100" b="1" dirty="0" smtClean="0">
                <a:solidFill>
                  <a:srgbClr val="188038"/>
                </a:solidFill>
                <a:ea typeface="Roboto Mono"/>
                <a:cs typeface="Roboto Mono"/>
                <a:sym typeface="Roboto Mono"/>
              </a:rPr>
              <a:t>:</a:t>
            </a:r>
            <a:r>
              <a:rPr lang="en-US" sz="1100" dirty="0" smtClean="0">
                <a:solidFill>
                  <a:srgbClr val="000000"/>
                </a:solidFill>
                <a:ea typeface="Arial"/>
                <a:cs typeface="Arial"/>
                <a:sym typeface="Arial"/>
              </a:rPr>
              <a:t> This file is the main configuration file for Dart projects. Here, you define project dependencies, environment settings, and metadata like the project name and version.</a:t>
            </a:r>
            <a:endParaRPr lang="en-US" sz="1050" dirty="0">
              <a:solidFill>
                <a:srgbClr val="000000"/>
              </a:solidFill>
              <a:ea typeface="Helvetica Neue"/>
              <a:cs typeface="Helvetica Neue"/>
              <a:sym typeface="Helvetica Neue"/>
            </a:endParaRPr>
          </a:p>
        </p:txBody>
      </p:sp>
    </p:spTree>
    <p:extLst>
      <p:ext uri="{BB962C8B-B14F-4D97-AF65-F5344CB8AC3E}">
        <p14:creationId xmlns:p14="http://schemas.microsoft.com/office/powerpoint/2010/main" val="220313583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35</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24458" cy="572700"/>
          </a:xfrm>
          <a:prstGeom prst="rect">
            <a:avLst/>
          </a:prstGeom>
        </p:spPr>
        <p:txBody>
          <a:bodyPr spcFirstLastPara="1" wrap="square" lIns="91425" tIns="91425" rIns="91425" bIns="91425" anchor="t" anchorCtr="0">
            <a:noAutofit/>
          </a:bodyPr>
          <a:lstStyle/>
          <a:p>
            <a:pPr lvl="0" algn="ctr">
              <a:spcBef>
                <a:spcPts val="0"/>
              </a:spcBef>
            </a:pPr>
            <a:r>
              <a:rPr lang="en" sz="2800" dirty="0" smtClean="0"/>
              <a:t>3. Dart </a:t>
            </a:r>
            <a:r>
              <a:rPr lang="en" sz="2800" dirty="0"/>
              <a:t>Project Structure and Dart Libraries</a:t>
            </a:r>
            <a:endParaRPr lang="en-US" sz="2800"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4" name="Rectangle 3"/>
          <p:cNvSpPr/>
          <p:nvPr/>
        </p:nvSpPr>
        <p:spPr>
          <a:xfrm>
            <a:off x="964676" y="1443763"/>
            <a:ext cx="10036404" cy="4296048"/>
          </a:xfrm>
          <a:prstGeom prst="rect">
            <a:avLst/>
          </a:prstGeom>
        </p:spPr>
        <p:txBody>
          <a:bodyPr wrap="square">
            <a:spAutoFit/>
          </a:bodyPr>
          <a:lstStyle/>
          <a:p>
            <a:pPr lvl="0">
              <a:lnSpc>
                <a:spcPct val="115000"/>
              </a:lnSpc>
              <a:spcBef>
                <a:spcPts val="1400"/>
              </a:spcBef>
            </a:pPr>
            <a:r>
              <a:rPr lang="en-US" sz="2400" b="1" dirty="0">
                <a:solidFill>
                  <a:srgbClr val="000000"/>
                </a:solidFill>
                <a:ea typeface="Arial"/>
                <a:cs typeface="Arial"/>
                <a:sym typeface="Arial"/>
              </a:rPr>
              <a:t>1. Check </a:t>
            </a:r>
            <a:r>
              <a:rPr lang="en-US" sz="2400" b="1" dirty="0" err="1">
                <a:solidFill>
                  <a:srgbClr val="188038"/>
                </a:solidFill>
                <a:ea typeface="Roboto Mono"/>
                <a:cs typeface="Roboto Mono"/>
                <a:sym typeface="Roboto Mono"/>
              </a:rPr>
              <a:t>pubspec.yaml</a:t>
            </a:r>
            <a:r>
              <a:rPr lang="en-US" sz="2400" b="1" dirty="0">
                <a:solidFill>
                  <a:srgbClr val="000000"/>
                </a:solidFill>
                <a:ea typeface="Arial"/>
                <a:cs typeface="Arial"/>
                <a:sym typeface="Arial"/>
              </a:rPr>
              <a:t> for Dependencies</a:t>
            </a:r>
          </a:p>
          <a:p>
            <a:pPr marL="457200" lvl="0" indent="-298450">
              <a:lnSpc>
                <a:spcPct val="115000"/>
              </a:lnSpc>
              <a:spcBef>
                <a:spcPts val="1200"/>
              </a:spcBef>
              <a:buClr>
                <a:srgbClr val="000000"/>
              </a:buClr>
              <a:buSzPts val="1100"/>
              <a:buFont typeface="Arial"/>
              <a:buChar char="●"/>
            </a:pPr>
            <a:r>
              <a:rPr lang="en-US" dirty="0">
                <a:solidFill>
                  <a:srgbClr val="000000"/>
                </a:solidFill>
                <a:ea typeface="Arial"/>
                <a:cs typeface="Arial"/>
                <a:sym typeface="Arial"/>
              </a:rPr>
              <a:t>In Dart projects, all external libraries (or dependencies) are listed in the </a:t>
            </a:r>
            <a:r>
              <a:rPr lang="en-US" dirty="0" err="1">
                <a:solidFill>
                  <a:srgbClr val="188038"/>
                </a:solidFill>
                <a:ea typeface="Roboto Mono"/>
                <a:cs typeface="Roboto Mono"/>
                <a:sym typeface="Roboto Mono"/>
              </a:rPr>
              <a:t>pubspec.yaml</a:t>
            </a:r>
            <a:r>
              <a:rPr lang="en-US" dirty="0">
                <a:solidFill>
                  <a:srgbClr val="000000"/>
                </a:solidFill>
                <a:ea typeface="Arial"/>
                <a:cs typeface="Arial"/>
                <a:sym typeface="Arial"/>
              </a:rPr>
              <a:t> file, located at the root of your project.</a:t>
            </a:r>
          </a:p>
          <a:p>
            <a:pPr marL="457200" lvl="0" indent="-298450">
              <a:lnSpc>
                <a:spcPct val="115000"/>
              </a:lnSpc>
              <a:buClr>
                <a:srgbClr val="000000"/>
              </a:buClr>
              <a:buSzPts val="1100"/>
              <a:buFont typeface="Arial"/>
              <a:buChar char="●"/>
            </a:pPr>
            <a:r>
              <a:rPr lang="en-US" dirty="0">
                <a:solidFill>
                  <a:srgbClr val="000000"/>
                </a:solidFill>
                <a:ea typeface="Arial"/>
                <a:cs typeface="Arial"/>
                <a:sym typeface="Arial"/>
              </a:rPr>
              <a:t>Open </a:t>
            </a:r>
            <a:r>
              <a:rPr lang="en-US" dirty="0" err="1">
                <a:solidFill>
                  <a:srgbClr val="188038"/>
                </a:solidFill>
                <a:ea typeface="Roboto Mono"/>
                <a:cs typeface="Roboto Mono"/>
                <a:sym typeface="Roboto Mono"/>
              </a:rPr>
              <a:t>pubspec.yaml</a:t>
            </a:r>
            <a:r>
              <a:rPr lang="en-US" dirty="0">
                <a:solidFill>
                  <a:srgbClr val="000000"/>
                </a:solidFill>
                <a:ea typeface="Arial"/>
                <a:cs typeface="Arial"/>
                <a:sym typeface="Arial"/>
              </a:rPr>
              <a:t> to add or view the libraries under the </a:t>
            </a:r>
            <a:r>
              <a:rPr lang="en-US" dirty="0">
                <a:solidFill>
                  <a:srgbClr val="188038"/>
                </a:solidFill>
                <a:ea typeface="Roboto Mono"/>
                <a:cs typeface="Roboto Mono"/>
                <a:sym typeface="Roboto Mono"/>
              </a:rPr>
              <a:t>dependencies</a:t>
            </a:r>
            <a:r>
              <a:rPr lang="en-US" dirty="0">
                <a:solidFill>
                  <a:srgbClr val="000000"/>
                </a:solidFill>
                <a:ea typeface="Arial"/>
                <a:cs typeface="Arial"/>
                <a:sym typeface="Arial"/>
              </a:rPr>
              <a:t> or </a:t>
            </a:r>
            <a:r>
              <a:rPr lang="en-US" dirty="0" err="1">
                <a:solidFill>
                  <a:srgbClr val="188038"/>
                </a:solidFill>
                <a:ea typeface="Roboto Mono"/>
                <a:cs typeface="Roboto Mono"/>
                <a:sym typeface="Roboto Mono"/>
              </a:rPr>
              <a:t>dev_dependencies</a:t>
            </a:r>
            <a:r>
              <a:rPr lang="en-US" dirty="0">
                <a:solidFill>
                  <a:srgbClr val="000000"/>
                </a:solidFill>
                <a:ea typeface="Arial"/>
                <a:cs typeface="Arial"/>
                <a:sym typeface="Arial"/>
              </a:rPr>
              <a:t> sections</a:t>
            </a:r>
            <a:r>
              <a:rPr lang="en-US" dirty="0" smtClean="0">
                <a:solidFill>
                  <a:srgbClr val="000000"/>
                </a:solidFill>
                <a:ea typeface="Arial"/>
                <a:cs typeface="Arial"/>
                <a:sym typeface="Arial"/>
              </a:rPr>
              <a:t>.</a:t>
            </a:r>
          </a:p>
          <a:p>
            <a:pPr marL="457200" lvl="0" indent="-298450">
              <a:lnSpc>
                <a:spcPct val="115000"/>
              </a:lnSpc>
              <a:buClr>
                <a:srgbClr val="000000"/>
              </a:buClr>
              <a:buSzPts val="1100"/>
              <a:buFont typeface="Arial"/>
              <a:buChar char="●"/>
            </a:pPr>
            <a:endParaRPr lang="en-US" dirty="0">
              <a:solidFill>
                <a:srgbClr val="000000"/>
              </a:solidFill>
              <a:ea typeface="Arial"/>
              <a:cs typeface="Arial"/>
              <a:sym typeface="Arial"/>
            </a:endParaRPr>
          </a:p>
          <a:p>
            <a:pPr lvl="0">
              <a:lnSpc>
                <a:spcPct val="115000"/>
              </a:lnSpc>
              <a:spcBef>
                <a:spcPts val="1400"/>
              </a:spcBef>
            </a:pPr>
            <a:r>
              <a:rPr lang="en-US" sz="2400" b="1" dirty="0">
                <a:solidFill>
                  <a:srgbClr val="000000"/>
                </a:solidFill>
                <a:ea typeface="Arial"/>
                <a:cs typeface="Arial"/>
                <a:sym typeface="Arial"/>
              </a:rPr>
              <a:t>2. Download Libraries Using </a:t>
            </a:r>
            <a:r>
              <a:rPr lang="en-US" sz="2400" b="1" dirty="0">
                <a:solidFill>
                  <a:srgbClr val="188038"/>
                </a:solidFill>
                <a:ea typeface="Roboto Mono"/>
                <a:cs typeface="Roboto Mono"/>
                <a:sym typeface="Roboto Mono"/>
              </a:rPr>
              <a:t>pub get</a:t>
            </a:r>
          </a:p>
          <a:p>
            <a:pPr marL="457200" lvl="0" indent="-298450">
              <a:lnSpc>
                <a:spcPct val="115000"/>
              </a:lnSpc>
              <a:spcBef>
                <a:spcPts val="1200"/>
              </a:spcBef>
              <a:buClr>
                <a:srgbClr val="000000"/>
              </a:buClr>
              <a:buSzPts val="1100"/>
              <a:buFont typeface="Arial"/>
              <a:buChar char="●"/>
            </a:pPr>
            <a:r>
              <a:rPr lang="en-US" dirty="0">
                <a:solidFill>
                  <a:srgbClr val="000000"/>
                </a:solidFill>
                <a:ea typeface="Arial"/>
                <a:cs typeface="Arial"/>
                <a:sym typeface="Arial"/>
              </a:rPr>
              <a:t>Once you’ve added dependencies in </a:t>
            </a:r>
            <a:r>
              <a:rPr lang="en-US" dirty="0" err="1">
                <a:solidFill>
                  <a:srgbClr val="188038"/>
                </a:solidFill>
                <a:ea typeface="Roboto Mono"/>
                <a:cs typeface="Roboto Mono"/>
                <a:sym typeface="Roboto Mono"/>
              </a:rPr>
              <a:t>pubspec.yaml</a:t>
            </a:r>
            <a:r>
              <a:rPr lang="en-US" dirty="0">
                <a:solidFill>
                  <a:srgbClr val="000000"/>
                </a:solidFill>
                <a:ea typeface="Arial"/>
                <a:cs typeface="Arial"/>
                <a:sym typeface="Arial"/>
              </a:rPr>
              <a:t>, run </a:t>
            </a:r>
            <a:r>
              <a:rPr lang="en-US" dirty="0" smtClean="0">
                <a:solidFill>
                  <a:srgbClr val="188038"/>
                </a:solidFill>
                <a:ea typeface="Roboto Mono"/>
                <a:cs typeface="Roboto Mono"/>
                <a:sym typeface="Roboto Mono"/>
              </a:rPr>
              <a:t>flutter </a:t>
            </a:r>
            <a:r>
              <a:rPr lang="en-US" dirty="0">
                <a:solidFill>
                  <a:srgbClr val="188038"/>
                </a:solidFill>
                <a:ea typeface="Roboto Mono"/>
                <a:cs typeface="Roboto Mono"/>
                <a:sym typeface="Roboto Mono"/>
              </a:rPr>
              <a:t>pub get</a:t>
            </a:r>
            <a:r>
              <a:rPr lang="en-US" dirty="0">
                <a:solidFill>
                  <a:srgbClr val="000000"/>
                </a:solidFill>
                <a:ea typeface="Arial"/>
                <a:cs typeface="Arial"/>
                <a:sym typeface="Arial"/>
              </a:rPr>
              <a:t> in the terminal to fetch the libraries.</a:t>
            </a:r>
          </a:p>
          <a:p>
            <a:pPr marL="457200" lvl="0" indent="-298450">
              <a:lnSpc>
                <a:spcPct val="115000"/>
              </a:lnSpc>
              <a:buClr>
                <a:srgbClr val="000000"/>
              </a:buClr>
              <a:buSzPts val="1100"/>
              <a:buFont typeface="Arial"/>
              <a:buChar char="●"/>
            </a:pPr>
            <a:r>
              <a:rPr lang="en-US" dirty="0">
                <a:solidFill>
                  <a:srgbClr val="000000"/>
                </a:solidFill>
                <a:ea typeface="Arial"/>
                <a:cs typeface="Arial"/>
                <a:sym typeface="Arial"/>
              </a:rPr>
              <a:t>VS Code’s Dart extension may also prompt you to fetch packages automatically when you save changes to </a:t>
            </a:r>
            <a:r>
              <a:rPr lang="en-US" dirty="0" err="1">
                <a:solidFill>
                  <a:srgbClr val="188038"/>
                </a:solidFill>
                <a:ea typeface="Roboto Mono"/>
                <a:cs typeface="Roboto Mono"/>
                <a:sym typeface="Roboto Mono"/>
              </a:rPr>
              <a:t>pubspec.yaml</a:t>
            </a:r>
            <a:r>
              <a:rPr lang="en-US" dirty="0">
                <a:solidFill>
                  <a:srgbClr val="000000"/>
                </a:solidFill>
                <a:ea typeface="Arial"/>
                <a:cs typeface="Arial"/>
                <a:sym typeface="Arial"/>
              </a:rPr>
              <a:t>.</a:t>
            </a:r>
          </a:p>
          <a:p>
            <a:pPr marL="457200" lvl="0" indent="-298450">
              <a:lnSpc>
                <a:spcPct val="115000"/>
              </a:lnSpc>
              <a:buClr>
                <a:srgbClr val="000000"/>
              </a:buClr>
              <a:buSzPts val="1100"/>
              <a:buFont typeface="Arial"/>
              <a:buChar char="●"/>
            </a:pPr>
            <a:endParaRPr lang="en-US" dirty="0">
              <a:solidFill>
                <a:srgbClr val="000000"/>
              </a:solidFill>
              <a:ea typeface="Arial"/>
              <a:cs typeface="Arial"/>
              <a:sym typeface="Arial"/>
            </a:endParaRPr>
          </a:p>
        </p:txBody>
      </p:sp>
    </p:spTree>
    <p:extLst>
      <p:ext uri="{BB962C8B-B14F-4D97-AF65-F5344CB8AC3E}">
        <p14:creationId xmlns:p14="http://schemas.microsoft.com/office/powerpoint/2010/main" val="246291068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F11A6B65-5A20-4F4D-ACBB-ED50132D4571}"/>
              </a:ext>
            </a:extLst>
          </p:cNvPr>
          <p:cNvSpPr>
            <a:spLocks noGrp="1"/>
          </p:cNvSpPr>
          <p:nvPr>
            <p:ph type="ctrTitle"/>
          </p:nvPr>
        </p:nvSpPr>
        <p:spPr>
          <a:xfrm>
            <a:off x="2810968" y="2529482"/>
            <a:ext cx="6798250" cy="1674470"/>
          </a:xfrm>
        </p:spPr>
        <p:txBody>
          <a:bodyPr/>
          <a:lstStyle/>
          <a:p>
            <a:r>
              <a:rPr lang="en-US" dirty="0" smtClean="0"/>
              <a:t>Any Questions?</a:t>
            </a:r>
            <a:endParaRPr lang="en-US" dirty="0"/>
          </a:p>
        </p:txBody>
      </p:sp>
      <p:pic>
        <p:nvPicPr>
          <p:cNvPr id="3"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Tree>
    <p:extLst>
      <p:ext uri="{BB962C8B-B14F-4D97-AF65-F5344CB8AC3E}">
        <p14:creationId xmlns:p14="http://schemas.microsoft.com/office/powerpoint/2010/main" val="415367830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F11A6B65-5A20-4F4D-ACBB-ED50132D4571}"/>
              </a:ext>
            </a:extLst>
          </p:cNvPr>
          <p:cNvSpPr>
            <a:spLocks noGrp="1"/>
          </p:cNvSpPr>
          <p:nvPr>
            <p:ph type="ctrTitle"/>
          </p:nvPr>
        </p:nvSpPr>
        <p:spPr>
          <a:xfrm>
            <a:off x="2810968" y="2529482"/>
            <a:ext cx="6798250" cy="1674470"/>
          </a:xfrm>
        </p:spPr>
        <p:txBody>
          <a:bodyPr/>
          <a:lstStyle/>
          <a:p>
            <a:r>
              <a:rPr lang="en-US" dirty="0" smtClean="0"/>
              <a:t>Thank you</a:t>
            </a:r>
            <a:endParaRPr lang="en-US" dirty="0"/>
          </a:p>
        </p:txBody>
      </p:sp>
      <p:pic>
        <p:nvPicPr>
          <p:cNvPr id="3"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Tree>
    <p:extLst>
      <p:ext uri="{BB962C8B-B14F-4D97-AF65-F5344CB8AC3E}">
        <p14:creationId xmlns:p14="http://schemas.microsoft.com/office/powerpoint/2010/main" val="29793967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34">
      <a:dk1>
        <a:srgbClr val="000000"/>
      </a:dk1>
      <a:lt1>
        <a:srgbClr val="FFFFFF"/>
      </a:lt1>
      <a:dk2>
        <a:srgbClr val="000000"/>
      </a:dk2>
      <a:lt2>
        <a:srgbClr val="FFFFFF"/>
      </a:lt2>
      <a:accent1>
        <a:srgbClr val="5CB8B3"/>
      </a:accent1>
      <a:accent2>
        <a:srgbClr val="F5D66E"/>
      </a:accent2>
      <a:accent3>
        <a:srgbClr val="D78189"/>
      </a:accent3>
      <a:accent4>
        <a:srgbClr val="7030A0"/>
      </a:accent4>
      <a:accent5>
        <a:srgbClr val="0070C0"/>
      </a:accent5>
      <a:accent6>
        <a:srgbClr val="C4D36D"/>
      </a:accent6>
      <a:hlink>
        <a:srgbClr val="54C3BD"/>
      </a:hlink>
      <a:folHlink>
        <a:srgbClr val="54C3BD"/>
      </a:folHlink>
    </a:clrScheme>
    <a:fontScheme name="Custom 154">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67328976_Minimalist presentation_RVA_v4" id="{DA616D2A-CFEC-48D2-90FC-DF66CF8D2F8A}" vid="{8F2838F8-33B8-457C-9B19-1E5863B0E0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6100F67-BC3D-46B4-8D39-802DC9D7F2EB}">
  <ds:schemaRefs>
    <ds:schemaRef ds:uri="http://purl.org/dc/elements/1.1/"/>
    <ds:schemaRef ds:uri="http://purl.org/dc/terms/"/>
    <ds:schemaRef ds:uri="71af3243-3dd4-4a8d-8c0d-dd76da1f02a5"/>
    <ds:schemaRef ds:uri="http://purl.org/dc/dcmitype/"/>
    <ds:schemaRef ds:uri="http://schemas.openxmlformats.org/package/2006/metadata/core-properties"/>
    <ds:schemaRef ds:uri="16c05727-aa75-4e4a-9b5f-8a80a1165891"/>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47323504-CBC8-4A2F-BF86-8DF0D94D4A3D}">
  <ds:schemaRefs>
    <ds:schemaRef ds:uri="http://schemas.microsoft.com/sharepoint/v3/contenttype/forms"/>
  </ds:schemaRefs>
</ds:datastoreItem>
</file>

<file path=customXml/itemProps3.xml><?xml version="1.0" encoding="utf-8"?>
<ds:datastoreItem xmlns:ds="http://schemas.openxmlformats.org/officeDocument/2006/customXml" ds:itemID="{853D8350-BC36-420E-83B3-2CFFF4E97F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Minimalist presentation</Template>
  <TotalTime>0</TotalTime>
  <Words>1951</Words>
  <Application>Microsoft Office PowerPoint</Application>
  <PresentationFormat>Widescreen</PresentationFormat>
  <Paragraphs>363</Paragraphs>
  <Slides>37</Slides>
  <Notes>37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Arial</vt:lpstr>
      <vt:lpstr>Calibri</vt:lpstr>
      <vt:lpstr>Commissioner</vt:lpstr>
      <vt:lpstr>Consolas</vt:lpstr>
      <vt:lpstr>Corbel</vt:lpstr>
      <vt:lpstr>Helvetica Neue</vt:lpstr>
      <vt:lpstr>Roboto Mono</vt:lpstr>
      <vt:lpstr>Times New Roman</vt:lpstr>
      <vt:lpstr>Office Theme</vt:lpstr>
      <vt:lpstr>PowerPoint Presentation</vt:lpstr>
      <vt:lpstr>PowerPoint Presentation</vt:lpstr>
      <vt:lpstr>1. FUNCTION</vt:lpstr>
      <vt:lpstr>1. FUNCTION</vt:lpstr>
      <vt:lpstr>1. FUNCTION</vt:lpstr>
      <vt:lpstr>1. FUNCTION</vt:lpstr>
      <vt:lpstr>1. FUNCTION</vt:lpstr>
      <vt:lpstr>1. FUNCTION</vt:lpstr>
      <vt:lpstr>1. FUNCTION</vt:lpstr>
      <vt:lpstr>1. FUNCTION</vt:lpstr>
      <vt:lpstr>2. Object-Oriented Programming (OOP)</vt:lpstr>
      <vt:lpstr>2. Object-Oriented Programming (OOP)</vt:lpstr>
      <vt:lpstr>2. Object-Oriented Programming (OOP)</vt:lpstr>
      <vt:lpstr>2. Object-Oriented Programming (OOP)</vt:lpstr>
      <vt:lpstr>2. Object-Oriented Programming (OOP)</vt:lpstr>
      <vt:lpstr>2. Object-Oriented Programming (OOP)</vt:lpstr>
      <vt:lpstr>2. Object-Oriented Programming (OOP)</vt:lpstr>
      <vt:lpstr>2. Object-Oriented Programming (OOP)</vt:lpstr>
      <vt:lpstr>2. Object-Oriented Programming (OOP)</vt:lpstr>
      <vt:lpstr>2. Object-Oriented Programming (OOP)</vt:lpstr>
      <vt:lpstr>2. Object-Oriented Programming (OOP)</vt:lpstr>
      <vt:lpstr>2. Object-Oriented Programming (OOP)</vt:lpstr>
      <vt:lpstr>2. (OOP) Abstract Class</vt:lpstr>
      <vt:lpstr>2. (OOP) Abstract Class</vt:lpstr>
      <vt:lpstr>2. (OOP) Abstract Class</vt:lpstr>
      <vt:lpstr>2. (OOP) Abstract Class</vt:lpstr>
      <vt:lpstr>2. (OOP) Abstract Class</vt:lpstr>
      <vt:lpstr>Create a Small Overtime Payment Program</vt:lpstr>
      <vt:lpstr>Create a Small Overtime Payment Program</vt:lpstr>
      <vt:lpstr>Create a Small Overtime Payment Program</vt:lpstr>
      <vt:lpstr>3. Dart Project Structure and Dart Libraries</vt:lpstr>
      <vt:lpstr>3. Dart Project Structure and Dart Libraries</vt:lpstr>
      <vt:lpstr>3. Dart Project Structure and Dart Libraries</vt:lpstr>
      <vt:lpstr>3. Dart Project Structure and Dart Libraries</vt:lpstr>
      <vt:lpstr>3. Dart Project Structure and Dart Libraries</vt:lpstr>
      <vt:lpstr>Any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2025-10-18T07:49:07Z</dcterms:created>
  <dcterms:modified xsi:type="dcterms:W3CDTF">2025-10-28T16:38:35Z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