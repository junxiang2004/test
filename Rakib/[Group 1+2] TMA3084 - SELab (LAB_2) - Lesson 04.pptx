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5"/>
  </p:notesMasterIdLst>
  <p:handoutMasterIdLst>
    <p:handoutMasterId r:id="rId36"/>
  </p:handoutMasterIdLst>
  <p:sldIdLst>
    <p:sldId id="297" r:id="rId5"/>
    <p:sldId id="298" r:id="rId6"/>
    <p:sldId id="299" r:id="rId7"/>
    <p:sldId id="399" r:id="rId8"/>
    <p:sldId id="409" r:id="rId9"/>
    <p:sldId id="400" r:id="rId10"/>
    <p:sldId id="401" r:id="rId11"/>
    <p:sldId id="402" r:id="rId12"/>
    <p:sldId id="403" r:id="rId13"/>
    <p:sldId id="404" r:id="rId14"/>
    <p:sldId id="405" r:id="rId15"/>
    <p:sldId id="406" r:id="rId16"/>
    <p:sldId id="407" r:id="rId17"/>
    <p:sldId id="408" r:id="rId18"/>
    <p:sldId id="410" r:id="rId19"/>
    <p:sldId id="411" r:id="rId20"/>
    <p:sldId id="412" r:id="rId21"/>
    <p:sldId id="413" r:id="rId22"/>
    <p:sldId id="414" r:id="rId23"/>
    <p:sldId id="415" r:id="rId24"/>
    <p:sldId id="416" r:id="rId25"/>
    <p:sldId id="417" r:id="rId26"/>
    <p:sldId id="418" r:id="rId27"/>
    <p:sldId id="419" r:id="rId28"/>
    <p:sldId id="420" r:id="rId29"/>
    <p:sldId id="421" r:id="rId30"/>
    <p:sldId id="422" r:id="rId31"/>
    <p:sldId id="423" r:id="rId32"/>
    <p:sldId id="296" r:id="rId33"/>
    <p:sldId id="32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31" autoAdjust="0"/>
  </p:normalViewPr>
  <p:slideViewPr>
    <p:cSldViewPr snapToGrid="0">
      <p:cViewPr>
        <p:scale>
          <a:sx n="68" d="100"/>
          <a:sy n="68" d="100"/>
        </p:scale>
        <p:origin x="616" y="4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60" d="100"/>
          <a:sy n="60" d="100"/>
        </p:scale>
        <p:origin x="242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10/27/2025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10/27/2025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a:t>
            </a:fld>
            <a:endParaRPr lang="en-US" noProof="0"/>
          </a:p>
        </p:txBody>
      </p:sp>
    </p:spTree>
    <p:extLst>
      <p:ext uri="{BB962C8B-B14F-4D97-AF65-F5344CB8AC3E}">
        <p14:creationId xmlns:p14="http://schemas.microsoft.com/office/powerpoint/2010/main" val="2391315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a:t>
            </a:fld>
            <a:endParaRPr lang="en-US" noProof="0"/>
          </a:p>
        </p:txBody>
      </p:sp>
    </p:spTree>
    <p:extLst>
      <p:ext uri="{BB962C8B-B14F-4D97-AF65-F5344CB8AC3E}">
        <p14:creationId xmlns:p14="http://schemas.microsoft.com/office/powerpoint/2010/main" val="199658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a:t>
            </a:fld>
            <a:endParaRPr lang="en-US" noProof="0"/>
          </a:p>
        </p:txBody>
      </p:sp>
    </p:spTree>
    <p:extLst>
      <p:ext uri="{BB962C8B-B14F-4D97-AF65-F5344CB8AC3E}">
        <p14:creationId xmlns:p14="http://schemas.microsoft.com/office/powerpoint/2010/main" val="2675482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a:p>
        </p:txBody>
      </p:sp>
    </p:spTree>
    <p:extLst>
      <p:ext uri="{BB962C8B-B14F-4D97-AF65-F5344CB8AC3E}">
        <p14:creationId xmlns:p14="http://schemas.microsoft.com/office/powerpoint/2010/main" val="3758340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1150306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a:p>
        </p:txBody>
      </p:sp>
    </p:spTree>
    <p:extLst>
      <p:ext uri="{BB962C8B-B14F-4D97-AF65-F5344CB8AC3E}">
        <p14:creationId xmlns:p14="http://schemas.microsoft.com/office/powerpoint/2010/main" val="2577999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7</a:t>
            </a:fld>
            <a:endParaRPr lang="en-US" noProof="0"/>
          </a:p>
        </p:txBody>
      </p:sp>
    </p:spTree>
    <p:extLst>
      <p:ext uri="{BB962C8B-B14F-4D97-AF65-F5344CB8AC3E}">
        <p14:creationId xmlns:p14="http://schemas.microsoft.com/office/powerpoint/2010/main" val="1997685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8</a:t>
            </a:fld>
            <a:endParaRPr lang="en-US" noProof="0"/>
          </a:p>
        </p:txBody>
      </p:sp>
    </p:spTree>
    <p:extLst>
      <p:ext uri="{BB962C8B-B14F-4D97-AF65-F5344CB8AC3E}">
        <p14:creationId xmlns:p14="http://schemas.microsoft.com/office/powerpoint/2010/main" val="4068432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9</a:t>
            </a:fld>
            <a:endParaRPr lang="en-US" noProof="0"/>
          </a:p>
        </p:txBody>
      </p:sp>
    </p:spTree>
    <p:extLst>
      <p:ext uri="{BB962C8B-B14F-4D97-AF65-F5344CB8AC3E}">
        <p14:creationId xmlns:p14="http://schemas.microsoft.com/office/powerpoint/2010/main" val="566255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10</a:t>
            </a:fld>
            <a:endParaRPr lang="en-US" noProof="0"/>
          </a:p>
        </p:txBody>
      </p:sp>
    </p:spTree>
    <p:extLst>
      <p:ext uri="{BB962C8B-B14F-4D97-AF65-F5344CB8AC3E}">
        <p14:creationId xmlns:p14="http://schemas.microsoft.com/office/powerpoint/2010/main" val="1724385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11</a:t>
            </a:fld>
            <a:endParaRPr lang="en-US" noProof="0"/>
          </a:p>
        </p:txBody>
      </p:sp>
    </p:spTree>
    <p:extLst>
      <p:ext uri="{BB962C8B-B14F-4D97-AF65-F5344CB8AC3E}">
        <p14:creationId xmlns:p14="http://schemas.microsoft.com/office/powerpoint/2010/main" val="3203574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12</a:t>
            </a:fld>
            <a:endParaRPr lang="en-US" noProof="0"/>
          </a:p>
        </p:txBody>
      </p:sp>
    </p:spTree>
    <p:extLst>
      <p:ext uri="{BB962C8B-B14F-4D97-AF65-F5344CB8AC3E}">
        <p14:creationId xmlns:p14="http://schemas.microsoft.com/office/powerpoint/2010/main" val="907707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13</a:t>
            </a:fld>
            <a:endParaRPr lang="en-US" noProof="0"/>
          </a:p>
        </p:txBody>
      </p:sp>
    </p:spTree>
    <p:extLst>
      <p:ext uri="{BB962C8B-B14F-4D97-AF65-F5344CB8AC3E}">
        <p14:creationId xmlns:p14="http://schemas.microsoft.com/office/powerpoint/2010/main" val="3634679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14</a:t>
            </a:fld>
            <a:endParaRPr lang="en-US" noProof="0"/>
          </a:p>
        </p:txBody>
      </p:sp>
    </p:spTree>
    <p:extLst>
      <p:ext uri="{BB962C8B-B14F-4D97-AF65-F5344CB8AC3E}">
        <p14:creationId xmlns:p14="http://schemas.microsoft.com/office/powerpoint/2010/main" val="2903191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15</a:t>
            </a:fld>
            <a:endParaRPr lang="en-US" noProof="0"/>
          </a:p>
        </p:txBody>
      </p:sp>
    </p:spTree>
    <p:extLst>
      <p:ext uri="{BB962C8B-B14F-4D97-AF65-F5344CB8AC3E}">
        <p14:creationId xmlns:p14="http://schemas.microsoft.com/office/powerpoint/2010/main" val="3803171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16</a:t>
            </a:fld>
            <a:endParaRPr lang="en-US" noProof="0"/>
          </a:p>
        </p:txBody>
      </p:sp>
    </p:spTree>
    <p:extLst>
      <p:ext uri="{BB962C8B-B14F-4D97-AF65-F5344CB8AC3E}">
        <p14:creationId xmlns:p14="http://schemas.microsoft.com/office/powerpoint/2010/main" val="3402257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17</a:t>
            </a:fld>
            <a:endParaRPr lang="en-US" noProof="0"/>
          </a:p>
        </p:txBody>
      </p:sp>
    </p:spTree>
    <p:extLst>
      <p:ext uri="{BB962C8B-B14F-4D97-AF65-F5344CB8AC3E}">
        <p14:creationId xmlns:p14="http://schemas.microsoft.com/office/powerpoint/2010/main" val="3666832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18</a:t>
            </a:fld>
            <a:endParaRPr lang="en-US" noProof="0"/>
          </a:p>
        </p:txBody>
      </p:sp>
    </p:spTree>
    <p:extLst>
      <p:ext uri="{BB962C8B-B14F-4D97-AF65-F5344CB8AC3E}">
        <p14:creationId xmlns:p14="http://schemas.microsoft.com/office/powerpoint/2010/main" val="937628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19</a:t>
            </a:fld>
            <a:endParaRPr lang="en-US" noProof="0"/>
          </a:p>
        </p:txBody>
      </p:sp>
    </p:spTree>
    <p:extLst>
      <p:ext uri="{BB962C8B-B14F-4D97-AF65-F5344CB8AC3E}">
        <p14:creationId xmlns:p14="http://schemas.microsoft.com/office/powerpoint/2010/main" val="2219409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20</a:t>
            </a:fld>
            <a:endParaRPr lang="en-US" noProof="0"/>
          </a:p>
        </p:txBody>
      </p:sp>
    </p:spTree>
    <p:extLst>
      <p:ext uri="{BB962C8B-B14F-4D97-AF65-F5344CB8AC3E}">
        <p14:creationId xmlns:p14="http://schemas.microsoft.com/office/powerpoint/2010/main" val="34953773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21</a:t>
            </a:fld>
            <a:endParaRPr lang="en-US" noProof="0"/>
          </a:p>
        </p:txBody>
      </p:sp>
    </p:spTree>
    <p:extLst>
      <p:ext uri="{BB962C8B-B14F-4D97-AF65-F5344CB8AC3E}">
        <p14:creationId xmlns:p14="http://schemas.microsoft.com/office/powerpoint/2010/main" val="1234757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22</a:t>
            </a:fld>
            <a:endParaRPr lang="en-US" noProof="0"/>
          </a:p>
        </p:txBody>
      </p:sp>
    </p:spTree>
    <p:extLst>
      <p:ext uri="{BB962C8B-B14F-4D97-AF65-F5344CB8AC3E}">
        <p14:creationId xmlns:p14="http://schemas.microsoft.com/office/powerpoint/2010/main" val="179558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23</a:t>
            </a:fld>
            <a:endParaRPr lang="en-US" noProof="0"/>
          </a:p>
        </p:txBody>
      </p:sp>
    </p:spTree>
    <p:extLst>
      <p:ext uri="{BB962C8B-B14F-4D97-AF65-F5344CB8AC3E}">
        <p14:creationId xmlns:p14="http://schemas.microsoft.com/office/powerpoint/2010/main" val="1023798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24</a:t>
            </a:fld>
            <a:endParaRPr lang="en-US" noProof="0"/>
          </a:p>
        </p:txBody>
      </p:sp>
    </p:spTree>
    <p:extLst>
      <p:ext uri="{BB962C8B-B14F-4D97-AF65-F5344CB8AC3E}">
        <p14:creationId xmlns:p14="http://schemas.microsoft.com/office/powerpoint/2010/main" val="15505660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25</a:t>
            </a:fld>
            <a:endParaRPr lang="en-US" noProof="0"/>
          </a:p>
        </p:txBody>
      </p:sp>
    </p:spTree>
    <p:extLst>
      <p:ext uri="{BB962C8B-B14F-4D97-AF65-F5344CB8AC3E}">
        <p14:creationId xmlns:p14="http://schemas.microsoft.com/office/powerpoint/2010/main" val="35955893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26</a:t>
            </a:fld>
            <a:endParaRPr lang="en-US" noProof="0"/>
          </a:p>
        </p:txBody>
      </p:sp>
    </p:spTree>
    <p:extLst>
      <p:ext uri="{BB962C8B-B14F-4D97-AF65-F5344CB8AC3E}">
        <p14:creationId xmlns:p14="http://schemas.microsoft.com/office/powerpoint/2010/main" val="2204614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27</a:t>
            </a:fld>
            <a:endParaRPr lang="en-US" noProof="0"/>
          </a:p>
        </p:txBody>
      </p:sp>
    </p:spTree>
    <p:extLst>
      <p:ext uri="{BB962C8B-B14F-4D97-AF65-F5344CB8AC3E}">
        <p14:creationId xmlns:p14="http://schemas.microsoft.com/office/powerpoint/2010/main" val="2302556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28</a:t>
            </a:fld>
            <a:endParaRPr lang="en-US" noProof="0"/>
          </a:p>
        </p:txBody>
      </p:sp>
    </p:spTree>
    <p:extLst>
      <p:ext uri="{BB962C8B-B14F-4D97-AF65-F5344CB8AC3E}">
        <p14:creationId xmlns:p14="http://schemas.microsoft.com/office/powerpoint/2010/main" val="2374793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29</a:t>
            </a:fld>
            <a:endParaRPr lang="en-US" noProof="0"/>
          </a:p>
        </p:txBody>
      </p:sp>
    </p:spTree>
    <p:extLst>
      <p:ext uri="{BB962C8B-B14F-4D97-AF65-F5344CB8AC3E}">
        <p14:creationId xmlns:p14="http://schemas.microsoft.com/office/powerpoint/2010/main" val="41896101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30</a:t>
            </a:fld>
            <a:endParaRPr lang="en-US" noProof="0"/>
          </a:p>
        </p:txBody>
      </p:sp>
    </p:spTree>
    <p:extLst>
      <p:ext uri="{BB962C8B-B14F-4D97-AF65-F5344CB8AC3E}">
        <p14:creationId xmlns:p14="http://schemas.microsoft.com/office/powerpoint/2010/main" val="106911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837F9836-5B23-424D-8C60-AC02A8512A4B}"/>
              </a:ext>
            </a:extLst>
          </p:cNvPr>
          <p:cNvSpPr>
            <a:spLocks noGrp="1"/>
          </p:cNvSpPr>
          <p:nvPr>
            <p:ph type="pic" sz="quarter" idx="13" hasCustomPrompt="1"/>
          </p:nvPr>
        </p:nvSpPr>
        <p:spPr>
          <a:xfrm>
            <a:off x="9980476" y="0"/>
            <a:ext cx="2211524" cy="6858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tx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11904" y="4650539"/>
            <a:ext cx="3401478" cy="1192038"/>
          </a:xfrm>
          <a:solidFill>
            <a:schemeClr val="tx1"/>
          </a:solidFill>
        </p:spPr>
        <p:txBody>
          <a:bodyPr lIns="252000" tIns="0" anchor="ctr"/>
          <a:lstStyle>
            <a:lvl1pPr marL="0" indent="0" algn="l">
              <a:lnSpc>
                <a:spcPct val="100000"/>
              </a:lnSpc>
              <a:buNone/>
              <a:defRPr sz="1800" i="1">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bwMode="auto">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4ED587-2D2F-4D3F-B55B-C64465AB4EC5}"/>
              </a:ext>
            </a:extLst>
          </p:cNvPr>
          <p:cNvSpPr/>
          <p:nvPr userDrawn="1"/>
        </p:nvSpPr>
        <p:spPr>
          <a:xfrm>
            <a:off x="69274" y="66963"/>
            <a:ext cx="9911201" cy="67273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18115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arge Image">
    <p:bg>
      <p:bgPr>
        <a:solidFill>
          <a:schemeClr val="bg1"/>
        </a:solidFill>
        <a:effectLst/>
      </p:bgPr>
    </p:bg>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069FFAE5-B16E-4571-88F7-52FA5354B1A1}"/>
              </a:ext>
            </a:extLst>
          </p:cNvPr>
          <p:cNvSpPr>
            <a:spLocks noGrp="1"/>
          </p:cNvSpPr>
          <p:nvPr>
            <p:ph type="pic" sz="quarter" idx="13" hasCustomPrompt="1"/>
          </p:nvPr>
        </p:nvSpPr>
        <p:spPr>
          <a:xfrm>
            <a:off x="69273" y="63691"/>
            <a:ext cx="9911201" cy="6727346"/>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409473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1599E2D7-24B3-4D66-9AFB-83C1AEC4DBBB}"/>
              </a:ext>
            </a:extLst>
          </p:cNvPr>
          <p:cNvSpPr>
            <a:spLocks noGrp="1"/>
          </p:cNvSpPr>
          <p:nvPr>
            <p:ph type="pic" sz="quarter" idx="33" hasCustomPrompt="1"/>
          </p:nvPr>
        </p:nvSpPr>
        <p:spPr>
          <a:xfrm>
            <a:off x="9980476" y="0"/>
            <a:ext cx="2211524" cy="6192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445086" y="1807950"/>
            <a:ext cx="5184913" cy="432000"/>
          </a:xfrm>
        </p:spPr>
        <p:txBody>
          <a:bodyPr/>
          <a:lstStyle>
            <a:lvl1pPr algn="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444886" y="2383950"/>
            <a:ext cx="5184913" cy="360000"/>
          </a:xfrm>
        </p:spPr>
        <p:txBody>
          <a:bodyPr/>
          <a:lstStyle>
            <a:lvl1pPr marL="0" indent="0" algn="r">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445000" y="2908300"/>
            <a:ext cx="5184800" cy="3283700"/>
          </a:xfrm>
          <a:solidFill>
            <a:schemeClr val="bg1"/>
          </a:solidFill>
        </p:spPr>
        <p:txBody>
          <a:bodyPr lIns="180000" tIns="252000" rIns="252000"/>
          <a:lstStyle>
            <a:lvl1pPr algn="l">
              <a:defRPr>
                <a:solidFill>
                  <a:schemeClr val="tx1">
                    <a:lumMod val="75000"/>
                    <a:lumOff val="25000"/>
                  </a:schemeClr>
                </a:solidFill>
              </a:defRPr>
            </a:lvl1pPr>
            <a:lvl2pPr algn="l">
              <a:defRPr>
                <a:solidFill>
                  <a:schemeClr val="tx1">
                    <a:lumMod val="75000"/>
                    <a:lumOff val="25000"/>
                  </a:schemeClr>
                </a:solidFill>
              </a:defRPr>
            </a:lvl2pPr>
            <a:lvl3pPr algn="l">
              <a:defRPr>
                <a:solidFill>
                  <a:schemeClr val="tx1">
                    <a:lumMod val="75000"/>
                    <a:lumOff val="25000"/>
                  </a:schemeClr>
                </a:solidFill>
              </a:defRPr>
            </a:lvl3pPr>
            <a:lvl4pPr algn="l">
              <a:defRPr>
                <a:solidFill>
                  <a:schemeClr val="tx1">
                    <a:lumMod val="75000"/>
                    <a:lumOff val="25000"/>
                  </a:schemeClr>
                </a:solidFill>
              </a:defRPr>
            </a:lvl4pPr>
            <a:lvl5pPr algn="l">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23393" y="1343906"/>
            <a:ext cx="3736800" cy="3933645"/>
          </a:xfrm>
          <a:solidFill>
            <a:schemeClr val="bg1"/>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
        <p:nvSpPr>
          <p:cNvPr id="9" name="Picture Placeholder 6">
            <a:extLst>
              <a:ext uri="{FF2B5EF4-FFF2-40B4-BE49-F238E27FC236}">
                <a16:creationId xmlns:a16="http://schemas.microsoft.com/office/drawing/2014/main" id="{492C2A1D-F7BD-46B6-BC01-15D365ACD50B}"/>
              </a:ext>
            </a:extLst>
          </p:cNvPr>
          <p:cNvSpPr>
            <a:spLocks noGrp="1"/>
          </p:cNvSpPr>
          <p:nvPr>
            <p:ph type="pic" sz="quarter" idx="14" hasCustomPrompt="1"/>
          </p:nvPr>
        </p:nvSpPr>
        <p:spPr>
          <a:xfrm>
            <a:off x="7560193" y="1344803"/>
            <a:ext cx="3737526" cy="3933645"/>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6" name="Title 5">
            <a:extLst>
              <a:ext uri="{FF2B5EF4-FFF2-40B4-BE49-F238E27FC236}">
                <a16:creationId xmlns:a16="http://schemas.microsoft.com/office/drawing/2014/main" id="{7F4F1543-153D-4F77-A4A9-C9BBA1C2052E}"/>
              </a:ext>
            </a:extLst>
          </p:cNvPr>
          <p:cNvSpPr>
            <a:spLocks noGrp="1"/>
          </p:cNvSpPr>
          <p:nvPr>
            <p:ph type="title"/>
          </p:nvPr>
        </p:nvSpPr>
        <p:spPr>
          <a:xfrm>
            <a:off x="432000" y="432000"/>
            <a:ext cx="9131100" cy="432000"/>
          </a:xfrm>
        </p:spPr>
        <p:txBody>
          <a:bodyPr/>
          <a:lstStyle/>
          <a:p>
            <a:r>
              <a:rPr lang="en-US" noProof="0" smtClean="0"/>
              <a:t>Click to edit Master title style</a:t>
            </a:r>
            <a:endParaRPr lang="en-US" noProof="0"/>
          </a:p>
        </p:txBody>
      </p:sp>
      <p:sp>
        <p:nvSpPr>
          <p:cNvPr id="11" name="Subtitle 2">
            <a:extLst>
              <a:ext uri="{FF2B5EF4-FFF2-40B4-BE49-F238E27FC236}">
                <a16:creationId xmlns:a16="http://schemas.microsoft.com/office/drawing/2014/main" id="{9FAA210E-391A-499A-89D5-F222045FD1A4}"/>
              </a:ext>
            </a:extLst>
          </p:cNvPr>
          <p:cNvSpPr>
            <a:spLocks noGrp="1"/>
          </p:cNvSpPr>
          <p:nvPr>
            <p:ph type="body" sz="quarter" idx="32" hasCustomPrompt="1"/>
          </p:nvPr>
        </p:nvSpPr>
        <p:spPr>
          <a:xfrm>
            <a:off x="431800" y="1008000"/>
            <a:ext cx="68959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234719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432296"/>
            <a:ext cx="4500000" cy="527076"/>
          </a:xfrm>
          <a:solidFill>
            <a:schemeClr val="tx1"/>
          </a:solidFill>
        </p:spPr>
        <p:txBody>
          <a:bodyPr lIns="180000" tIns="36000" anchor="ctr"/>
          <a:lstStyle>
            <a:lvl1pPr marL="0" indent="0">
              <a:buNone/>
              <a:defRPr sz="2400" b="1" spc="-15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2023668"/>
            <a:ext cx="4500000" cy="416833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5129800" y="1433105"/>
            <a:ext cx="4500000" cy="525283"/>
          </a:xfrm>
          <a:solidFill>
            <a:schemeClr val="tx1"/>
          </a:solidFill>
        </p:spPr>
        <p:txBody>
          <a:bodyPr lIns="180000" tIns="36000" anchor="ctr"/>
          <a:lstStyle>
            <a:lvl1pPr marL="0" indent="0">
              <a:buNone/>
              <a:defRPr sz="2400" b="1" spc="-150">
                <a:solidFill>
                  <a:schemeClr val="bg1"/>
                </a:solidFill>
                <a:latin typeface="+mj-lt"/>
              </a:defRPr>
            </a:lvl1pPr>
          </a:lstStyle>
          <a:p>
            <a:pPr lvl="0"/>
            <a:r>
              <a:rPr lang="en-US" noProof="0"/>
              <a:t>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5129800" y="2020359"/>
            <a:ext cx="4500000" cy="417089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299200" y="432000"/>
            <a:ext cx="5472113" cy="5759250"/>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75314" y="5096632"/>
            <a:ext cx="2028686" cy="1094618"/>
          </a:xfrm>
        </p:spPr>
        <p:txBody>
          <a:bodyPr anchor="b"/>
          <a:lstStyle>
            <a:lvl1pPr marL="0" indent="0" algn="r">
              <a:buNone/>
              <a:defRPr i="1">
                <a:solidFill>
                  <a:schemeClr val="tx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16EFF903-F1F3-440A-B12C-9FD51606B03D}"/>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174360" y="2112793"/>
            <a:ext cx="6798250" cy="1674470"/>
          </a:xfrm>
        </p:spPr>
        <p:txBody>
          <a:bodyPr anchor="ctr"/>
          <a:lstStyle>
            <a:lvl1pPr algn="ctr">
              <a:lnSpc>
                <a:spcPct val="100000"/>
              </a:lnSpc>
              <a:defRPr sz="6000" b="1" cap="all" spc="-300" baseline="0">
                <a:solidFill>
                  <a:schemeClr val="tx1"/>
                </a:solidFill>
                <a:latin typeface="+mj-lt"/>
              </a:defRPr>
            </a:lvl1pPr>
          </a:lstStyle>
          <a:p>
            <a:r>
              <a:rPr lang="en-US" noProof="0"/>
              <a:t>Thank you</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 Placeholder 5">
            <a:extLst>
              <a:ext uri="{FF2B5EF4-FFF2-40B4-BE49-F238E27FC236}">
                <a16:creationId xmlns:a16="http://schemas.microsoft.com/office/drawing/2014/main" id="{CA3EFDD3-A9D2-4EB6-BB2A-F6999D9F7EA6}"/>
              </a:ext>
            </a:extLst>
          </p:cNvPr>
          <p:cNvSpPr>
            <a:spLocks noGrp="1"/>
          </p:cNvSpPr>
          <p:nvPr>
            <p:ph type="body" sz="quarter" idx="15" hasCustomPrompt="1"/>
          </p:nvPr>
        </p:nvSpPr>
        <p:spPr>
          <a:xfrm>
            <a:off x="2174361" y="4035727"/>
            <a:ext cx="3329850" cy="382887"/>
          </a:xfrm>
        </p:spPr>
        <p:txBody>
          <a:bodyPr/>
          <a:lstStyle>
            <a:lvl1pPr marL="0" indent="0" algn="r">
              <a:buNone/>
              <a:defRPr sz="2400"/>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2" name="Text Placeholder 6">
            <a:extLst>
              <a:ext uri="{FF2B5EF4-FFF2-40B4-BE49-F238E27FC236}">
                <a16:creationId xmlns:a16="http://schemas.microsoft.com/office/drawing/2014/main" id="{261ED1F7-B623-43D9-9BDA-8808C5CFAFFB}"/>
              </a:ext>
            </a:extLst>
          </p:cNvPr>
          <p:cNvSpPr>
            <a:spLocks noGrp="1"/>
          </p:cNvSpPr>
          <p:nvPr>
            <p:ph type="body" sz="quarter" idx="16" hasCustomPrompt="1"/>
          </p:nvPr>
        </p:nvSpPr>
        <p:spPr>
          <a:xfrm>
            <a:off x="6062268" y="4150118"/>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3" name="Text Placeholder 7">
            <a:extLst>
              <a:ext uri="{FF2B5EF4-FFF2-40B4-BE49-F238E27FC236}">
                <a16:creationId xmlns:a16="http://schemas.microsoft.com/office/drawing/2014/main" id="{E27366FC-4115-4122-9CE2-5FA9D424AD51}"/>
              </a:ext>
            </a:extLst>
          </p:cNvPr>
          <p:cNvSpPr>
            <a:spLocks noGrp="1"/>
          </p:cNvSpPr>
          <p:nvPr>
            <p:ph type="body" sz="quarter" idx="17" hasCustomPrompt="1"/>
          </p:nvPr>
        </p:nvSpPr>
        <p:spPr>
          <a:xfrm>
            <a:off x="6062268" y="4540691"/>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4" name="Text Placeholder 8">
            <a:extLst>
              <a:ext uri="{FF2B5EF4-FFF2-40B4-BE49-F238E27FC236}">
                <a16:creationId xmlns:a16="http://schemas.microsoft.com/office/drawing/2014/main" id="{DEB36829-2F8B-4E22-AB6D-4111D18AF847}"/>
              </a:ext>
            </a:extLst>
          </p:cNvPr>
          <p:cNvSpPr>
            <a:spLocks noGrp="1"/>
          </p:cNvSpPr>
          <p:nvPr>
            <p:ph type="body" sz="quarter" idx="18" hasCustomPrompt="1"/>
          </p:nvPr>
        </p:nvSpPr>
        <p:spPr>
          <a:xfrm>
            <a:off x="6062268" y="4931263"/>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Tree>
    <p:extLst>
      <p:ext uri="{BB962C8B-B14F-4D97-AF65-F5344CB8AC3E}">
        <p14:creationId xmlns:p14="http://schemas.microsoft.com/office/powerpoint/2010/main" val="318901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3442953D-28FC-41B5-A1BB-BB3BA7CA40B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2916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3572900" y="1511476"/>
            <a:ext cx="2916000" cy="467924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6713800" y="1511475"/>
            <a:ext cx="2916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1764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29045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414890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6007350" y="1507535"/>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7865800" y="1507535"/>
            <a:ext cx="1764000" cy="468371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B5A8293F-A5B5-4FCC-BF27-A25B1BAFF245}"/>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E801980-CBAE-4A50-886D-54D7BB2E19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DF756E-F310-4229-ACDD-055D299A95FB}"/>
              </a:ext>
            </a:extLst>
          </p:cNvPr>
          <p:cNvSpPr/>
          <p:nvPr userDrawn="1"/>
        </p:nvSpPr>
        <p:spPr>
          <a:xfrm>
            <a:off x="6297105" y="424206"/>
            <a:ext cx="5505254" cy="57314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9" name="Subtitle 2">
            <a:extLst>
              <a:ext uri="{FF2B5EF4-FFF2-40B4-BE49-F238E27FC236}">
                <a16:creationId xmlns:a16="http://schemas.microsoft.com/office/drawing/2014/main" id="{07666241-4AF6-458A-A571-6C6C291D72F1}"/>
              </a:ext>
            </a:extLst>
          </p:cNvPr>
          <p:cNvSpPr>
            <a:spLocks noGrp="1"/>
          </p:cNvSpPr>
          <p:nvPr>
            <p:ph type="subTitle" idx="1"/>
          </p:nvPr>
        </p:nvSpPr>
        <p:spPr>
          <a:xfrm>
            <a:off x="6532775" y="3639199"/>
            <a:ext cx="5053936"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6" name="Title 5">
            <a:extLst>
              <a:ext uri="{FF2B5EF4-FFF2-40B4-BE49-F238E27FC236}">
                <a16:creationId xmlns:a16="http://schemas.microsoft.com/office/drawing/2014/main" id="{6F4F2BBF-F210-4954-9C73-A0030AACDDFE}"/>
              </a:ext>
            </a:extLst>
          </p:cNvPr>
          <p:cNvSpPr>
            <a:spLocks noGrp="1"/>
          </p:cNvSpPr>
          <p:nvPr>
            <p:ph type="title" hasCustomPrompt="1"/>
          </p:nvPr>
        </p:nvSpPr>
        <p:spPr>
          <a:xfrm>
            <a:off x="6532775" y="993303"/>
            <a:ext cx="5053936" cy="2513468"/>
          </a:xfrm>
        </p:spPr>
        <p:txBody>
          <a:bodyPr/>
          <a:lstStyle>
            <a:lvl1pPr>
              <a:defRPr sz="5400" cap="none">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2277791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Content Placeholder 2">
            <a:extLst>
              <a:ext uri="{FF2B5EF4-FFF2-40B4-BE49-F238E27FC236}">
                <a16:creationId xmlns:a16="http://schemas.microsoft.com/office/drawing/2014/main" id="{FD1EE834-4B70-4715-8346-1C0298347EE0}"/>
              </a:ext>
            </a:extLst>
          </p:cNvPr>
          <p:cNvSpPr>
            <a:spLocks noGrp="1"/>
          </p:cNvSpPr>
          <p:nvPr>
            <p:ph idx="1" hasCustomPrompt="1"/>
          </p:nvPr>
        </p:nvSpPr>
        <p:spPr>
          <a:xfrm>
            <a:off x="432000" y="1046375"/>
            <a:ext cx="9198000"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0088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Content Placeholder 2">
            <a:extLst>
              <a:ext uri="{FF2B5EF4-FFF2-40B4-BE49-F238E27FC236}">
                <a16:creationId xmlns:a16="http://schemas.microsoft.com/office/drawing/2014/main" id="{EAE43F4C-1A64-4197-A44B-E6EB874E243B}"/>
              </a:ext>
            </a:extLst>
          </p:cNvPr>
          <p:cNvSpPr>
            <a:spLocks noGrp="1"/>
          </p:cNvSpPr>
          <p:nvPr>
            <p:ph sz="half" idx="1" hasCustomPrompt="1"/>
          </p:nvPr>
        </p:nvSpPr>
        <p:spPr>
          <a:xfrm>
            <a:off x="432000"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a:extLst>
              <a:ext uri="{FF2B5EF4-FFF2-40B4-BE49-F238E27FC236}">
                <a16:creationId xmlns:a16="http://schemas.microsoft.com/office/drawing/2014/main" id="{D7B3F5B8-DC28-4878-AC9F-D434D7542D8F}"/>
              </a:ext>
            </a:extLst>
          </p:cNvPr>
          <p:cNvSpPr>
            <a:spLocks noGrp="1"/>
          </p:cNvSpPr>
          <p:nvPr>
            <p:ph sz="half" idx="2" hasCustomPrompt="1"/>
          </p:nvPr>
        </p:nvSpPr>
        <p:spPr>
          <a:xfrm>
            <a:off x="5194169"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7439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Text Placeholder 2">
            <a:extLst>
              <a:ext uri="{FF2B5EF4-FFF2-40B4-BE49-F238E27FC236}">
                <a16:creationId xmlns:a16="http://schemas.microsoft.com/office/drawing/2014/main" id="{CB97B01E-88B2-448F-BD96-A1AAFA39AC1E}"/>
              </a:ext>
            </a:extLst>
          </p:cNvPr>
          <p:cNvSpPr>
            <a:spLocks noGrp="1"/>
          </p:cNvSpPr>
          <p:nvPr>
            <p:ph type="body" idx="1" hasCustomPrompt="1"/>
          </p:nvPr>
        </p:nvSpPr>
        <p:spPr>
          <a:xfrm>
            <a:off x="43200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Text Placeholder 4">
            <a:extLst>
              <a:ext uri="{FF2B5EF4-FFF2-40B4-BE49-F238E27FC236}">
                <a16:creationId xmlns:a16="http://schemas.microsoft.com/office/drawing/2014/main" id="{40BADDE2-4EE6-41B4-804C-EBF680128B40}"/>
              </a:ext>
            </a:extLst>
          </p:cNvPr>
          <p:cNvSpPr>
            <a:spLocks noGrp="1"/>
          </p:cNvSpPr>
          <p:nvPr>
            <p:ph type="body" sz="quarter" idx="3" hasCustomPrompt="1"/>
          </p:nvPr>
        </p:nvSpPr>
        <p:spPr>
          <a:xfrm>
            <a:off x="519516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9" name="Content Placeholder 3">
            <a:extLst>
              <a:ext uri="{FF2B5EF4-FFF2-40B4-BE49-F238E27FC236}">
                <a16:creationId xmlns:a16="http://schemas.microsoft.com/office/drawing/2014/main" id="{BB0A14E0-899D-4594-BC9E-AE89BF0D3AB7}"/>
              </a:ext>
            </a:extLst>
          </p:cNvPr>
          <p:cNvSpPr>
            <a:spLocks noGrp="1"/>
          </p:cNvSpPr>
          <p:nvPr>
            <p:ph sz="half" idx="2" hasCustomPrompt="1"/>
          </p:nvPr>
        </p:nvSpPr>
        <p:spPr>
          <a:xfrm>
            <a:off x="432001"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5">
            <a:extLst>
              <a:ext uri="{FF2B5EF4-FFF2-40B4-BE49-F238E27FC236}">
                <a16:creationId xmlns:a16="http://schemas.microsoft.com/office/drawing/2014/main" id="{2C699014-D902-4E9A-80CD-8D2BCFE67097}"/>
              </a:ext>
            </a:extLst>
          </p:cNvPr>
          <p:cNvSpPr>
            <a:spLocks noGrp="1"/>
          </p:cNvSpPr>
          <p:nvPr>
            <p:ph sz="quarter" idx="4" hasCustomPrompt="1"/>
          </p:nvPr>
        </p:nvSpPr>
        <p:spPr>
          <a:xfrm>
            <a:off x="5195160"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6346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smtClean="0"/>
              <a:t>Click to edit Master title style</a:t>
            </a:r>
            <a:endParaRPr lang="en-US" noProof="0"/>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Content Placeholder 2">
            <a:extLst>
              <a:ext uri="{FF2B5EF4-FFF2-40B4-BE49-F238E27FC236}">
                <a16:creationId xmlns:a16="http://schemas.microsoft.com/office/drawing/2014/main" id="{79F53EF1-D412-467C-B7CE-30536F140AE1}"/>
              </a:ext>
            </a:extLst>
          </p:cNvPr>
          <p:cNvSpPr>
            <a:spLocks noGrp="1"/>
          </p:cNvSpPr>
          <p:nvPr>
            <p:ph idx="1" hasCustomPrompt="1"/>
          </p:nvPr>
        </p:nvSpPr>
        <p:spPr>
          <a:xfrm>
            <a:off x="3770722" y="457201"/>
            <a:ext cx="6023727" cy="5726784"/>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72000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smtClean="0"/>
              <a:t>Click to edit Master title style</a:t>
            </a:r>
            <a:endParaRPr lang="en-US" noProof="0"/>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2" name="Picture Placeholder 2">
            <a:extLst>
              <a:ext uri="{FF2B5EF4-FFF2-40B4-BE49-F238E27FC236}">
                <a16:creationId xmlns:a16="http://schemas.microsoft.com/office/drawing/2014/main" id="{10319378-269C-406E-9B84-FCF22DA02EFF}"/>
              </a:ext>
            </a:extLst>
          </p:cNvPr>
          <p:cNvSpPr>
            <a:spLocks noGrp="1"/>
          </p:cNvSpPr>
          <p:nvPr>
            <p:ph type="pic" idx="1"/>
          </p:nvPr>
        </p:nvSpPr>
        <p:spPr>
          <a:xfrm>
            <a:off x="3788021" y="457201"/>
            <a:ext cx="5949868" cy="57267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Tree>
    <p:extLst>
      <p:ext uri="{BB962C8B-B14F-4D97-AF65-F5344CB8AC3E}">
        <p14:creationId xmlns:p14="http://schemas.microsoft.com/office/powerpoint/2010/main" val="302147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3779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2310D190-B83D-438A-91BC-470C41B22A29}"/>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C8D0EF-1DB6-4ADC-8F31-5AE53BF5EAF4}"/>
              </a:ext>
            </a:extLst>
          </p:cNvPr>
          <p:cNvSpPr/>
          <p:nvPr userDrawn="1"/>
        </p:nvSpPr>
        <p:spPr>
          <a:xfrm>
            <a:off x="69274" y="66963"/>
            <a:ext cx="9911201" cy="67273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62F208ED-79A0-4B2C-A5EE-9D27466BCA3F}"/>
              </a:ext>
            </a:extLst>
          </p:cNvPr>
          <p:cNvSpPr/>
          <p:nvPr userDrawn="1"/>
        </p:nvSpPr>
        <p:spPr>
          <a:xfrm>
            <a:off x="11407775" y="6356350"/>
            <a:ext cx="784225" cy="3651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9198116"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9198116" cy="4679250"/>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56350"/>
            <a:ext cx="4114800" cy="365125"/>
          </a:xfrm>
          <a:prstGeom prst="rect">
            <a:avLst/>
          </a:prstGeom>
        </p:spPr>
        <p:txBody>
          <a:bodyPr vert="horz" lIns="0" tIns="0" rIns="0" bIns="0" rtlCol="0" anchor="ctr"/>
          <a:lstStyle>
            <a:lvl1pPr algn="l">
              <a:defRPr sz="1200" i="1">
                <a:solidFill>
                  <a:schemeClr val="tx1">
                    <a:lumMod val="75000"/>
                    <a:lumOff val="25000"/>
                  </a:schemeClr>
                </a:solidFill>
                <a:latin typeface="Times New Roman" panose="02020603050405020304" pitchFamily="18" charset="0"/>
                <a:cs typeface="Times New Roman" panose="02020603050405020304" pitchFamily="18" charset="0"/>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447502" y="6401750"/>
            <a:ext cx="278418" cy="274324"/>
          </a:xfrm>
          <a:prstGeom prst="rect">
            <a:avLst/>
          </a:prstGeom>
        </p:spPr>
        <p:txBody>
          <a:bodyPr vert="horz" lIns="0" tIns="0" rIns="0" bIns="0" rtlCol="0" anchor="ctr"/>
          <a:lstStyle>
            <a:lvl1pPr algn="ctr">
              <a:defRPr sz="1200" i="1">
                <a:solidFill>
                  <a:schemeClr val="bg1"/>
                </a:solidFill>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9630116" y="6346108"/>
            <a:ext cx="1662546" cy="404658"/>
          </a:xfrm>
          <a:prstGeom prst="rect">
            <a:avLst/>
          </a:prstGeom>
          <a:noFill/>
        </p:spPr>
        <p:txBody>
          <a:bodyPr wrap="square" lIns="0" tIns="36000" rIns="0" bIns="0" rtlCol="0">
            <a:spAutoFit/>
          </a:bodyPr>
          <a:lstStyle/>
          <a:p>
            <a:pPr algn="r">
              <a:lnSpc>
                <a:spcPts val="1400"/>
              </a:lnSpc>
            </a:pPr>
            <a:r>
              <a:rPr lang="en-US" sz="1600" b="1" spc="-100" baseline="0" noProof="0" dirty="0">
                <a:solidFill>
                  <a:schemeClr val="tx1">
                    <a:lumMod val="50000"/>
                    <a:lumOff val="50000"/>
                  </a:schemeClr>
                </a:solidFill>
                <a:latin typeface="Corbel" panose="020B0503020204020204" pitchFamily="34" charset="0"/>
              </a:rPr>
              <a:t>WOODGROVE</a:t>
            </a:r>
            <a:r>
              <a:rPr lang="en-US" sz="1600" b="1" spc="-100" baseline="0" noProof="0" dirty="0">
                <a:solidFill>
                  <a:schemeClr val="accent1"/>
                </a:solidFill>
                <a:latin typeface="Corbel" panose="020B0503020204020204" pitchFamily="34" charset="0"/>
              </a:rPr>
              <a:t> </a:t>
            </a:r>
            <a:r>
              <a:rPr lang="en-US" sz="1600" b="1" spc="-100" baseline="0" noProof="0" dirty="0">
                <a:solidFill>
                  <a:schemeClr val="tx1"/>
                </a:solidFill>
                <a:latin typeface="Corbel" panose="020B0503020204020204" pitchFamily="34" charset="0"/>
              </a:rPr>
              <a:t>BANK</a:t>
            </a:r>
          </a:p>
        </p:txBody>
      </p:sp>
      <p:sp>
        <p:nvSpPr>
          <p:cNvPr id="8" name="Rectangle 7">
            <a:extLst>
              <a:ext uri="{FF2B5EF4-FFF2-40B4-BE49-F238E27FC236}">
                <a16:creationId xmlns:a16="http://schemas.microsoft.com/office/drawing/2014/main" id="{6B322F68-670D-45A0-A54F-7E70BCEAED3F}"/>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E69B5F15-353A-4344-8D61-F4E25AA9FB6C}"/>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2FA0C0AA-FCE8-4A7F-928A-54C96BBA9053}"/>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5" r:id="rId5"/>
    <p:sldLayoutId id="2147483659" r:id="rId6"/>
    <p:sldLayoutId id="2147483660" r:id="rId7"/>
    <p:sldLayoutId id="2147483664" r:id="rId8"/>
    <p:sldLayoutId id="2147483650" r:id="rId9"/>
    <p:sldLayoutId id="2147483656" r:id="rId10"/>
    <p:sldLayoutId id="2147483657" r:id="rId11"/>
    <p:sldLayoutId id="2147483654" r:id="rId12"/>
    <p:sldLayoutId id="2147483666" r:id="rId13"/>
    <p:sldLayoutId id="2147483667" r:id="rId14"/>
    <p:sldLayoutId id="2147483668" r:id="rId15"/>
    <p:sldLayoutId id="2147483669" r:id="rId16"/>
    <p:sldLayoutId id="2147483670" r:id="rId17"/>
    <p:sldLayoutId id="2147483671" r:id="rId18"/>
    <p:sldLayoutId id="2147483672" r:id="rId19"/>
    <p:sldLayoutId id="2147483655" r:id="rId20"/>
  </p:sldLayoutIdLst>
  <p:hf hdr="0" ftr="0" dt="0"/>
  <p:txStyles>
    <p:title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3.png"/><Relationship Id="rId4" Type="http://schemas.openxmlformats.org/officeDocument/2006/relationships/hyperlink" Target="https://docs.flutter.dev/install/manua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4.png"/><Relationship Id="rId4" Type="http://schemas.openxmlformats.org/officeDocument/2006/relationships/hyperlink" Target="https://developer.android.com/studi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9.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9.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2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28.jp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9.xml"/><Relationship Id="rId4" Type="http://schemas.openxmlformats.org/officeDocument/2006/relationships/image" Target="../media/image29.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9.xml"/><Relationship Id="rId4" Type="http://schemas.openxmlformats.org/officeDocument/2006/relationships/image" Target="../media/image31.jp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9.xml"/><Relationship Id="rId5" Type="http://schemas.openxmlformats.org/officeDocument/2006/relationships/image" Target="../media/image33.jp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34.jp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9.xml"/><Relationship Id="rId4" Type="http://schemas.openxmlformats.org/officeDocument/2006/relationships/image" Target="../media/image35.jp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a:t>
            </a:fld>
            <a:endParaRPr lang="en-US" sz="2000" b="1" i="0" dirty="0"/>
          </a:p>
        </p:txBody>
      </p:sp>
      <p:sp>
        <p:nvSpPr>
          <p:cNvPr id="9" name="Title 2">
            <a:extLst>
              <a:ext uri="{FF2B5EF4-FFF2-40B4-BE49-F238E27FC236}">
                <a16:creationId xmlns:a16="http://schemas.microsoft.com/office/drawing/2014/main" id="{200B3D2B-613A-41BE-987D-E6A1324B456D}"/>
              </a:ext>
            </a:extLst>
          </p:cNvPr>
          <p:cNvSpPr txBox="1">
            <a:spLocks/>
          </p:cNvSpPr>
          <p:nvPr/>
        </p:nvSpPr>
        <p:spPr>
          <a:xfrm>
            <a:off x="904973" y="779192"/>
            <a:ext cx="8766927" cy="1366536"/>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r>
              <a:rPr lang="en" dirty="0"/>
              <a:t>Lesson </a:t>
            </a:r>
            <a:r>
              <a:rPr lang="en" dirty="0" smtClean="0"/>
              <a:t>3: </a:t>
            </a:r>
            <a:r>
              <a:rPr lang="en" dirty="0"/>
              <a:t>Introduction to Flutter</a:t>
            </a:r>
            <a:endParaRPr lang="en-US" dirty="0"/>
          </a:p>
        </p:txBody>
      </p:sp>
      <p:sp>
        <p:nvSpPr>
          <p:cNvPr id="11" name="Subtitle 3">
            <a:extLst>
              <a:ext uri="{FF2B5EF4-FFF2-40B4-BE49-F238E27FC236}">
                <a16:creationId xmlns:a16="http://schemas.microsoft.com/office/drawing/2014/main" id="{4772945D-CA91-4CFE-8EB7-941C7618C994}"/>
              </a:ext>
            </a:extLst>
          </p:cNvPr>
          <p:cNvSpPr txBox="1">
            <a:spLocks/>
          </p:cNvSpPr>
          <p:nvPr/>
        </p:nvSpPr>
        <p:spPr>
          <a:xfrm>
            <a:off x="5505254" y="4506012"/>
            <a:ext cx="5208128" cy="1336565"/>
          </a:xfrm>
          <a:prstGeom prst="rect">
            <a:avLst/>
          </a:prstGeom>
        </p:spPr>
        <p:style>
          <a:lnRef idx="2">
            <a:schemeClr val="dk1">
              <a:shade val="50000"/>
            </a:schemeClr>
          </a:lnRef>
          <a:fillRef idx="1">
            <a:schemeClr val="dk1"/>
          </a:fillRef>
          <a:effectRef idx="0">
            <a:schemeClr val="dk1"/>
          </a:effectRef>
          <a:fontRef idx="minor">
            <a:schemeClr val="lt1"/>
          </a:fontRef>
        </p:style>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endParaRPr lang="en-US" dirty="0" smtClean="0">
              <a:solidFill>
                <a:schemeClr val="bg1"/>
              </a:solidFill>
            </a:endParaRPr>
          </a:p>
          <a:p>
            <a:pPr marL="0" indent="0" algn="ctr">
              <a:spcBef>
                <a:spcPts val="0"/>
              </a:spcBef>
              <a:buNone/>
            </a:pPr>
            <a:r>
              <a:rPr lang="en-US" dirty="0" smtClean="0">
                <a:solidFill>
                  <a:schemeClr val="bg1"/>
                </a:solidFill>
              </a:rPr>
              <a:t>Lab Demo: MD. Aminul Islam Rakib</a:t>
            </a:r>
          </a:p>
          <a:p>
            <a:pPr algn="ctr">
              <a:spcBef>
                <a:spcPts val="0"/>
              </a:spcBef>
            </a:pPr>
            <a:endParaRPr lang="en-US" dirty="0" smtClean="0">
              <a:solidFill>
                <a:schemeClr val="bg1"/>
              </a:solidFill>
            </a:endParaRPr>
          </a:p>
          <a:p>
            <a:pPr marL="0" indent="0" algn="ctr">
              <a:spcBef>
                <a:spcPts val="0"/>
              </a:spcBef>
              <a:buNone/>
            </a:pPr>
            <a:r>
              <a:rPr lang="en-US" dirty="0" smtClean="0">
                <a:solidFill>
                  <a:schemeClr val="bg1"/>
                </a:solidFill>
              </a:rPr>
              <a:t>Lecturer: Madam </a:t>
            </a:r>
            <a:r>
              <a:rPr lang="en-US" dirty="0" err="1" smtClean="0">
                <a:solidFill>
                  <a:schemeClr val="bg1"/>
                </a:solidFill>
              </a:rPr>
              <a:t>Nurfauza</a:t>
            </a:r>
            <a:r>
              <a:rPr lang="en-US" dirty="0" smtClean="0">
                <a:solidFill>
                  <a:schemeClr val="bg1"/>
                </a:solidFill>
              </a:rPr>
              <a:t> </a:t>
            </a:r>
            <a:r>
              <a:rPr lang="en-US" dirty="0" err="1" smtClean="0">
                <a:solidFill>
                  <a:schemeClr val="bg1"/>
                </a:solidFill>
              </a:rPr>
              <a:t>Binti</a:t>
            </a:r>
            <a:r>
              <a:rPr lang="en-US" dirty="0" smtClean="0">
                <a:solidFill>
                  <a:schemeClr val="bg1"/>
                </a:solidFill>
              </a:rPr>
              <a:t> </a:t>
            </a:r>
            <a:r>
              <a:rPr lang="en-US" dirty="0" err="1" smtClean="0">
                <a:solidFill>
                  <a:schemeClr val="bg1"/>
                </a:solidFill>
              </a:rPr>
              <a:t>Jali</a:t>
            </a:r>
            <a:endParaRPr lang="en-US" dirty="0">
              <a:solidFill>
                <a:schemeClr val="bg1"/>
              </a:solidFill>
            </a:endParaRPr>
          </a:p>
        </p:txBody>
      </p:sp>
      <p:sp>
        <p:nvSpPr>
          <p:cNvPr id="14" name="TextBox 13">
            <a:extLst>
              <a:ext uri="{FF2B5EF4-FFF2-40B4-BE49-F238E27FC236}">
                <a16:creationId xmlns:a16="http://schemas.microsoft.com/office/drawing/2014/main" id="{E2F2BFDF-E9F2-4569-A9F2-E1FFCB7FB82D}"/>
              </a:ext>
            </a:extLst>
          </p:cNvPr>
          <p:cNvSpPr txBox="1"/>
          <p:nvPr/>
        </p:nvSpPr>
        <p:spPr>
          <a:xfrm>
            <a:off x="2358558" y="2236870"/>
            <a:ext cx="5859756" cy="621576"/>
          </a:xfrm>
          <a:prstGeom prst="rect">
            <a:avLst/>
          </a:prstGeom>
          <a:noFill/>
        </p:spPr>
        <p:txBody>
          <a:bodyPr wrap="square" lIns="0" tIns="36000" rIns="0" bIns="0" rtlCol="0">
            <a:spAutoFit/>
          </a:bodyPr>
          <a:lstStyle/>
          <a:p>
            <a:pPr lvl="0" algn="ctr"/>
            <a:r>
              <a:rPr lang="en-US" sz="2400" dirty="0">
                <a:solidFill>
                  <a:srgbClr val="002060"/>
                </a:solidFill>
              </a:rPr>
              <a:t>TMA3084 - Software Engineering </a:t>
            </a:r>
            <a:r>
              <a:rPr lang="en-US" sz="2400" dirty="0" smtClean="0">
                <a:solidFill>
                  <a:srgbClr val="002060"/>
                </a:solidFill>
              </a:rPr>
              <a:t>Laboratory</a:t>
            </a:r>
            <a:endParaRPr lang="en-US" sz="2400" dirty="0">
              <a:solidFill>
                <a:srgbClr val="002060"/>
              </a:solidFill>
            </a:endParaRPr>
          </a:p>
          <a:p>
            <a:pPr algn="r">
              <a:lnSpc>
                <a:spcPts val="1400"/>
              </a:lnSpc>
            </a:pPr>
            <a:endParaRPr lang="en-US" sz="2400" b="1" spc="-100" baseline="0" dirty="0">
              <a:solidFill>
                <a:srgbClr val="002060"/>
              </a:solidFill>
              <a:latin typeface="Corbel" panose="020B0503020204020204" pitchFamily="34" charset="0"/>
            </a:endParaRPr>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pic>
        <p:nvPicPr>
          <p:cNvPr id="16"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12807024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a:xfrm>
            <a:off x="11447502" y="6401750"/>
            <a:ext cx="278418" cy="274324"/>
          </a:xfrm>
        </p:spPr>
        <p:txBody>
          <a:bodyPr/>
          <a:lstStyle/>
          <a:p>
            <a:fld id="{19B51A1E-902D-48AF-9020-955120F399B6}" type="slidenum">
              <a:rPr lang="en-US" sz="2000" b="1" i="0" smtClean="0"/>
              <a:pPr/>
              <a:t>2</a:t>
            </a:fld>
            <a:endParaRPr lang="en-US" sz="2000" b="1" i="0" dirty="0"/>
          </a:p>
        </p:txBody>
      </p:sp>
      <p:sp>
        <p:nvSpPr>
          <p:cNvPr id="40" name="Rounded Rectangle 39"/>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41" name="Google Shape;178;p28"/>
          <p:cNvSpPr txBox="1">
            <a:spLocks/>
          </p:cNvSpPr>
          <p:nvPr/>
        </p:nvSpPr>
        <p:spPr>
          <a:xfrm>
            <a:off x="720000" y="445025"/>
            <a:ext cx="7704000" cy="572700"/>
          </a:xfrm>
          <a:prstGeom prst="rect">
            <a:avLst/>
          </a:prstGeom>
        </p:spPr>
        <p:txBody>
          <a:bodyPr spcFirstLastPara="1" vert="horz" wrap="square" lIns="91425" tIns="91425" rIns="91425" bIns="91425" rtlCol="0"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US" smtClean="0"/>
              <a:t>Table of contents</a:t>
            </a:r>
            <a:endParaRPr lang="en-US" dirty="0"/>
          </a:p>
        </p:txBody>
      </p:sp>
      <p:pic>
        <p:nvPicPr>
          <p:cNvPr id="55"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29" name="Google Shape;179;p28"/>
          <p:cNvSpPr txBox="1">
            <a:spLocks/>
          </p:cNvSpPr>
          <p:nvPr/>
        </p:nvSpPr>
        <p:spPr>
          <a:xfrm>
            <a:off x="1687094" y="1595377"/>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01</a:t>
            </a:r>
            <a:endParaRPr lang="en" sz="2800" dirty="0"/>
          </a:p>
        </p:txBody>
      </p:sp>
      <p:sp>
        <p:nvSpPr>
          <p:cNvPr id="30" name="Google Shape;185;p28"/>
          <p:cNvSpPr txBox="1">
            <a:spLocks/>
          </p:cNvSpPr>
          <p:nvPr/>
        </p:nvSpPr>
        <p:spPr>
          <a:xfrm>
            <a:off x="2422689" y="1597458"/>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Understanding Flutter</a:t>
            </a:r>
            <a:endParaRPr lang="en-US" sz="2000" dirty="0"/>
          </a:p>
        </p:txBody>
      </p:sp>
      <p:sp>
        <p:nvSpPr>
          <p:cNvPr id="31" name="Google Shape;179;p28"/>
          <p:cNvSpPr txBox="1">
            <a:spLocks/>
          </p:cNvSpPr>
          <p:nvPr/>
        </p:nvSpPr>
        <p:spPr>
          <a:xfrm>
            <a:off x="1688662" y="2106003"/>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02</a:t>
            </a:r>
            <a:endParaRPr lang="en" sz="2800" dirty="0"/>
          </a:p>
        </p:txBody>
      </p:sp>
      <p:sp>
        <p:nvSpPr>
          <p:cNvPr id="32" name="Google Shape;185;p28"/>
          <p:cNvSpPr txBox="1">
            <a:spLocks/>
          </p:cNvSpPr>
          <p:nvPr/>
        </p:nvSpPr>
        <p:spPr>
          <a:xfrm>
            <a:off x="2424257" y="2108084"/>
            <a:ext cx="6974267"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2000" dirty="0"/>
              <a:t>Flutter </a:t>
            </a:r>
            <a:r>
              <a:rPr lang="en-US" sz="2000" dirty="0" smtClean="0"/>
              <a:t>Framework and </a:t>
            </a:r>
            <a:r>
              <a:rPr lang="en-US" sz="2000" dirty="0"/>
              <a:t>Installing and Configuring Flutter SDK</a:t>
            </a:r>
          </a:p>
          <a:p>
            <a:pPr marL="0" lvl="0" indent="0">
              <a:spcBef>
                <a:spcPts val="0"/>
              </a:spcBef>
              <a:buNone/>
            </a:pPr>
            <a:endParaRPr lang="en-US" sz="2000" dirty="0"/>
          </a:p>
        </p:txBody>
      </p:sp>
      <p:sp>
        <p:nvSpPr>
          <p:cNvPr id="33" name="Google Shape;179;p28"/>
          <p:cNvSpPr txBox="1">
            <a:spLocks/>
          </p:cNvSpPr>
          <p:nvPr/>
        </p:nvSpPr>
        <p:spPr>
          <a:xfrm>
            <a:off x="1698090" y="2615052"/>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03</a:t>
            </a:r>
            <a:endParaRPr lang="en" sz="2800" dirty="0"/>
          </a:p>
        </p:txBody>
      </p:sp>
      <p:sp>
        <p:nvSpPr>
          <p:cNvPr id="34" name="Google Shape;185;p28"/>
          <p:cNvSpPr txBox="1">
            <a:spLocks/>
          </p:cNvSpPr>
          <p:nvPr/>
        </p:nvSpPr>
        <p:spPr>
          <a:xfrm>
            <a:off x="2433685" y="2617133"/>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Android Studio</a:t>
            </a:r>
            <a:endParaRPr lang="en-US" sz="2000" dirty="0"/>
          </a:p>
        </p:txBody>
      </p:sp>
      <p:sp>
        <p:nvSpPr>
          <p:cNvPr id="36" name="Google Shape;185;p28"/>
          <p:cNvSpPr txBox="1">
            <a:spLocks/>
          </p:cNvSpPr>
          <p:nvPr/>
        </p:nvSpPr>
        <p:spPr>
          <a:xfrm>
            <a:off x="2435253" y="3127759"/>
            <a:ext cx="4719693"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endParaRPr lang="en-US" sz="2000" dirty="0"/>
          </a:p>
        </p:txBody>
      </p:sp>
      <p:sp>
        <p:nvSpPr>
          <p:cNvPr id="37" name="Google Shape;179;p28"/>
          <p:cNvSpPr txBox="1">
            <a:spLocks/>
          </p:cNvSpPr>
          <p:nvPr/>
        </p:nvSpPr>
        <p:spPr>
          <a:xfrm>
            <a:off x="1669810" y="3105248"/>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04</a:t>
            </a:r>
            <a:endParaRPr lang="en" sz="2800" dirty="0"/>
          </a:p>
        </p:txBody>
      </p:sp>
      <p:sp>
        <p:nvSpPr>
          <p:cNvPr id="38" name="Google Shape;185;p28"/>
          <p:cNvSpPr txBox="1">
            <a:spLocks/>
          </p:cNvSpPr>
          <p:nvPr/>
        </p:nvSpPr>
        <p:spPr>
          <a:xfrm>
            <a:off x="2405405" y="3107329"/>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Setup an Android Device</a:t>
            </a:r>
            <a:endParaRPr lang="en-US" sz="2000" dirty="0"/>
          </a:p>
        </p:txBody>
      </p:sp>
      <p:sp>
        <p:nvSpPr>
          <p:cNvPr id="43" name="Google Shape;179;p28"/>
          <p:cNvSpPr txBox="1">
            <a:spLocks/>
          </p:cNvSpPr>
          <p:nvPr/>
        </p:nvSpPr>
        <p:spPr>
          <a:xfrm>
            <a:off x="1671378" y="3615874"/>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05</a:t>
            </a:r>
            <a:endParaRPr lang="en" sz="2800" dirty="0"/>
          </a:p>
        </p:txBody>
      </p:sp>
      <p:sp>
        <p:nvSpPr>
          <p:cNvPr id="44" name="Google Shape;185;p28"/>
          <p:cNvSpPr txBox="1">
            <a:spLocks/>
          </p:cNvSpPr>
          <p:nvPr/>
        </p:nvSpPr>
        <p:spPr>
          <a:xfrm>
            <a:off x="2406973" y="3617955"/>
            <a:ext cx="641651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Run your Apps on a Hardware Device (Physical Phone)</a:t>
            </a:r>
            <a:endParaRPr lang="en-US" sz="2000" dirty="0"/>
          </a:p>
        </p:txBody>
      </p:sp>
      <p:sp>
        <p:nvSpPr>
          <p:cNvPr id="45" name="Google Shape;179;p28"/>
          <p:cNvSpPr txBox="1">
            <a:spLocks/>
          </p:cNvSpPr>
          <p:nvPr/>
        </p:nvSpPr>
        <p:spPr>
          <a:xfrm>
            <a:off x="1680806" y="4115496"/>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06</a:t>
            </a:r>
            <a:endParaRPr lang="en" sz="2800" dirty="0"/>
          </a:p>
        </p:txBody>
      </p:sp>
      <p:sp>
        <p:nvSpPr>
          <p:cNvPr id="46" name="Google Shape;185;p28"/>
          <p:cNvSpPr txBox="1">
            <a:spLocks/>
          </p:cNvSpPr>
          <p:nvPr/>
        </p:nvSpPr>
        <p:spPr>
          <a:xfrm>
            <a:off x="2416401" y="4117577"/>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Introduction to Flutter Widgets </a:t>
            </a:r>
            <a:endParaRPr lang="en-US" sz="2000" dirty="0"/>
          </a:p>
        </p:txBody>
      </p:sp>
      <p:sp>
        <p:nvSpPr>
          <p:cNvPr id="47" name="Google Shape;179;p28"/>
          <p:cNvSpPr txBox="1">
            <a:spLocks/>
          </p:cNvSpPr>
          <p:nvPr/>
        </p:nvSpPr>
        <p:spPr>
          <a:xfrm>
            <a:off x="1682374" y="4626122"/>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smtClean="0"/>
              <a:t>07</a:t>
            </a:r>
            <a:endParaRPr lang="en" sz="2800" dirty="0"/>
          </a:p>
        </p:txBody>
      </p:sp>
      <p:sp>
        <p:nvSpPr>
          <p:cNvPr id="49" name="Google Shape;185;p28"/>
          <p:cNvSpPr txBox="1">
            <a:spLocks/>
          </p:cNvSpPr>
          <p:nvPr/>
        </p:nvSpPr>
        <p:spPr>
          <a:xfrm>
            <a:off x="2417969" y="4628203"/>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What is a </a:t>
            </a:r>
            <a:r>
              <a:rPr lang="en-US" sz="2000" dirty="0" err="1"/>
              <a:t>MaterialApp</a:t>
            </a:r>
            <a:r>
              <a:rPr lang="en-US" sz="2000" dirty="0"/>
              <a:t> widget?</a:t>
            </a:r>
            <a:endParaRPr lang="en-US" sz="2000" dirty="0"/>
          </a:p>
        </p:txBody>
      </p:sp>
    </p:spTree>
    <p:extLst>
      <p:ext uri="{BB962C8B-B14F-4D97-AF65-F5344CB8AC3E}">
        <p14:creationId xmlns:p14="http://schemas.microsoft.com/office/powerpoint/2010/main" val="28538443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smtClean="0"/>
              <a:t>1. </a:t>
            </a:r>
            <a:r>
              <a:rPr lang="en-US" dirty="0"/>
              <a:t>Understanding Flutter</a:t>
            </a:r>
            <a:r>
              <a:rPr lang="en-US" dirty="0"/>
              <a:t/>
            </a:r>
            <a:br>
              <a:rPr lang="en-US" dirty="0"/>
            </a:br>
            <a:endParaRPr lang="en-US" cap="none" dirty="0">
              <a:solidFill>
                <a:srgbClr val="FF0000"/>
              </a:solidFill>
            </a:endParaRPr>
          </a:p>
        </p:txBody>
      </p:sp>
      <p:sp>
        <p:nvSpPr>
          <p:cNvPr id="3" name="Rectangle 2"/>
          <p:cNvSpPr/>
          <p:nvPr/>
        </p:nvSpPr>
        <p:spPr>
          <a:xfrm>
            <a:off x="583336" y="1115282"/>
            <a:ext cx="9395702" cy="5355312"/>
          </a:xfrm>
          <a:prstGeom prst="rect">
            <a:avLst/>
          </a:prstGeom>
        </p:spPr>
        <p:txBody>
          <a:bodyPr wrap="square">
            <a:spAutoFit/>
          </a:bodyPr>
          <a:lstStyle/>
          <a:p>
            <a:endParaRPr lang="en-US" b="1" dirty="0" smtClean="0"/>
          </a:p>
          <a:p>
            <a:r>
              <a:rPr lang="en-US" b="1" dirty="0" smtClean="0"/>
              <a:t>About </a:t>
            </a:r>
            <a:r>
              <a:rPr lang="en-US" b="1" dirty="0"/>
              <a:t>Flutter</a:t>
            </a:r>
          </a:p>
          <a:p>
            <a:pPr marL="285750" indent="-285750">
              <a:buFont typeface="Arial" panose="020B0604020202020204" pitchFamily="34" charset="0"/>
              <a:buChar char="•"/>
            </a:pPr>
            <a:r>
              <a:rPr lang="en-US" dirty="0"/>
              <a:t>Flutter is </a:t>
            </a:r>
            <a:r>
              <a:rPr lang="en-US" b="1" dirty="0"/>
              <a:t>Google’s SDK</a:t>
            </a:r>
            <a:r>
              <a:rPr lang="en-US" dirty="0"/>
              <a:t> for creating </a:t>
            </a:r>
            <a:r>
              <a:rPr lang="en-US" b="1" dirty="0"/>
              <a:t>beautiful and fast apps</a:t>
            </a:r>
            <a:r>
              <a:rPr lang="en-US" dirty="0"/>
              <a:t> from a </a:t>
            </a:r>
            <a:r>
              <a:rPr lang="en-US" b="1" dirty="0"/>
              <a:t>single codebase</a:t>
            </a:r>
            <a:r>
              <a:rPr lang="en-US" dirty="0"/>
              <a:t>.</a:t>
            </a:r>
          </a:p>
          <a:p>
            <a:pPr marL="285750" indent="-285750">
              <a:buFont typeface="Arial" panose="020B0604020202020204" pitchFamily="34" charset="0"/>
              <a:buChar char="•"/>
            </a:pPr>
            <a:r>
              <a:rPr lang="en-US" dirty="0"/>
              <a:t>It helps build </a:t>
            </a:r>
            <a:r>
              <a:rPr lang="en-US" b="1" dirty="0"/>
              <a:t>high-performance apps</a:t>
            </a:r>
            <a:r>
              <a:rPr lang="en-US" dirty="0"/>
              <a:t> for </a:t>
            </a:r>
            <a:r>
              <a:rPr lang="en-US" b="1" dirty="0"/>
              <a:t>iOS, Android, and Web</a:t>
            </a:r>
            <a:r>
              <a:rPr lang="en-US" dirty="0"/>
              <a:t> using one set of code</a:t>
            </a:r>
            <a:r>
              <a:rPr lang="en-US" dirty="0" smtClean="0"/>
              <a:t>.</a:t>
            </a:r>
          </a:p>
          <a:p>
            <a:endParaRPr lang="en-US" dirty="0"/>
          </a:p>
          <a:p>
            <a:r>
              <a:rPr lang="en-US" b="1" dirty="0"/>
              <a:t>Before Flutter</a:t>
            </a:r>
          </a:p>
          <a:p>
            <a:pPr marL="285750" indent="-285750">
              <a:buFont typeface="Arial" panose="020B0604020202020204" pitchFamily="34" charset="0"/>
              <a:buChar char="•"/>
            </a:pPr>
            <a:r>
              <a:rPr lang="en-US" dirty="0"/>
              <a:t>iOS apps were built with </a:t>
            </a:r>
            <a:r>
              <a:rPr lang="en-US" b="1" dirty="0"/>
              <a:t>Objective-C or Swift (</a:t>
            </a:r>
            <a:r>
              <a:rPr lang="en-US" b="1" dirty="0" err="1"/>
              <a:t>Xcode</a:t>
            </a:r>
            <a:r>
              <a:rPr lang="en-US" b="1" dirty="0"/>
              <a:t>)</a:t>
            </a:r>
            <a:r>
              <a:rPr lang="en-US" dirty="0"/>
              <a:t>.</a:t>
            </a:r>
          </a:p>
          <a:p>
            <a:pPr marL="285750" indent="-285750">
              <a:buFont typeface="Arial" panose="020B0604020202020204" pitchFamily="34" charset="0"/>
              <a:buChar char="•"/>
            </a:pPr>
            <a:r>
              <a:rPr lang="en-US" dirty="0"/>
              <a:t>Android apps were built with </a:t>
            </a:r>
            <a:r>
              <a:rPr lang="en-US" b="1" dirty="0"/>
              <a:t>Java or </a:t>
            </a:r>
            <a:r>
              <a:rPr lang="en-US" b="1" dirty="0" err="1"/>
              <a:t>Kotlin</a:t>
            </a:r>
            <a:r>
              <a:rPr lang="en-US" dirty="0"/>
              <a:t>.</a:t>
            </a:r>
          </a:p>
          <a:p>
            <a:pPr marL="285750" indent="-285750">
              <a:buFont typeface="Arial" panose="020B0604020202020204" pitchFamily="34" charset="0"/>
              <a:buChar char="•"/>
            </a:pPr>
            <a:r>
              <a:rPr lang="en-US" dirty="0"/>
              <a:t>Companies needed </a:t>
            </a:r>
            <a:r>
              <a:rPr lang="en-US" b="1" dirty="0"/>
              <a:t>separate teams</a:t>
            </a:r>
            <a:r>
              <a:rPr lang="en-US" dirty="0"/>
              <a:t> for iOS and Android.</a:t>
            </a:r>
          </a:p>
          <a:p>
            <a:pPr marL="285750" indent="-285750">
              <a:buFont typeface="Arial" panose="020B0604020202020204" pitchFamily="34" charset="0"/>
              <a:buChar char="•"/>
            </a:pPr>
            <a:r>
              <a:rPr lang="en-US" dirty="0"/>
              <a:t>Developers had to learn </a:t>
            </a:r>
            <a:r>
              <a:rPr lang="en-US" b="1" dirty="0"/>
              <a:t>multiple languages</a:t>
            </a:r>
            <a:r>
              <a:rPr lang="en-US" dirty="0"/>
              <a:t> for both platforms</a:t>
            </a:r>
            <a:r>
              <a:rPr lang="en-US" dirty="0" smtClean="0"/>
              <a:t>.</a:t>
            </a:r>
          </a:p>
          <a:p>
            <a:pPr marL="285750" indent="-285750">
              <a:buFont typeface="Arial" panose="020B0604020202020204" pitchFamily="34" charset="0"/>
              <a:buChar char="•"/>
            </a:pPr>
            <a:endParaRPr lang="en-US" dirty="0"/>
          </a:p>
          <a:p>
            <a:r>
              <a:rPr lang="en-US" b="1" dirty="0"/>
              <a:t>With Flutter</a:t>
            </a:r>
          </a:p>
          <a:p>
            <a:pPr marL="285750" indent="-285750">
              <a:buFont typeface="Arial" panose="020B0604020202020204" pitchFamily="34" charset="0"/>
              <a:buChar char="•"/>
            </a:pPr>
            <a:r>
              <a:rPr lang="en-US" dirty="0"/>
              <a:t>You can </a:t>
            </a:r>
            <a:r>
              <a:rPr lang="en-US" b="1" dirty="0"/>
              <a:t>write once and run anywhere</a:t>
            </a:r>
            <a:r>
              <a:rPr lang="en-US" dirty="0"/>
              <a:t> (Android &amp; iOS).</a:t>
            </a:r>
          </a:p>
          <a:p>
            <a:pPr marL="285750" indent="-285750">
              <a:buFont typeface="Arial" panose="020B0604020202020204" pitchFamily="34" charset="0"/>
              <a:buChar char="•"/>
            </a:pPr>
            <a:r>
              <a:rPr lang="en-US" dirty="0"/>
              <a:t>Apps can be </a:t>
            </a:r>
            <a:r>
              <a:rPr lang="en-US" b="1" dirty="0"/>
              <a:t>published on Google Play and Apple Store</a:t>
            </a:r>
            <a:r>
              <a:rPr lang="en-US" dirty="0"/>
              <a:t>.</a:t>
            </a:r>
          </a:p>
          <a:p>
            <a:pPr marL="285750" indent="-285750">
              <a:buFont typeface="Arial" panose="020B0604020202020204" pitchFamily="34" charset="0"/>
              <a:buChar char="•"/>
            </a:pPr>
            <a:r>
              <a:rPr lang="en-US" dirty="0"/>
              <a:t>Saves </a:t>
            </a:r>
            <a:r>
              <a:rPr lang="en-US" b="1" dirty="0"/>
              <a:t>time, cost, and effort</a:t>
            </a:r>
            <a:r>
              <a:rPr lang="en-US" dirty="0"/>
              <a:t> in development.</a:t>
            </a:r>
          </a:p>
          <a:p>
            <a:pPr marL="285750" indent="-285750">
              <a:buFont typeface="Arial" panose="020B0604020202020204" pitchFamily="34" charset="0"/>
              <a:buChar char="•"/>
            </a:pPr>
            <a:r>
              <a:rPr lang="en-US" dirty="0"/>
              <a:t>Works with </a:t>
            </a:r>
            <a:r>
              <a:rPr lang="en-US" b="1" dirty="0"/>
              <a:t>existing code</a:t>
            </a:r>
            <a:r>
              <a:rPr lang="en-US" dirty="0"/>
              <a:t> and is </a:t>
            </a:r>
            <a:r>
              <a:rPr lang="en-US" b="1" dirty="0"/>
              <a:t>free &amp; open source</a:t>
            </a:r>
            <a:r>
              <a:rPr lang="en-US" dirty="0"/>
              <a:t>.</a:t>
            </a:r>
          </a:p>
          <a:p>
            <a:pPr marL="285750" indent="-285750">
              <a:buFont typeface="Arial" panose="020B0604020202020204" pitchFamily="34" charset="0"/>
              <a:buChar char="•"/>
            </a:pPr>
            <a:r>
              <a:rPr lang="en-US" dirty="0"/>
              <a:t>Helps create </a:t>
            </a:r>
            <a:r>
              <a:rPr lang="en-US" b="1" dirty="0"/>
              <a:t>beautiful, fast, and modern</a:t>
            </a:r>
            <a:r>
              <a:rPr lang="en-US" dirty="0"/>
              <a:t> apps easily.</a:t>
            </a:r>
          </a:p>
          <a:p>
            <a:pPr marL="285750" indent="-285750">
              <a:buFont typeface="Arial" panose="020B0604020202020204" pitchFamily="34" charset="0"/>
              <a:buChar char="•"/>
            </a:pPr>
            <a:endParaRPr lang="en-US" dirty="0"/>
          </a:p>
          <a:p>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492836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4</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2. </a:t>
            </a:r>
            <a:r>
              <a:rPr lang="en-US" dirty="0"/>
              <a:t>Flutter Framework</a:t>
            </a:r>
            <a:br>
              <a:rPr lang="en-US" dirty="0"/>
            </a:br>
            <a:endParaRPr lang="en-US" cap="none" dirty="0">
              <a:solidFill>
                <a:srgbClr val="FF0000"/>
              </a:solidFill>
            </a:endParaRPr>
          </a:p>
        </p:txBody>
      </p:sp>
      <p:sp>
        <p:nvSpPr>
          <p:cNvPr id="3" name="Rectangle 2"/>
          <p:cNvSpPr/>
          <p:nvPr/>
        </p:nvSpPr>
        <p:spPr>
          <a:xfrm>
            <a:off x="583336" y="1115282"/>
            <a:ext cx="9163979" cy="646331"/>
          </a:xfrm>
          <a:prstGeom prst="rect">
            <a:avLst/>
          </a:prstGeom>
        </p:spPr>
        <p:txBody>
          <a:bodyPr wrap="square">
            <a:spAutoFit/>
          </a:bodyPr>
          <a:lstStyle/>
          <a:p>
            <a:r>
              <a:rPr lang="en-US" dirty="0"/>
              <a:t>The Flutter framework is built in multiple layers, where each layer is built upon the one below it. These layers work together to create beautiful, fast, and flexible apps.</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8" name="Google Shape;230;p31"/>
          <p:cNvPicPr preferRelativeResize="0"/>
          <p:nvPr/>
        </p:nvPicPr>
        <p:blipFill rotWithShape="1">
          <a:blip r:embed="rId4">
            <a:alphaModFix/>
          </a:blip>
          <a:srcRect/>
          <a:stretch/>
        </p:blipFill>
        <p:spPr>
          <a:xfrm>
            <a:off x="6165130" y="1974912"/>
            <a:ext cx="5787033" cy="3520914"/>
          </a:xfrm>
          <a:prstGeom prst="rect">
            <a:avLst/>
          </a:prstGeom>
          <a:noFill/>
          <a:ln>
            <a:noFill/>
          </a:ln>
        </p:spPr>
      </p:pic>
      <p:sp>
        <p:nvSpPr>
          <p:cNvPr id="6" name="Rectangle 5"/>
          <p:cNvSpPr/>
          <p:nvPr/>
        </p:nvSpPr>
        <p:spPr>
          <a:xfrm>
            <a:off x="583336" y="2378925"/>
            <a:ext cx="5261283" cy="2308324"/>
          </a:xfrm>
          <a:prstGeom prst="rect">
            <a:avLst/>
          </a:prstGeom>
        </p:spPr>
        <p:txBody>
          <a:bodyPr wrap="square">
            <a:spAutoFit/>
          </a:bodyPr>
          <a:lstStyle/>
          <a:p>
            <a:r>
              <a:rPr lang="en-US" b="1" dirty="0"/>
              <a:t>Layered Structure</a:t>
            </a:r>
          </a:p>
          <a:p>
            <a:pPr marL="342900" indent="-342900">
              <a:buFont typeface="+mj-lt"/>
              <a:buAutoNum type="arabicPeriod"/>
            </a:pPr>
            <a:r>
              <a:rPr lang="en-US" b="1" dirty="0"/>
              <a:t>Framework Layer</a:t>
            </a:r>
            <a:r>
              <a:rPr lang="en-US" dirty="0"/>
              <a:t> – Contains the </a:t>
            </a:r>
            <a:r>
              <a:rPr lang="en-US" b="1" dirty="0"/>
              <a:t>widgets</a:t>
            </a:r>
            <a:r>
              <a:rPr lang="en-US" dirty="0"/>
              <a:t>, </a:t>
            </a:r>
            <a:r>
              <a:rPr lang="en-US" b="1" dirty="0"/>
              <a:t>rendering</a:t>
            </a:r>
            <a:r>
              <a:rPr lang="en-US" dirty="0"/>
              <a:t>, and </a:t>
            </a:r>
            <a:r>
              <a:rPr lang="en-US" b="1" dirty="0"/>
              <a:t>animation</a:t>
            </a:r>
            <a:r>
              <a:rPr lang="en-US" dirty="0"/>
              <a:t> libraries.</a:t>
            </a:r>
          </a:p>
          <a:p>
            <a:pPr marL="342900" indent="-342900">
              <a:buFont typeface="+mj-lt"/>
              <a:buAutoNum type="arabicPeriod"/>
            </a:pPr>
            <a:r>
              <a:rPr lang="en-US" b="1" dirty="0"/>
              <a:t>Engine Layer</a:t>
            </a:r>
            <a:r>
              <a:rPr lang="en-US" dirty="0"/>
              <a:t> – Written in C++, it provides </a:t>
            </a:r>
            <a:r>
              <a:rPr lang="en-US" b="1" dirty="0"/>
              <a:t>graphics rendering (</a:t>
            </a:r>
            <a:r>
              <a:rPr lang="en-US" b="1" dirty="0" err="1"/>
              <a:t>Skia</a:t>
            </a:r>
            <a:r>
              <a:rPr lang="en-US" b="1" dirty="0"/>
              <a:t>)</a:t>
            </a:r>
            <a:r>
              <a:rPr lang="en-US" dirty="0"/>
              <a:t>, text layout, and low-level APIs.</a:t>
            </a:r>
          </a:p>
          <a:p>
            <a:pPr marL="342900" indent="-342900">
              <a:buFont typeface="+mj-lt"/>
              <a:buAutoNum type="arabicPeriod"/>
            </a:pPr>
            <a:r>
              <a:rPr lang="en-US" b="1" dirty="0"/>
              <a:t>Embedder Layer</a:t>
            </a:r>
            <a:r>
              <a:rPr lang="en-US" dirty="0"/>
              <a:t> – Integrates Flutter into </a:t>
            </a:r>
            <a:r>
              <a:rPr lang="en-US" b="1" dirty="0"/>
              <a:t>iOS, Android, Web, or Desktop</a:t>
            </a:r>
            <a:r>
              <a:rPr lang="en-US" dirty="0"/>
              <a:t> platforms.</a:t>
            </a:r>
          </a:p>
        </p:txBody>
      </p:sp>
    </p:spTree>
    <p:extLst>
      <p:ext uri="{BB962C8B-B14F-4D97-AF65-F5344CB8AC3E}">
        <p14:creationId xmlns:p14="http://schemas.microsoft.com/office/powerpoint/2010/main" val="2171148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5</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2. </a:t>
            </a:r>
            <a:r>
              <a:rPr lang="en-US" dirty="0"/>
              <a:t>Flutter Framework</a:t>
            </a:r>
            <a:br>
              <a:rPr lang="en-US" dirty="0"/>
            </a:br>
            <a:endParaRPr lang="en-US" cap="none" dirty="0">
              <a:solidFill>
                <a:srgbClr val="FF0000"/>
              </a:solidFill>
            </a:endParaRPr>
          </a:p>
        </p:txBody>
      </p:sp>
      <p:sp>
        <p:nvSpPr>
          <p:cNvPr id="3" name="Rectangle 2"/>
          <p:cNvSpPr/>
          <p:nvPr/>
        </p:nvSpPr>
        <p:spPr>
          <a:xfrm>
            <a:off x="583336" y="1115282"/>
            <a:ext cx="9163979" cy="369332"/>
          </a:xfrm>
          <a:prstGeom prst="rect">
            <a:avLst/>
          </a:prstGeom>
        </p:spPr>
        <p:txBody>
          <a:bodyPr wrap="square">
            <a:spAutoFit/>
          </a:bodyPr>
          <a:lstStyle/>
          <a:p>
            <a:r>
              <a:rPr lang="en-US" dirty="0" smtClean="0"/>
              <a:t>Install flutter</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583336" y="2378925"/>
            <a:ext cx="5261283" cy="369332"/>
          </a:xfrm>
          <a:prstGeom prst="rect">
            <a:avLst/>
          </a:prstGeom>
        </p:spPr>
        <p:txBody>
          <a:bodyPr wrap="square">
            <a:spAutoFit/>
          </a:bodyPr>
          <a:lstStyle/>
          <a:p>
            <a:r>
              <a:rPr lang="en-US" b="1" dirty="0" smtClean="0"/>
              <a:t>Click Here: </a:t>
            </a:r>
            <a:r>
              <a:rPr lang="en-US" b="1" dirty="0" smtClean="0">
                <a:hlinkClick r:id="rId4"/>
              </a:rPr>
              <a:t>https://docs.flutter.dev/install/manual</a:t>
            </a:r>
            <a:endParaRPr lang="en-US" dirty="0"/>
          </a:p>
        </p:txBody>
      </p:sp>
      <p:pic>
        <p:nvPicPr>
          <p:cNvPr id="4" name="Picture 3"/>
          <p:cNvPicPr>
            <a:picLocks noChangeAspect="1"/>
          </p:cNvPicPr>
          <p:nvPr/>
        </p:nvPicPr>
        <p:blipFill>
          <a:blip r:embed="rId5"/>
          <a:stretch>
            <a:fillRect/>
          </a:stretch>
        </p:blipFill>
        <p:spPr>
          <a:xfrm>
            <a:off x="1709173" y="2975514"/>
            <a:ext cx="7321926" cy="3225966"/>
          </a:xfrm>
          <a:prstGeom prst="rect">
            <a:avLst/>
          </a:prstGeom>
        </p:spPr>
      </p:pic>
    </p:spTree>
    <p:extLst>
      <p:ext uri="{BB962C8B-B14F-4D97-AF65-F5344CB8AC3E}">
        <p14:creationId xmlns:p14="http://schemas.microsoft.com/office/powerpoint/2010/main" val="3071214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6</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a:t>3</a:t>
            </a:r>
            <a:r>
              <a:rPr lang="en-US" cap="none" dirty="0" smtClean="0"/>
              <a:t>. </a:t>
            </a:r>
            <a:r>
              <a:rPr lang="en-US" dirty="0"/>
              <a:t>Android Studio</a:t>
            </a:r>
            <a:br>
              <a:rPr lang="en-US" dirty="0"/>
            </a:br>
            <a:r>
              <a:rPr lang="en-US" dirty="0"/>
              <a:t/>
            </a:r>
            <a:br>
              <a:rPr lang="en-US" dirty="0"/>
            </a:br>
            <a:endParaRPr lang="en-US" cap="none" dirty="0">
              <a:solidFill>
                <a:srgbClr val="FF0000"/>
              </a:solidFill>
            </a:endParaRPr>
          </a:p>
        </p:txBody>
      </p:sp>
      <p:sp>
        <p:nvSpPr>
          <p:cNvPr id="3" name="Rectangle 2"/>
          <p:cNvSpPr/>
          <p:nvPr/>
        </p:nvSpPr>
        <p:spPr>
          <a:xfrm>
            <a:off x="583336" y="1115282"/>
            <a:ext cx="9163979" cy="702372"/>
          </a:xfrm>
          <a:prstGeom prst="rect">
            <a:avLst/>
          </a:prstGeom>
        </p:spPr>
        <p:txBody>
          <a:bodyPr wrap="square">
            <a:spAutoFit/>
          </a:bodyPr>
          <a:lstStyle/>
          <a:p>
            <a:pPr marR="163195" lvl="0">
              <a:lnSpc>
                <a:spcPct val="115000"/>
              </a:lnSpc>
              <a:spcBef>
                <a:spcPts val="1000"/>
              </a:spcBef>
            </a:pPr>
            <a:r>
              <a:rPr lang="en-US" dirty="0">
                <a:solidFill>
                  <a:srgbClr val="222222"/>
                </a:solidFill>
                <a:ea typeface="Arial"/>
                <a:cs typeface="Arial"/>
                <a:sym typeface="Arial"/>
              </a:rPr>
              <a:t>Android Studio is the official Integrated Development Environment (IDE) for Android app development, based on IntelliJ IDEA .</a:t>
            </a:r>
            <a:endParaRPr lang="en-US" dirty="0">
              <a:solidFill>
                <a:srgbClr val="222222"/>
              </a:solidFill>
              <a:ea typeface="Arial"/>
              <a:cs typeface="Arial"/>
              <a:sym typeface="Aria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583336" y="2378925"/>
            <a:ext cx="5261283" cy="1200329"/>
          </a:xfrm>
          <a:prstGeom prst="rect">
            <a:avLst/>
          </a:prstGeom>
        </p:spPr>
        <p:txBody>
          <a:bodyPr wrap="square">
            <a:spAutoFit/>
          </a:bodyPr>
          <a:lstStyle/>
          <a:p>
            <a:r>
              <a:rPr lang="en-US" b="1" dirty="0" smtClean="0"/>
              <a:t>Install android studio:</a:t>
            </a:r>
          </a:p>
          <a:p>
            <a:endParaRPr lang="en-US" b="1" dirty="0"/>
          </a:p>
          <a:p>
            <a:r>
              <a:rPr lang="en-US" b="1" dirty="0" smtClean="0"/>
              <a:t>Click this link: </a:t>
            </a:r>
            <a:r>
              <a:rPr lang="en-US" b="1" dirty="0" smtClean="0">
                <a:hlinkClick r:id="rId4"/>
              </a:rPr>
              <a:t>https://developer.android.com/studio</a:t>
            </a:r>
            <a:endParaRPr lang="en-US" dirty="0"/>
          </a:p>
        </p:txBody>
      </p:sp>
      <p:pic>
        <p:nvPicPr>
          <p:cNvPr id="4" name="Picture 3"/>
          <p:cNvPicPr>
            <a:picLocks noChangeAspect="1"/>
          </p:cNvPicPr>
          <p:nvPr/>
        </p:nvPicPr>
        <p:blipFill>
          <a:blip r:embed="rId5"/>
          <a:stretch>
            <a:fillRect/>
          </a:stretch>
        </p:blipFill>
        <p:spPr>
          <a:xfrm>
            <a:off x="428689" y="3963105"/>
            <a:ext cx="11297231" cy="18352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790277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7</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a:t>3</a:t>
            </a:r>
            <a:r>
              <a:rPr lang="en-US" cap="none" dirty="0" smtClean="0"/>
              <a:t>. </a:t>
            </a:r>
            <a:r>
              <a:rPr lang="en-US" dirty="0"/>
              <a:t>Android Studio</a:t>
            </a:r>
            <a:br>
              <a:rPr lang="en-US" dirty="0"/>
            </a:br>
            <a:r>
              <a:rPr lang="en-US" dirty="0"/>
              <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687031" y="1469418"/>
            <a:ext cx="5261283" cy="3139321"/>
          </a:xfrm>
          <a:prstGeom prst="rect">
            <a:avLst/>
          </a:prstGeom>
        </p:spPr>
        <p:txBody>
          <a:bodyPr wrap="square">
            <a:spAutoFit/>
          </a:bodyPr>
          <a:lstStyle/>
          <a:p>
            <a:r>
              <a:rPr lang="en-US" dirty="0" smtClean="0"/>
              <a:t>Step -1: </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Step – 2: </a:t>
            </a:r>
            <a:endParaRPr lang="en-US" dirty="0"/>
          </a:p>
        </p:txBody>
      </p:sp>
      <p:pic>
        <p:nvPicPr>
          <p:cNvPr id="5" name="Picture 4"/>
          <p:cNvPicPr>
            <a:picLocks noChangeAspect="1"/>
          </p:cNvPicPr>
          <p:nvPr/>
        </p:nvPicPr>
        <p:blipFill>
          <a:blip r:embed="rId4"/>
          <a:stretch>
            <a:fillRect/>
          </a:stretch>
        </p:blipFill>
        <p:spPr>
          <a:xfrm>
            <a:off x="3240408" y="1239228"/>
            <a:ext cx="3265591" cy="24601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a:blip r:embed="rId5"/>
          <a:stretch>
            <a:fillRect/>
          </a:stretch>
        </p:blipFill>
        <p:spPr>
          <a:xfrm>
            <a:off x="3240408" y="4006273"/>
            <a:ext cx="3338676" cy="25392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95801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8</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a:t>3</a:t>
            </a:r>
            <a:r>
              <a:rPr lang="en-US" cap="none" dirty="0" smtClean="0"/>
              <a:t>. </a:t>
            </a:r>
            <a:r>
              <a:rPr lang="en-US" dirty="0"/>
              <a:t>Android Studio</a:t>
            </a:r>
            <a:br>
              <a:rPr lang="en-US" dirty="0"/>
            </a:br>
            <a:r>
              <a:rPr lang="en-US" dirty="0"/>
              <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687031" y="1469418"/>
            <a:ext cx="5261283" cy="3139321"/>
          </a:xfrm>
          <a:prstGeom prst="rect">
            <a:avLst/>
          </a:prstGeom>
        </p:spPr>
        <p:txBody>
          <a:bodyPr wrap="square">
            <a:spAutoFit/>
          </a:bodyPr>
          <a:lstStyle/>
          <a:p>
            <a:r>
              <a:rPr lang="en-US" dirty="0" smtClean="0"/>
              <a:t>Step - 3: </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Step – 4: </a:t>
            </a:r>
            <a:endParaRPr lang="en-US" dirty="0"/>
          </a:p>
        </p:txBody>
      </p:sp>
      <p:pic>
        <p:nvPicPr>
          <p:cNvPr id="3" name="Picture 2"/>
          <p:cNvPicPr>
            <a:picLocks noChangeAspect="1"/>
          </p:cNvPicPr>
          <p:nvPr/>
        </p:nvPicPr>
        <p:blipFill>
          <a:blip r:embed="rId4"/>
          <a:stretch>
            <a:fillRect/>
          </a:stretch>
        </p:blipFill>
        <p:spPr>
          <a:xfrm>
            <a:off x="3317672" y="1182124"/>
            <a:ext cx="3197803" cy="24387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5"/>
          <a:stretch>
            <a:fillRect/>
          </a:stretch>
        </p:blipFill>
        <p:spPr>
          <a:xfrm>
            <a:off x="3005194" y="3772649"/>
            <a:ext cx="3822757" cy="2903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885222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9</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a:t>3</a:t>
            </a:r>
            <a:r>
              <a:rPr lang="en-US" cap="none" dirty="0" smtClean="0"/>
              <a:t>. </a:t>
            </a:r>
            <a:r>
              <a:rPr lang="en-US" dirty="0"/>
              <a:t>Android Studio</a:t>
            </a:r>
            <a:br>
              <a:rPr lang="en-US" dirty="0"/>
            </a:br>
            <a:r>
              <a:rPr lang="en-US" dirty="0"/>
              <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687031" y="1469418"/>
            <a:ext cx="5261283" cy="1200329"/>
          </a:xfrm>
          <a:prstGeom prst="rect">
            <a:avLst/>
          </a:prstGeom>
        </p:spPr>
        <p:txBody>
          <a:bodyPr wrap="square">
            <a:spAutoFit/>
          </a:bodyPr>
          <a:lstStyle/>
          <a:p>
            <a:r>
              <a:rPr lang="en-US" dirty="0" smtClean="0"/>
              <a:t>Step - 5: 																		</a:t>
            </a:r>
          </a:p>
        </p:txBody>
      </p:sp>
      <p:pic>
        <p:nvPicPr>
          <p:cNvPr id="5" name="Picture 4"/>
          <p:cNvPicPr>
            <a:picLocks noChangeAspect="1"/>
          </p:cNvPicPr>
          <p:nvPr/>
        </p:nvPicPr>
        <p:blipFill>
          <a:blip r:embed="rId4"/>
          <a:stretch>
            <a:fillRect/>
          </a:stretch>
        </p:blipFill>
        <p:spPr>
          <a:xfrm>
            <a:off x="687031" y="2149834"/>
            <a:ext cx="4125439" cy="2757466"/>
          </a:xfrm>
          <a:prstGeom prst="rect">
            <a:avLst/>
          </a:prstGeom>
        </p:spPr>
      </p:pic>
      <p:pic>
        <p:nvPicPr>
          <p:cNvPr id="7" name="Picture 6"/>
          <p:cNvPicPr>
            <a:picLocks noChangeAspect="1"/>
          </p:cNvPicPr>
          <p:nvPr/>
        </p:nvPicPr>
        <p:blipFill>
          <a:blip r:embed="rId5"/>
          <a:stretch>
            <a:fillRect/>
          </a:stretch>
        </p:blipFill>
        <p:spPr>
          <a:xfrm>
            <a:off x="6017653" y="2149834"/>
            <a:ext cx="4128079" cy="2787469"/>
          </a:xfrm>
          <a:prstGeom prst="rect">
            <a:avLst/>
          </a:prstGeom>
        </p:spPr>
      </p:pic>
      <p:sp>
        <p:nvSpPr>
          <p:cNvPr id="8" name="TextBox 7"/>
          <p:cNvSpPr txBox="1"/>
          <p:nvPr/>
        </p:nvSpPr>
        <p:spPr>
          <a:xfrm>
            <a:off x="6017653" y="1422088"/>
            <a:ext cx="1024639" cy="646331"/>
          </a:xfrm>
          <a:prstGeom prst="rect">
            <a:avLst/>
          </a:prstGeom>
          <a:noFill/>
        </p:spPr>
        <p:txBody>
          <a:bodyPr wrap="none" rtlCol="0">
            <a:spAutoFit/>
          </a:bodyPr>
          <a:lstStyle/>
          <a:p>
            <a:r>
              <a:rPr lang="en-US" dirty="0"/>
              <a:t>Step </a:t>
            </a:r>
            <a:r>
              <a:rPr lang="en-US" dirty="0" smtClean="0"/>
              <a:t>- 6: </a:t>
            </a:r>
            <a:endParaRPr lang="en-US" dirty="0"/>
          </a:p>
          <a:p>
            <a:endParaRPr lang="en-US" dirty="0"/>
          </a:p>
        </p:txBody>
      </p:sp>
    </p:spTree>
    <p:extLst>
      <p:ext uri="{BB962C8B-B14F-4D97-AF65-F5344CB8AC3E}">
        <p14:creationId xmlns:p14="http://schemas.microsoft.com/office/powerpoint/2010/main" val="27118172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10</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a:t>3</a:t>
            </a:r>
            <a:r>
              <a:rPr lang="en-US" cap="none" dirty="0" smtClean="0"/>
              <a:t>. </a:t>
            </a:r>
            <a:r>
              <a:rPr lang="en-US" dirty="0"/>
              <a:t>Android Studio</a:t>
            </a:r>
            <a:br>
              <a:rPr lang="en-US" dirty="0"/>
            </a:br>
            <a:r>
              <a:rPr lang="en-US" dirty="0"/>
              <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687031" y="1469418"/>
            <a:ext cx="5261283" cy="1200329"/>
          </a:xfrm>
          <a:prstGeom prst="rect">
            <a:avLst/>
          </a:prstGeom>
        </p:spPr>
        <p:txBody>
          <a:bodyPr wrap="square">
            <a:spAutoFit/>
          </a:bodyPr>
          <a:lstStyle/>
          <a:p>
            <a:r>
              <a:rPr lang="en-US" dirty="0" smtClean="0"/>
              <a:t>Step - 7: 																		</a:t>
            </a:r>
          </a:p>
        </p:txBody>
      </p:sp>
      <p:sp>
        <p:nvSpPr>
          <p:cNvPr id="8" name="TextBox 7"/>
          <p:cNvSpPr txBox="1"/>
          <p:nvPr/>
        </p:nvSpPr>
        <p:spPr>
          <a:xfrm>
            <a:off x="6017653" y="1422088"/>
            <a:ext cx="1024639" cy="646331"/>
          </a:xfrm>
          <a:prstGeom prst="rect">
            <a:avLst/>
          </a:prstGeom>
          <a:noFill/>
        </p:spPr>
        <p:txBody>
          <a:bodyPr wrap="none" rtlCol="0">
            <a:spAutoFit/>
          </a:bodyPr>
          <a:lstStyle/>
          <a:p>
            <a:r>
              <a:rPr lang="en-US" dirty="0"/>
              <a:t>Step </a:t>
            </a:r>
            <a:r>
              <a:rPr lang="en-US" dirty="0" smtClean="0"/>
              <a:t>- 8: </a:t>
            </a:r>
            <a:endParaRPr lang="en-US" dirty="0"/>
          </a:p>
          <a:p>
            <a:endParaRPr lang="en-US" dirty="0"/>
          </a:p>
        </p:txBody>
      </p:sp>
      <p:pic>
        <p:nvPicPr>
          <p:cNvPr id="3" name="Picture 2"/>
          <p:cNvPicPr>
            <a:picLocks noChangeAspect="1"/>
          </p:cNvPicPr>
          <p:nvPr/>
        </p:nvPicPr>
        <p:blipFill>
          <a:blip r:embed="rId4"/>
          <a:stretch>
            <a:fillRect/>
          </a:stretch>
        </p:blipFill>
        <p:spPr>
          <a:xfrm>
            <a:off x="440357" y="2068419"/>
            <a:ext cx="5333191" cy="3617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5"/>
          <a:stretch>
            <a:fillRect/>
          </a:stretch>
        </p:blipFill>
        <p:spPr>
          <a:xfrm>
            <a:off x="6080453" y="2068419"/>
            <a:ext cx="5407527" cy="3617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811916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11</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a:t>3</a:t>
            </a:r>
            <a:r>
              <a:rPr lang="en-US" cap="none" dirty="0" smtClean="0"/>
              <a:t>. </a:t>
            </a:r>
            <a:r>
              <a:rPr lang="en-US" dirty="0"/>
              <a:t>Android Studio</a:t>
            </a:r>
            <a:br>
              <a:rPr lang="en-US" dirty="0"/>
            </a:br>
            <a:r>
              <a:rPr lang="en-US" dirty="0"/>
              <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687031" y="1469418"/>
            <a:ext cx="5261283" cy="1200329"/>
          </a:xfrm>
          <a:prstGeom prst="rect">
            <a:avLst/>
          </a:prstGeom>
        </p:spPr>
        <p:txBody>
          <a:bodyPr wrap="square">
            <a:spAutoFit/>
          </a:bodyPr>
          <a:lstStyle/>
          <a:p>
            <a:r>
              <a:rPr lang="en-US" dirty="0" smtClean="0"/>
              <a:t>Step - 9: 																		</a:t>
            </a:r>
          </a:p>
        </p:txBody>
      </p:sp>
      <p:sp>
        <p:nvSpPr>
          <p:cNvPr id="8" name="TextBox 7"/>
          <p:cNvSpPr txBox="1"/>
          <p:nvPr/>
        </p:nvSpPr>
        <p:spPr>
          <a:xfrm>
            <a:off x="6017653" y="1422088"/>
            <a:ext cx="1140056" cy="646331"/>
          </a:xfrm>
          <a:prstGeom prst="rect">
            <a:avLst/>
          </a:prstGeom>
          <a:noFill/>
        </p:spPr>
        <p:txBody>
          <a:bodyPr wrap="none" rtlCol="0">
            <a:spAutoFit/>
          </a:bodyPr>
          <a:lstStyle/>
          <a:p>
            <a:r>
              <a:rPr lang="en-US" dirty="0"/>
              <a:t>Step </a:t>
            </a:r>
            <a:r>
              <a:rPr lang="en-US" smtClean="0"/>
              <a:t>- 10: </a:t>
            </a:r>
            <a:endParaRPr lang="en-US" dirty="0"/>
          </a:p>
          <a:p>
            <a:endParaRPr lang="en-US" dirty="0"/>
          </a:p>
        </p:txBody>
      </p:sp>
      <p:pic>
        <p:nvPicPr>
          <p:cNvPr id="5" name="Picture 4"/>
          <p:cNvPicPr>
            <a:picLocks noChangeAspect="1"/>
          </p:cNvPicPr>
          <p:nvPr/>
        </p:nvPicPr>
        <p:blipFill>
          <a:blip r:embed="rId4"/>
          <a:stretch>
            <a:fillRect/>
          </a:stretch>
        </p:blipFill>
        <p:spPr>
          <a:xfrm>
            <a:off x="516674" y="1996770"/>
            <a:ext cx="5601995" cy="3789960"/>
          </a:xfrm>
          <a:prstGeom prst="rect">
            <a:avLst/>
          </a:prstGeom>
        </p:spPr>
      </p:pic>
      <p:pic>
        <p:nvPicPr>
          <p:cNvPr id="7" name="Picture 6"/>
          <p:cNvPicPr>
            <a:picLocks noChangeAspect="1"/>
          </p:cNvPicPr>
          <p:nvPr/>
        </p:nvPicPr>
        <p:blipFill>
          <a:blip r:embed="rId5"/>
          <a:stretch>
            <a:fillRect/>
          </a:stretch>
        </p:blipFill>
        <p:spPr>
          <a:xfrm>
            <a:off x="6289026" y="1996770"/>
            <a:ext cx="5594790" cy="3777535"/>
          </a:xfrm>
          <a:prstGeom prst="rect">
            <a:avLst/>
          </a:prstGeom>
        </p:spPr>
      </p:pic>
    </p:spTree>
    <p:extLst>
      <p:ext uri="{BB962C8B-B14F-4D97-AF65-F5344CB8AC3E}">
        <p14:creationId xmlns:p14="http://schemas.microsoft.com/office/powerpoint/2010/main" val="24027565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12</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smtClean="0"/>
              <a:t>4. </a:t>
            </a:r>
            <a:r>
              <a:rPr lang="en-US" dirty="0"/>
              <a:t>Setup an Android Device</a:t>
            </a:r>
            <a:r>
              <a:rPr lang="en-US" dirty="0"/>
              <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687031" y="1469418"/>
            <a:ext cx="5261283" cy="1200329"/>
          </a:xfrm>
          <a:prstGeom prst="rect">
            <a:avLst/>
          </a:prstGeom>
        </p:spPr>
        <p:txBody>
          <a:bodyPr wrap="square">
            <a:spAutoFit/>
          </a:bodyPr>
          <a:lstStyle/>
          <a:p>
            <a:r>
              <a:rPr lang="en-US" dirty="0" smtClean="0"/>
              <a:t>Open the android studio																		</a:t>
            </a:r>
          </a:p>
        </p:txBody>
      </p:sp>
      <p:sp>
        <p:nvSpPr>
          <p:cNvPr id="8" name="TextBox 7"/>
          <p:cNvSpPr txBox="1"/>
          <p:nvPr/>
        </p:nvSpPr>
        <p:spPr>
          <a:xfrm>
            <a:off x="6017653" y="1422088"/>
            <a:ext cx="1178528" cy="369332"/>
          </a:xfrm>
          <a:prstGeom prst="rect">
            <a:avLst/>
          </a:prstGeom>
          <a:noFill/>
        </p:spPr>
        <p:txBody>
          <a:bodyPr wrap="none" rtlCol="0">
            <a:spAutoFit/>
          </a:bodyPr>
          <a:lstStyle/>
          <a:p>
            <a:r>
              <a:rPr lang="en-US" dirty="0" smtClean="0"/>
              <a:t>Install dart</a:t>
            </a:r>
            <a:endParaRPr lang="en-US" dirty="0"/>
          </a:p>
        </p:txBody>
      </p:sp>
      <p:pic>
        <p:nvPicPr>
          <p:cNvPr id="4" name="Picture 3"/>
          <p:cNvPicPr>
            <a:picLocks noChangeAspect="1"/>
          </p:cNvPicPr>
          <p:nvPr/>
        </p:nvPicPr>
        <p:blipFill>
          <a:blip r:embed="rId4"/>
          <a:stretch>
            <a:fillRect/>
          </a:stretch>
        </p:blipFill>
        <p:spPr>
          <a:xfrm>
            <a:off x="761413" y="2158619"/>
            <a:ext cx="5045292" cy="4161157"/>
          </a:xfrm>
          <a:prstGeom prst="rect">
            <a:avLst/>
          </a:prstGeom>
        </p:spPr>
      </p:pic>
      <p:pic>
        <p:nvPicPr>
          <p:cNvPr id="13" name="Picture 12"/>
          <p:cNvPicPr>
            <a:picLocks noChangeAspect="1"/>
          </p:cNvPicPr>
          <p:nvPr/>
        </p:nvPicPr>
        <p:blipFill>
          <a:blip r:embed="rId5"/>
          <a:stretch>
            <a:fillRect/>
          </a:stretch>
        </p:blipFill>
        <p:spPr>
          <a:xfrm>
            <a:off x="5926622" y="2158618"/>
            <a:ext cx="5074581" cy="4161157"/>
          </a:xfrm>
          <a:prstGeom prst="rect">
            <a:avLst/>
          </a:prstGeom>
        </p:spPr>
      </p:pic>
    </p:spTree>
    <p:extLst>
      <p:ext uri="{BB962C8B-B14F-4D97-AF65-F5344CB8AC3E}">
        <p14:creationId xmlns:p14="http://schemas.microsoft.com/office/powerpoint/2010/main" val="22711733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13</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smtClean="0"/>
              <a:t>4. </a:t>
            </a:r>
            <a:r>
              <a:rPr lang="en-US" dirty="0"/>
              <a:t>Setup an Android Device</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687031" y="1469418"/>
            <a:ext cx="5261283" cy="369332"/>
          </a:xfrm>
          <a:prstGeom prst="rect">
            <a:avLst/>
          </a:prstGeom>
        </p:spPr>
        <p:txBody>
          <a:bodyPr wrap="square">
            <a:spAutoFit/>
          </a:bodyPr>
          <a:lstStyle/>
          <a:p>
            <a:r>
              <a:rPr lang="en-US" dirty="0" smtClean="0"/>
              <a:t>Install flutter</a:t>
            </a:r>
          </a:p>
        </p:txBody>
      </p:sp>
      <p:sp>
        <p:nvSpPr>
          <p:cNvPr id="8" name="TextBox 7"/>
          <p:cNvSpPr txBox="1"/>
          <p:nvPr/>
        </p:nvSpPr>
        <p:spPr>
          <a:xfrm>
            <a:off x="6017653" y="1422088"/>
            <a:ext cx="1838965" cy="369332"/>
          </a:xfrm>
          <a:prstGeom prst="rect">
            <a:avLst/>
          </a:prstGeom>
          <a:noFill/>
        </p:spPr>
        <p:txBody>
          <a:bodyPr wrap="none" rtlCol="0">
            <a:spAutoFit/>
          </a:bodyPr>
          <a:lstStyle/>
          <a:p>
            <a:r>
              <a:rPr lang="en-US" dirty="0" smtClean="0"/>
              <a:t>Click Restart IDE</a:t>
            </a:r>
            <a:endParaRPr lang="en-US" dirty="0"/>
          </a:p>
        </p:txBody>
      </p:sp>
      <p:pic>
        <p:nvPicPr>
          <p:cNvPr id="11" name="Picture 10"/>
          <p:cNvPicPr>
            <a:picLocks noChangeAspect="1"/>
          </p:cNvPicPr>
          <p:nvPr/>
        </p:nvPicPr>
        <p:blipFill>
          <a:blip r:embed="rId4"/>
          <a:stretch>
            <a:fillRect/>
          </a:stretch>
        </p:blipFill>
        <p:spPr>
          <a:xfrm>
            <a:off x="687031" y="2227261"/>
            <a:ext cx="5016912" cy="4092516"/>
          </a:xfrm>
          <a:prstGeom prst="rect">
            <a:avLst/>
          </a:prstGeom>
        </p:spPr>
      </p:pic>
      <p:pic>
        <p:nvPicPr>
          <p:cNvPr id="5" name="Picture 4"/>
          <p:cNvPicPr>
            <a:picLocks noChangeAspect="1"/>
          </p:cNvPicPr>
          <p:nvPr/>
        </p:nvPicPr>
        <p:blipFill>
          <a:blip r:embed="rId5"/>
          <a:stretch>
            <a:fillRect/>
          </a:stretch>
        </p:blipFill>
        <p:spPr>
          <a:xfrm>
            <a:off x="6074940" y="2227260"/>
            <a:ext cx="5208945" cy="4052901"/>
          </a:xfrm>
          <a:prstGeom prst="rect">
            <a:avLst/>
          </a:prstGeom>
        </p:spPr>
      </p:pic>
    </p:spTree>
    <p:extLst>
      <p:ext uri="{BB962C8B-B14F-4D97-AF65-F5344CB8AC3E}">
        <p14:creationId xmlns:p14="http://schemas.microsoft.com/office/powerpoint/2010/main" val="7915382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14</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smtClean="0"/>
              <a:t>4. </a:t>
            </a:r>
            <a:r>
              <a:rPr lang="en-US" dirty="0"/>
              <a:t>Setup an Android Device</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38240" y="1422088"/>
            <a:ext cx="5506379" cy="369332"/>
          </a:xfrm>
          <a:prstGeom prst="rect">
            <a:avLst/>
          </a:prstGeom>
        </p:spPr>
        <p:txBody>
          <a:bodyPr wrap="square">
            <a:spAutoFit/>
          </a:bodyPr>
          <a:lstStyle/>
          <a:p>
            <a:r>
              <a:rPr lang="en-US" dirty="0" smtClean="0"/>
              <a:t>Now we found a new option create New Flutter Project.</a:t>
            </a:r>
          </a:p>
        </p:txBody>
      </p:sp>
      <p:sp>
        <p:nvSpPr>
          <p:cNvPr id="8" name="TextBox 7"/>
          <p:cNvSpPr txBox="1"/>
          <p:nvPr/>
        </p:nvSpPr>
        <p:spPr>
          <a:xfrm>
            <a:off x="6017653" y="1422088"/>
            <a:ext cx="3884397" cy="369332"/>
          </a:xfrm>
          <a:prstGeom prst="rect">
            <a:avLst/>
          </a:prstGeom>
          <a:noFill/>
        </p:spPr>
        <p:txBody>
          <a:bodyPr wrap="none" rtlCol="0">
            <a:spAutoFit/>
          </a:bodyPr>
          <a:lstStyle/>
          <a:p>
            <a:r>
              <a:rPr lang="en-US" dirty="0" smtClean="0"/>
              <a:t>Chose flutter and set the flutter </a:t>
            </a:r>
            <a:r>
              <a:rPr lang="en-US" dirty="0" err="1" smtClean="0"/>
              <a:t>sdk</a:t>
            </a:r>
            <a:r>
              <a:rPr lang="en-US" dirty="0" smtClean="0"/>
              <a:t> path</a:t>
            </a:r>
            <a:endParaRPr lang="en-US" dirty="0"/>
          </a:p>
        </p:txBody>
      </p:sp>
      <p:pic>
        <p:nvPicPr>
          <p:cNvPr id="3" name="Picture 2"/>
          <p:cNvPicPr>
            <a:picLocks noChangeAspect="1"/>
          </p:cNvPicPr>
          <p:nvPr/>
        </p:nvPicPr>
        <p:blipFill>
          <a:blip r:embed="rId4"/>
          <a:stretch>
            <a:fillRect/>
          </a:stretch>
        </p:blipFill>
        <p:spPr>
          <a:xfrm>
            <a:off x="687031" y="2031067"/>
            <a:ext cx="4657744" cy="3822979"/>
          </a:xfrm>
          <a:prstGeom prst="rect">
            <a:avLst/>
          </a:prstGeom>
        </p:spPr>
      </p:pic>
      <p:pic>
        <p:nvPicPr>
          <p:cNvPr id="7" name="Picture 6"/>
          <p:cNvPicPr>
            <a:picLocks noChangeAspect="1"/>
          </p:cNvPicPr>
          <p:nvPr/>
        </p:nvPicPr>
        <p:blipFill>
          <a:blip r:embed="rId5"/>
          <a:stretch>
            <a:fillRect/>
          </a:stretch>
        </p:blipFill>
        <p:spPr>
          <a:xfrm>
            <a:off x="5938049" y="2031066"/>
            <a:ext cx="4601118" cy="3843379"/>
          </a:xfrm>
          <a:prstGeom prst="rect">
            <a:avLst/>
          </a:prstGeom>
        </p:spPr>
      </p:pic>
    </p:spTree>
    <p:extLst>
      <p:ext uri="{BB962C8B-B14F-4D97-AF65-F5344CB8AC3E}">
        <p14:creationId xmlns:p14="http://schemas.microsoft.com/office/powerpoint/2010/main" val="21798286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15</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smtClean="0"/>
              <a:t>4. </a:t>
            </a:r>
            <a:r>
              <a:rPr lang="en-US" dirty="0"/>
              <a:t>Setup an Android Device</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38240" y="1422088"/>
            <a:ext cx="5506379" cy="369332"/>
          </a:xfrm>
          <a:prstGeom prst="rect">
            <a:avLst/>
          </a:prstGeom>
        </p:spPr>
        <p:txBody>
          <a:bodyPr wrap="square">
            <a:spAutoFit/>
          </a:bodyPr>
          <a:lstStyle/>
          <a:p>
            <a:r>
              <a:rPr lang="en-US" dirty="0" smtClean="0"/>
              <a:t>Project overview</a:t>
            </a:r>
          </a:p>
        </p:txBody>
      </p:sp>
      <p:sp>
        <p:nvSpPr>
          <p:cNvPr id="8" name="TextBox 7"/>
          <p:cNvSpPr txBox="1"/>
          <p:nvPr/>
        </p:nvSpPr>
        <p:spPr>
          <a:xfrm>
            <a:off x="6017653" y="1422088"/>
            <a:ext cx="4617611" cy="369332"/>
          </a:xfrm>
          <a:prstGeom prst="rect">
            <a:avLst/>
          </a:prstGeom>
          <a:noFill/>
        </p:spPr>
        <p:txBody>
          <a:bodyPr wrap="none" rtlCol="0">
            <a:spAutoFit/>
          </a:bodyPr>
          <a:lstStyle/>
          <a:p>
            <a:r>
              <a:rPr lang="en-US" dirty="0" smtClean="0"/>
              <a:t>Organization: </a:t>
            </a:r>
            <a:r>
              <a:rPr lang="en-US" dirty="0" err="1" smtClean="0"/>
              <a:t>com.rhbgroup.rhbmobilebanking</a:t>
            </a:r>
            <a:endParaRPr lang="en-US" dirty="0"/>
          </a:p>
        </p:txBody>
      </p:sp>
      <p:pic>
        <p:nvPicPr>
          <p:cNvPr id="4" name="Picture 3"/>
          <p:cNvPicPr>
            <a:picLocks noChangeAspect="1"/>
          </p:cNvPicPr>
          <p:nvPr/>
        </p:nvPicPr>
        <p:blipFill>
          <a:blip r:embed="rId4"/>
          <a:stretch>
            <a:fillRect/>
          </a:stretch>
        </p:blipFill>
        <p:spPr>
          <a:xfrm>
            <a:off x="653470" y="1998085"/>
            <a:ext cx="4182481" cy="3600571"/>
          </a:xfrm>
          <a:prstGeom prst="rect">
            <a:avLst/>
          </a:prstGeom>
        </p:spPr>
      </p:pic>
      <p:pic>
        <p:nvPicPr>
          <p:cNvPr id="5" name="Picture 4"/>
          <p:cNvPicPr>
            <a:picLocks noChangeAspect="1"/>
          </p:cNvPicPr>
          <p:nvPr/>
        </p:nvPicPr>
        <p:blipFill>
          <a:blip r:embed="rId5"/>
          <a:stretch>
            <a:fillRect/>
          </a:stretch>
        </p:blipFill>
        <p:spPr>
          <a:xfrm>
            <a:off x="5723334" y="2064469"/>
            <a:ext cx="5110554" cy="34947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p:cNvSpPr txBox="1"/>
          <p:nvPr/>
        </p:nvSpPr>
        <p:spPr>
          <a:xfrm>
            <a:off x="653470" y="5950445"/>
            <a:ext cx="4826962" cy="369332"/>
          </a:xfrm>
          <a:prstGeom prst="rect">
            <a:avLst/>
          </a:prstGeom>
          <a:noFill/>
        </p:spPr>
        <p:txBody>
          <a:bodyPr wrap="none" rtlCol="0">
            <a:spAutoFit/>
          </a:bodyPr>
          <a:lstStyle/>
          <a:p>
            <a:r>
              <a:rPr lang="en-US" dirty="0" smtClean="0"/>
              <a:t>Project name </a:t>
            </a:r>
            <a:r>
              <a:rPr lang="en-US" dirty="0" err="1" smtClean="0"/>
              <a:t>struceture</a:t>
            </a:r>
            <a:r>
              <a:rPr lang="en-US" dirty="0" smtClean="0"/>
              <a:t> is</a:t>
            </a:r>
            <a:r>
              <a:rPr lang="en-US" b="1" dirty="0" smtClean="0"/>
              <a:t>: </a:t>
            </a:r>
            <a:r>
              <a:rPr lang="en-US" b="1" dirty="0" err="1" smtClean="0"/>
              <a:t>com.example.untitled</a:t>
            </a:r>
            <a:endParaRPr lang="en-US" b="1" dirty="0"/>
          </a:p>
        </p:txBody>
      </p:sp>
    </p:spTree>
    <p:extLst>
      <p:ext uri="{BB962C8B-B14F-4D97-AF65-F5344CB8AC3E}">
        <p14:creationId xmlns:p14="http://schemas.microsoft.com/office/powerpoint/2010/main" val="7424144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16</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smtClean="0"/>
              <a:t>4. </a:t>
            </a:r>
            <a:r>
              <a:rPr lang="en-US" dirty="0"/>
              <a:t>Setup an Android Device</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38240" y="1422088"/>
            <a:ext cx="5506379" cy="369332"/>
          </a:xfrm>
          <a:prstGeom prst="rect">
            <a:avLst/>
          </a:prstGeom>
        </p:spPr>
        <p:txBody>
          <a:bodyPr wrap="square">
            <a:spAutoFit/>
          </a:bodyPr>
          <a:lstStyle/>
          <a:p>
            <a:r>
              <a:rPr lang="en-US" dirty="0" smtClean="0"/>
              <a:t>Project Setup done</a:t>
            </a:r>
          </a:p>
        </p:txBody>
      </p:sp>
      <p:sp>
        <p:nvSpPr>
          <p:cNvPr id="9" name="TextBox 8"/>
          <p:cNvSpPr txBox="1"/>
          <p:nvPr/>
        </p:nvSpPr>
        <p:spPr>
          <a:xfrm>
            <a:off x="653470" y="5950445"/>
            <a:ext cx="4826962" cy="369332"/>
          </a:xfrm>
          <a:prstGeom prst="rect">
            <a:avLst/>
          </a:prstGeom>
          <a:noFill/>
        </p:spPr>
        <p:txBody>
          <a:bodyPr wrap="none" rtlCol="0">
            <a:spAutoFit/>
          </a:bodyPr>
          <a:lstStyle/>
          <a:p>
            <a:r>
              <a:rPr lang="en-US" dirty="0" smtClean="0"/>
              <a:t>Project name </a:t>
            </a:r>
            <a:r>
              <a:rPr lang="en-US" dirty="0" err="1" smtClean="0"/>
              <a:t>struceture</a:t>
            </a:r>
            <a:r>
              <a:rPr lang="en-US" dirty="0" smtClean="0"/>
              <a:t> is</a:t>
            </a:r>
            <a:r>
              <a:rPr lang="en-US" b="1" dirty="0" smtClean="0"/>
              <a:t>: </a:t>
            </a:r>
            <a:r>
              <a:rPr lang="en-US" b="1" dirty="0" err="1" smtClean="0"/>
              <a:t>com.example.untitled</a:t>
            </a:r>
            <a:endParaRPr lang="en-US" b="1" dirty="0"/>
          </a:p>
        </p:txBody>
      </p:sp>
      <p:pic>
        <p:nvPicPr>
          <p:cNvPr id="3" name="Picture 2"/>
          <p:cNvPicPr>
            <a:picLocks noChangeAspect="1"/>
          </p:cNvPicPr>
          <p:nvPr/>
        </p:nvPicPr>
        <p:blipFill>
          <a:blip r:embed="rId4"/>
          <a:stretch>
            <a:fillRect/>
          </a:stretch>
        </p:blipFill>
        <p:spPr>
          <a:xfrm>
            <a:off x="624568" y="1833671"/>
            <a:ext cx="9394331" cy="4568079"/>
          </a:xfrm>
          <a:prstGeom prst="rect">
            <a:avLst/>
          </a:prstGeom>
        </p:spPr>
      </p:pic>
    </p:spTree>
    <p:extLst>
      <p:ext uri="{BB962C8B-B14F-4D97-AF65-F5344CB8AC3E}">
        <p14:creationId xmlns:p14="http://schemas.microsoft.com/office/powerpoint/2010/main" val="20934347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17</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lvl="0">
              <a:spcBef>
                <a:spcPts val="0"/>
              </a:spcBef>
            </a:pPr>
            <a:r>
              <a:rPr lang="en-US" cap="none" dirty="0" smtClean="0"/>
              <a:t>4. </a:t>
            </a:r>
            <a:r>
              <a:rPr lang="en-US" dirty="0"/>
              <a:t>Setup an Android Device</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38240" y="1422088"/>
            <a:ext cx="9680659" cy="369332"/>
          </a:xfrm>
          <a:prstGeom prst="rect">
            <a:avLst/>
          </a:prstGeom>
        </p:spPr>
        <p:txBody>
          <a:bodyPr wrap="square">
            <a:spAutoFit/>
          </a:bodyPr>
          <a:lstStyle/>
          <a:p>
            <a:r>
              <a:rPr lang="en-US" dirty="0" smtClean="0"/>
              <a:t>You can select the option for run the code, I am using the Chrome web and click run</a:t>
            </a:r>
          </a:p>
        </p:txBody>
      </p:sp>
      <p:pic>
        <p:nvPicPr>
          <p:cNvPr id="4" name="Picture 3"/>
          <p:cNvPicPr>
            <a:picLocks noChangeAspect="1"/>
          </p:cNvPicPr>
          <p:nvPr/>
        </p:nvPicPr>
        <p:blipFill>
          <a:blip r:embed="rId4"/>
          <a:stretch>
            <a:fillRect/>
          </a:stretch>
        </p:blipFill>
        <p:spPr>
          <a:xfrm>
            <a:off x="506574" y="2131870"/>
            <a:ext cx="5516472" cy="2902044"/>
          </a:xfrm>
          <a:prstGeom prst="rect">
            <a:avLst/>
          </a:prstGeom>
        </p:spPr>
      </p:pic>
      <p:pic>
        <p:nvPicPr>
          <p:cNvPr id="5" name="Picture 4"/>
          <p:cNvPicPr>
            <a:picLocks noChangeAspect="1"/>
          </p:cNvPicPr>
          <p:nvPr/>
        </p:nvPicPr>
        <p:blipFill>
          <a:blip r:embed="rId5"/>
          <a:stretch>
            <a:fillRect/>
          </a:stretch>
        </p:blipFill>
        <p:spPr>
          <a:xfrm>
            <a:off x="6198251" y="2131870"/>
            <a:ext cx="5663038" cy="2902044"/>
          </a:xfrm>
          <a:prstGeom prst="rect">
            <a:avLst/>
          </a:prstGeom>
        </p:spPr>
      </p:pic>
    </p:spTree>
    <p:extLst>
      <p:ext uri="{BB962C8B-B14F-4D97-AF65-F5344CB8AC3E}">
        <p14:creationId xmlns:p14="http://schemas.microsoft.com/office/powerpoint/2010/main" val="6421785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18</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7749959" cy="572700"/>
          </a:xfrm>
          <a:prstGeom prst="rect">
            <a:avLst/>
          </a:prstGeom>
        </p:spPr>
        <p:txBody>
          <a:bodyPr spcFirstLastPara="1" wrap="square" lIns="91425" tIns="91425" rIns="91425" bIns="91425" anchor="t" anchorCtr="0">
            <a:noAutofit/>
          </a:bodyPr>
          <a:lstStyle/>
          <a:p>
            <a:pPr>
              <a:spcBef>
                <a:spcPts val="0"/>
              </a:spcBef>
            </a:pPr>
            <a:r>
              <a:rPr lang="en-US" cap="none" dirty="0" smtClean="0"/>
              <a:t>4. </a:t>
            </a:r>
            <a:r>
              <a:rPr lang="en-US" dirty="0"/>
              <a:t>Setup an Android Device</a:t>
            </a:r>
            <a:br>
              <a:rPr lang="en-US" dirty="0"/>
            </a:br>
            <a:endParaRPr lang="en-US" cap="none" dirty="0">
              <a:solidFill>
                <a:srgbClr val="FF0000"/>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38240" y="1422088"/>
            <a:ext cx="9680659" cy="1754326"/>
          </a:xfrm>
          <a:prstGeom prst="rect">
            <a:avLst/>
          </a:prstGeom>
        </p:spPr>
        <p:txBody>
          <a:bodyPr wrap="square">
            <a:spAutoFit/>
          </a:bodyPr>
          <a:lstStyle/>
          <a:p>
            <a:r>
              <a:rPr lang="en-US" dirty="0" smtClean="0"/>
              <a:t>Create virtual device for show the output</a:t>
            </a:r>
          </a:p>
          <a:p>
            <a:endParaRPr lang="en-US" dirty="0"/>
          </a:p>
          <a:p>
            <a:r>
              <a:rPr lang="en-US" dirty="0" smtClean="0"/>
              <a:t>Step – 01: click device manager</a:t>
            </a:r>
          </a:p>
          <a:p>
            <a:r>
              <a:rPr lang="en-US" dirty="0" smtClean="0"/>
              <a:t>Step – 02: Click Plus icon</a:t>
            </a:r>
          </a:p>
          <a:p>
            <a:r>
              <a:rPr lang="en-US" dirty="0" smtClean="0"/>
              <a:t>Step - 03: Click create virtual device</a:t>
            </a:r>
          </a:p>
          <a:p>
            <a:r>
              <a:rPr lang="en-US" dirty="0" smtClean="0"/>
              <a:t>Step – 04: Select your device and download it </a:t>
            </a:r>
          </a:p>
        </p:txBody>
      </p:sp>
      <p:pic>
        <p:nvPicPr>
          <p:cNvPr id="3" name="Picture 2"/>
          <p:cNvPicPr>
            <a:picLocks noChangeAspect="1"/>
          </p:cNvPicPr>
          <p:nvPr/>
        </p:nvPicPr>
        <p:blipFill>
          <a:blip r:embed="rId4"/>
          <a:stretch>
            <a:fillRect/>
          </a:stretch>
        </p:blipFill>
        <p:spPr>
          <a:xfrm>
            <a:off x="5839354" y="1965912"/>
            <a:ext cx="5550273" cy="4179372"/>
          </a:xfrm>
          <a:prstGeom prst="rect">
            <a:avLst/>
          </a:prstGeom>
        </p:spPr>
      </p:pic>
    </p:spTree>
    <p:extLst>
      <p:ext uri="{BB962C8B-B14F-4D97-AF65-F5344CB8AC3E}">
        <p14:creationId xmlns:p14="http://schemas.microsoft.com/office/powerpoint/2010/main" val="7144032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19</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38240" y="1422088"/>
            <a:ext cx="9680659" cy="2516586"/>
          </a:xfrm>
          <a:prstGeom prst="rect">
            <a:avLst/>
          </a:prstGeom>
        </p:spPr>
        <p:txBody>
          <a:bodyPr wrap="square">
            <a:spAutoFit/>
          </a:bodyPr>
          <a:lstStyle/>
          <a:p>
            <a:pPr marL="342900" marR="163195" lvl="0" indent="-342900">
              <a:lnSpc>
                <a:spcPct val="115000"/>
              </a:lnSpc>
              <a:spcBef>
                <a:spcPts val="1000"/>
              </a:spcBef>
              <a:buFont typeface="Arial" panose="020B0604020202020204" pitchFamily="34" charset="0"/>
              <a:buChar char="•"/>
            </a:pPr>
            <a:r>
              <a:rPr lang="en-US" dirty="0">
                <a:solidFill>
                  <a:srgbClr val="222222"/>
                </a:solidFill>
                <a:ea typeface="Arial"/>
                <a:cs typeface="Arial"/>
                <a:sym typeface="Arial"/>
              </a:rPr>
              <a:t>When building a Flutter app, you can test it using an Android or iPhone emulator. </a:t>
            </a:r>
            <a:endParaRPr lang="en-US" dirty="0" smtClean="0">
              <a:solidFill>
                <a:srgbClr val="222222"/>
              </a:solidFill>
              <a:ea typeface="Arial"/>
              <a:cs typeface="Arial"/>
              <a:sym typeface="Arial"/>
            </a:endParaRPr>
          </a:p>
          <a:p>
            <a:pPr marL="342900" marR="163195" lvl="0" indent="-34290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Testing </a:t>
            </a:r>
            <a:r>
              <a:rPr lang="en-US" dirty="0">
                <a:solidFill>
                  <a:srgbClr val="222222"/>
                </a:solidFill>
                <a:ea typeface="Arial"/>
                <a:cs typeface="Arial"/>
                <a:sym typeface="Arial"/>
              </a:rPr>
              <a:t>helps check your app’s UI (User Interface) and workflow before release. </a:t>
            </a:r>
            <a:endParaRPr lang="en-US" dirty="0" smtClean="0">
              <a:solidFill>
                <a:srgbClr val="222222"/>
              </a:solidFill>
              <a:ea typeface="Arial"/>
              <a:cs typeface="Arial"/>
              <a:sym typeface="Arial"/>
            </a:endParaRPr>
          </a:p>
          <a:p>
            <a:pPr marL="342900" marR="163195" lvl="0" indent="-34290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It’s </a:t>
            </a:r>
            <a:r>
              <a:rPr lang="en-US" dirty="0">
                <a:solidFill>
                  <a:srgbClr val="222222"/>
                </a:solidFill>
                <a:ea typeface="Arial"/>
                <a:cs typeface="Arial"/>
                <a:sym typeface="Arial"/>
              </a:rPr>
              <a:t>important to test on real devices (Android or iPhone) before publishing to app stores. </a:t>
            </a:r>
            <a:endParaRPr lang="en-US" dirty="0" smtClean="0">
              <a:solidFill>
                <a:srgbClr val="222222"/>
              </a:solidFill>
              <a:ea typeface="Arial"/>
              <a:cs typeface="Arial"/>
              <a:sym typeface="Arial"/>
            </a:endParaRPr>
          </a:p>
          <a:p>
            <a:pPr marL="342900" marR="163195" lvl="0" indent="-34290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Using </a:t>
            </a:r>
            <a:r>
              <a:rPr lang="en-US" dirty="0">
                <a:solidFill>
                  <a:srgbClr val="222222"/>
                </a:solidFill>
                <a:ea typeface="Arial"/>
                <a:cs typeface="Arial"/>
                <a:sym typeface="Arial"/>
              </a:rPr>
              <a:t>a physical device reduces the load on your computer’s RAM and CPU, especially useful for low-spec computers. </a:t>
            </a:r>
            <a:endParaRPr lang="en-US" dirty="0" smtClean="0">
              <a:solidFill>
                <a:srgbClr val="222222"/>
              </a:solidFill>
              <a:ea typeface="Arial"/>
              <a:cs typeface="Arial"/>
              <a:sym typeface="Arial"/>
            </a:endParaRPr>
          </a:p>
          <a:p>
            <a:pPr marL="342900" marR="163195" lvl="0" indent="-34290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Emulators </a:t>
            </a:r>
            <a:r>
              <a:rPr lang="en-US" dirty="0">
                <a:solidFill>
                  <a:srgbClr val="222222"/>
                </a:solidFill>
                <a:ea typeface="Arial"/>
                <a:cs typeface="Arial"/>
                <a:sym typeface="Arial"/>
              </a:rPr>
              <a:t>may cause issues if your computer has limited hardware performance.</a:t>
            </a:r>
          </a:p>
        </p:txBody>
      </p:sp>
      <p:pic>
        <p:nvPicPr>
          <p:cNvPr id="8" name="Google Shape;810;p99"/>
          <p:cNvPicPr preferRelativeResize="0"/>
          <p:nvPr/>
        </p:nvPicPr>
        <p:blipFill rotWithShape="1">
          <a:blip r:embed="rId4">
            <a:alphaModFix/>
          </a:blip>
          <a:srcRect/>
          <a:stretch/>
        </p:blipFill>
        <p:spPr>
          <a:xfrm>
            <a:off x="2894029" y="4515021"/>
            <a:ext cx="3946341" cy="1452146"/>
          </a:xfrm>
          <a:prstGeom prst="rect">
            <a:avLst/>
          </a:prstGeom>
          <a:noFill/>
          <a:ln>
            <a:noFill/>
          </a:ln>
        </p:spPr>
      </p:pic>
    </p:spTree>
    <p:extLst>
      <p:ext uri="{BB962C8B-B14F-4D97-AF65-F5344CB8AC3E}">
        <p14:creationId xmlns:p14="http://schemas.microsoft.com/office/powerpoint/2010/main" val="34974040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20</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338240" y="1422088"/>
            <a:ext cx="9680659" cy="857671"/>
          </a:xfrm>
          <a:prstGeom prst="rect">
            <a:avLst/>
          </a:prstGeom>
        </p:spPr>
        <p:txBody>
          <a:bodyPr wrap="square">
            <a:spAutoFit/>
          </a:bodyPr>
          <a:lstStyle/>
          <a:p>
            <a:pPr marL="342900" marR="163195" lvl="0" indent="-34290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First need to configure your phone</a:t>
            </a:r>
          </a:p>
          <a:p>
            <a:pPr marL="342900" marR="163195" lvl="0" indent="-342900">
              <a:lnSpc>
                <a:spcPct val="115000"/>
              </a:lnSpc>
              <a:spcBef>
                <a:spcPts val="1000"/>
              </a:spcBef>
              <a:buFont typeface="Arial" panose="020B0604020202020204" pitchFamily="34" charset="0"/>
              <a:buChar char="•"/>
            </a:pPr>
            <a:r>
              <a:rPr lang="en-US" dirty="0" smtClean="0">
                <a:solidFill>
                  <a:srgbClr val="222222"/>
                </a:solidFill>
                <a:ea typeface="Arial"/>
                <a:cs typeface="Arial"/>
                <a:sym typeface="Arial"/>
              </a:rPr>
              <a:t>Go setting and open </a:t>
            </a:r>
            <a:r>
              <a:rPr lang="en-US" b="1" dirty="0" smtClean="0">
                <a:solidFill>
                  <a:srgbClr val="222222"/>
                </a:solidFill>
                <a:ea typeface="Arial"/>
                <a:cs typeface="Arial"/>
                <a:sym typeface="Arial"/>
              </a:rPr>
              <a:t>About Phone, next Software information</a:t>
            </a:r>
            <a:endParaRPr lang="en-US" dirty="0">
              <a:solidFill>
                <a:srgbClr val="222222"/>
              </a:solidFill>
              <a:ea typeface="Arial"/>
              <a:cs typeface="Arial"/>
              <a:sym typeface="Arial"/>
            </a:endParaRPr>
          </a:p>
        </p:txBody>
      </p:sp>
      <p:pic>
        <p:nvPicPr>
          <p:cNvPr id="9" name="Google Shape;818;p100"/>
          <p:cNvPicPr preferRelativeResize="0"/>
          <p:nvPr/>
        </p:nvPicPr>
        <p:blipFill rotWithShape="1">
          <a:blip r:embed="rId4">
            <a:alphaModFix/>
          </a:blip>
          <a:srcRect/>
          <a:stretch/>
        </p:blipFill>
        <p:spPr>
          <a:xfrm>
            <a:off x="1886216" y="2506473"/>
            <a:ext cx="5909751" cy="3586590"/>
          </a:xfrm>
          <a:prstGeom prst="rect">
            <a:avLst/>
          </a:prstGeom>
          <a:noFill/>
          <a:ln>
            <a:noFill/>
          </a:ln>
        </p:spPr>
      </p:pic>
    </p:spTree>
    <p:extLst>
      <p:ext uri="{BB962C8B-B14F-4D97-AF65-F5344CB8AC3E}">
        <p14:creationId xmlns:p14="http://schemas.microsoft.com/office/powerpoint/2010/main" val="26747836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21</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460789" y="1611654"/>
            <a:ext cx="9680659" cy="658642"/>
          </a:xfrm>
          <a:prstGeom prst="rect">
            <a:avLst/>
          </a:prstGeom>
        </p:spPr>
        <p:txBody>
          <a:bodyPr wrap="square">
            <a:spAutoFit/>
          </a:bodyPr>
          <a:lstStyle/>
          <a:p>
            <a:pPr marR="163195" lvl="0">
              <a:lnSpc>
                <a:spcPct val="115000"/>
              </a:lnSpc>
              <a:spcBef>
                <a:spcPts val="1000"/>
              </a:spcBef>
            </a:pPr>
            <a:r>
              <a:rPr lang="en-US" sz="1600" dirty="0" smtClean="0">
                <a:solidFill>
                  <a:srgbClr val="222222"/>
                </a:solidFill>
                <a:ea typeface="Arial"/>
                <a:cs typeface="Arial"/>
                <a:sym typeface="Arial"/>
              </a:rPr>
              <a:t>Press </a:t>
            </a:r>
            <a:r>
              <a:rPr lang="en-US" sz="1600" dirty="0">
                <a:solidFill>
                  <a:srgbClr val="222222"/>
                </a:solidFill>
                <a:ea typeface="Arial"/>
                <a:cs typeface="Arial"/>
                <a:sym typeface="Arial"/>
              </a:rPr>
              <a:t>7 times on the Build number till you get the following message: “ Developer mode has been turned on.” as illustrated in the following figure</a:t>
            </a:r>
            <a:r>
              <a:rPr lang="en-US" sz="1600" dirty="0" smtClean="0">
                <a:solidFill>
                  <a:srgbClr val="222222"/>
                </a:solidFill>
                <a:ea typeface="Arial"/>
                <a:cs typeface="Arial"/>
                <a:sym typeface="Arial"/>
              </a:rPr>
              <a:t>:</a:t>
            </a:r>
            <a:endParaRPr lang="en-US" sz="1600" dirty="0">
              <a:solidFill>
                <a:srgbClr val="222222"/>
              </a:solidFill>
              <a:ea typeface="Arial"/>
              <a:cs typeface="Arial"/>
              <a:sym typeface="Arial"/>
            </a:endParaRPr>
          </a:p>
        </p:txBody>
      </p:sp>
      <p:pic>
        <p:nvPicPr>
          <p:cNvPr id="8" name="Google Shape;826;p101"/>
          <p:cNvPicPr preferRelativeResize="0"/>
          <p:nvPr/>
        </p:nvPicPr>
        <p:blipFill rotWithShape="1">
          <a:blip r:embed="rId4">
            <a:alphaModFix/>
          </a:blip>
          <a:srcRect/>
          <a:stretch/>
        </p:blipFill>
        <p:spPr>
          <a:xfrm>
            <a:off x="2224245" y="2425592"/>
            <a:ext cx="5034394" cy="3748351"/>
          </a:xfrm>
          <a:prstGeom prst="rect">
            <a:avLst/>
          </a:prstGeom>
          <a:noFill/>
          <a:ln>
            <a:noFill/>
          </a:ln>
        </p:spPr>
      </p:pic>
    </p:spTree>
    <p:extLst>
      <p:ext uri="{BB962C8B-B14F-4D97-AF65-F5344CB8AC3E}">
        <p14:creationId xmlns:p14="http://schemas.microsoft.com/office/powerpoint/2010/main" val="10596932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22</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460789" y="1611654"/>
            <a:ext cx="9680659" cy="658642"/>
          </a:xfrm>
          <a:prstGeom prst="rect">
            <a:avLst/>
          </a:prstGeom>
        </p:spPr>
        <p:txBody>
          <a:bodyPr wrap="square">
            <a:spAutoFit/>
          </a:bodyPr>
          <a:lstStyle/>
          <a:p>
            <a:pPr marR="163195" lvl="0">
              <a:lnSpc>
                <a:spcPct val="115000"/>
              </a:lnSpc>
              <a:spcBef>
                <a:spcPts val="1000"/>
              </a:spcBef>
            </a:pPr>
            <a:r>
              <a:rPr lang="en-US" sz="1600" dirty="0" smtClean="0">
                <a:solidFill>
                  <a:srgbClr val="222222"/>
                </a:solidFill>
                <a:latin typeface="Arial"/>
                <a:ea typeface="Arial"/>
                <a:cs typeface="Arial"/>
                <a:sym typeface="Arial"/>
              </a:rPr>
              <a:t>Go </a:t>
            </a:r>
            <a:r>
              <a:rPr lang="en-US" sz="1600" dirty="0">
                <a:solidFill>
                  <a:srgbClr val="222222"/>
                </a:solidFill>
                <a:latin typeface="Arial"/>
                <a:ea typeface="Arial"/>
                <a:cs typeface="Arial"/>
                <a:sym typeface="Arial"/>
              </a:rPr>
              <a:t>to Settings, then you will find Developer options has been added. Select Developer options. Be sure this option is On. Then enable USB debugging as illustrated in the following figures:</a:t>
            </a:r>
            <a:endParaRPr lang="en-US" sz="1600" dirty="0">
              <a:solidFill>
                <a:srgbClr val="222222"/>
              </a:solidFill>
              <a:latin typeface="Arial"/>
              <a:ea typeface="Arial"/>
              <a:cs typeface="Arial"/>
              <a:sym typeface="Arial"/>
            </a:endParaRPr>
          </a:p>
        </p:txBody>
      </p:sp>
      <p:pic>
        <p:nvPicPr>
          <p:cNvPr id="9" name="Google Shape;827;p101"/>
          <p:cNvPicPr preferRelativeResize="0"/>
          <p:nvPr/>
        </p:nvPicPr>
        <p:blipFill rotWithShape="1">
          <a:blip r:embed="rId4">
            <a:alphaModFix/>
          </a:blip>
          <a:srcRect/>
          <a:stretch/>
        </p:blipFill>
        <p:spPr>
          <a:xfrm>
            <a:off x="2044093" y="2714685"/>
            <a:ext cx="6249648" cy="3687065"/>
          </a:xfrm>
          <a:prstGeom prst="rect">
            <a:avLst/>
          </a:prstGeom>
          <a:noFill/>
          <a:ln>
            <a:noFill/>
          </a:ln>
        </p:spPr>
      </p:pic>
    </p:spTree>
    <p:extLst>
      <p:ext uri="{BB962C8B-B14F-4D97-AF65-F5344CB8AC3E}">
        <p14:creationId xmlns:p14="http://schemas.microsoft.com/office/powerpoint/2010/main" val="24655205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23</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460789" y="1611654"/>
            <a:ext cx="9680659" cy="4799263"/>
          </a:xfrm>
          <a:prstGeom prst="rect">
            <a:avLst/>
          </a:prstGeom>
        </p:spPr>
        <p:txBody>
          <a:bodyPr wrap="square">
            <a:spAutoFit/>
          </a:bodyPr>
          <a:lstStyle/>
          <a:p>
            <a:pPr marR="163195" lvl="0">
              <a:lnSpc>
                <a:spcPct val="115000"/>
              </a:lnSpc>
              <a:spcBef>
                <a:spcPts val="1000"/>
              </a:spcBef>
            </a:pPr>
            <a:r>
              <a:rPr lang="en-US" sz="1600" dirty="0" smtClean="0">
                <a:solidFill>
                  <a:srgbClr val="222222"/>
                </a:solidFill>
                <a:latin typeface="Arial"/>
                <a:ea typeface="Arial"/>
                <a:cs typeface="Arial"/>
                <a:sym typeface="Arial"/>
              </a:rPr>
              <a:t>Select </a:t>
            </a:r>
            <a:r>
              <a:rPr lang="en-US" sz="1600" b="1" dirty="0">
                <a:solidFill>
                  <a:srgbClr val="222222"/>
                </a:solidFill>
                <a:latin typeface="Arial"/>
                <a:ea typeface="Arial"/>
                <a:cs typeface="Arial"/>
                <a:sym typeface="Arial"/>
              </a:rPr>
              <a:t>OK </a:t>
            </a:r>
            <a:r>
              <a:rPr lang="en-US" sz="1600" dirty="0">
                <a:solidFill>
                  <a:srgbClr val="222222"/>
                </a:solidFill>
                <a:latin typeface="Arial"/>
                <a:ea typeface="Arial"/>
                <a:cs typeface="Arial"/>
                <a:sym typeface="Arial"/>
              </a:rPr>
              <a:t>for this message: “Allow USB debugging?” as illustrated in the following figure:</a:t>
            </a:r>
          </a:p>
          <a:p>
            <a:pPr marR="163195" lvl="0">
              <a:lnSpc>
                <a:spcPct val="115000"/>
              </a:lnSpc>
              <a:spcBef>
                <a:spcPts val="1000"/>
              </a:spcBef>
            </a:pPr>
            <a:endParaRPr lang="en-US" sz="1600" dirty="0">
              <a:solidFill>
                <a:srgbClr val="222222"/>
              </a:solidFill>
              <a:latin typeface="Arial"/>
              <a:ea typeface="Arial"/>
              <a:cs typeface="Arial"/>
              <a:sym typeface="Arial"/>
            </a:endParaRPr>
          </a:p>
          <a:p>
            <a:pPr marR="163195" lvl="0">
              <a:lnSpc>
                <a:spcPct val="115000"/>
              </a:lnSpc>
              <a:spcBef>
                <a:spcPts val="1000"/>
              </a:spcBef>
            </a:pPr>
            <a:endParaRPr lang="en-US" sz="1600" dirty="0">
              <a:solidFill>
                <a:srgbClr val="222222"/>
              </a:solidFill>
              <a:latin typeface="Arial"/>
              <a:ea typeface="Arial"/>
              <a:cs typeface="Arial"/>
              <a:sym typeface="Arial"/>
            </a:endParaRPr>
          </a:p>
          <a:p>
            <a:pPr marR="163195" lvl="0">
              <a:lnSpc>
                <a:spcPct val="115000"/>
              </a:lnSpc>
              <a:spcBef>
                <a:spcPts val="1000"/>
              </a:spcBef>
            </a:pPr>
            <a:endParaRPr lang="en-US" sz="1600" dirty="0">
              <a:solidFill>
                <a:srgbClr val="222222"/>
              </a:solidFill>
              <a:latin typeface="Arial"/>
              <a:ea typeface="Arial"/>
              <a:cs typeface="Arial"/>
              <a:sym typeface="Arial"/>
            </a:endParaRPr>
          </a:p>
          <a:p>
            <a:pPr marR="163195" lvl="0">
              <a:lnSpc>
                <a:spcPct val="115000"/>
              </a:lnSpc>
              <a:spcBef>
                <a:spcPts val="1000"/>
              </a:spcBef>
            </a:pPr>
            <a:endParaRPr lang="en-US" sz="1600" dirty="0" smtClean="0">
              <a:solidFill>
                <a:srgbClr val="222222"/>
              </a:solidFill>
              <a:latin typeface="Arial"/>
              <a:ea typeface="Arial"/>
              <a:cs typeface="Arial"/>
              <a:sym typeface="Arial"/>
            </a:endParaRPr>
          </a:p>
          <a:p>
            <a:pPr marR="163195" lvl="0">
              <a:lnSpc>
                <a:spcPct val="115000"/>
              </a:lnSpc>
              <a:spcBef>
                <a:spcPts val="1000"/>
              </a:spcBef>
            </a:pPr>
            <a:endParaRPr lang="en-US" sz="1600" dirty="0" smtClean="0">
              <a:solidFill>
                <a:srgbClr val="222222"/>
              </a:solidFill>
              <a:latin typeface="Arial"/>
              <a:ea typeface="Arial"/>
              <a:cs typeface="Arial"/>
              <a:sym typeface="Arial"/>
            </a:endParaRPr>
          </a:p>
          <a:p>
            <a:pPr marR="163195" lvl="0">
              <a:lnSpc>
                <a:spcPct val="115000"/>
              </a:lnSpc>
              <a:spcBef>
                <a:spcPts val="1000"/>
              </a:spcBef>
            </a:pPr>
            <a:endParaRPr lang="en-US" sz="1600" dirty="0">
              <a:solidFill>
                <a:srgbClr val="222222"/>
              </a:solidFill>
              <a:latin typeface="Arial"/>
              <a:ea typeface="Arial"/>
              <a:cs typeface="Arial"/>
              <a:sym typeface="Arial"/>
            </a:endParaRPr>
          </a:p>
          <a:p>
            <a:pPr marR="163195" lvl="0">
              <a:lnSpc>
                <a:spcPct val="115000"/>
              </a:lnSpc>
              <a:spcBef>
                <a:spcPts val="1000"/>
              </a:spcBef>
            </a:pPr>
            <a:r>
              <a:rPr lang="en-US" sz="1600" dirty="0" smtClean="0">
                <a:solidFill>
                  <a:srgbClr val="222222"/>
                </a:solidFill>
                <a:latin typeface="Arial"/>
                <a:ea typeface="Arial"/>
                <a:cs typeface="Arial"/>
                <a:sym typeface="Arial"/>
              </a:rPr>
              <a:t>Now</a:t>
            </a:r>
            <a:r>
              <a:rPr lang="en-US" sz="1600" dirty="0">
                <a:solidFill>
                  <a:srgbClr val="222222"/>
                </a:solidFill>
                <a:latin typeface="Arial"/>
                <a:ea typeface="Arial"/>
                <a:cs typeface="Arial"/>
                <a:sym typeface="Arial"/>
              </a:rPr>
              <a:t>, your Android phone is ready to be connected to your computer using a USB cable and run your Flutter app. Before following this step, it is important to pay attention to the following note:</a:t>
            </a:r>
          </a:p>
          <a:p>
            <a:pPr marR="163195" lvl="0">
              <a:lnSpc>
                <a:spcPct val="115000"/>
              </a:lnSpc>
              <a:spcBef>
                <a:spcPts val="1000"/>
              </a:spcBef>
            </a:pPr>
            <a:r>
              <a:rPr lang="en-US" sz="1600" dirty="0">
                <a:solidFill>
                  <a:srgbClr val="222222"/>
                </a:solidFill>
                <a:latin typeface="Arial"/>
                <a:ea typeface="Arial"/>
                <a:cs typeface="Arial"/>
                <a:sym typeface="Arial"/>
              </a:rPr>
              <a:t>Not all USB cables are created equally. Some cables can transfer power without being able to transfer data. So, even if you see your device charging, it doesn’t mean that the cable can transfer the data to allow your phone to be recognized by your computer. Ideally, find the original cable that came with your device. This usually allows both charging as well as data transfer.</a:t>
            </a:r>
            <a:endParaRPr lang="en-US" sz="1600" dirty="0">
              <a:solidFill>
                <a:srgbClr val="222222"/>
              </a:solidFill>
              <a:latin typeface="Arial"/>
              <a:ea typeface="Arial"/>
              <a:cs typeface="Arial"/>
              <a:sym typeface="Arial"/>
            </a:endParaRPr>
          </a:p>
        </p:txBody>
      </p:sp>
      <p:pic>
        <p:nvPicPr>
          <p:cNvPr id="8" name="Google Shape;835;p102"/>
          <p:cNvPicPr preferRelativeResize="0"/>
          <p:nvPr/>
        </p:nvPicPr>
        <p:blipFill rotWithShape="1">
          <a:blip r:embed="rId4">
            <a:alphaModFix/>
          </a:blip>
          <a:srcRect/>
          <a:stretch/>
        </p:blipFill>
        <p:spPr>
          <a:xfrm>
            <a:off x="3210758" y="2349455"/>
            <a:ext cx="3095774" cy="1930313"/>
          </a:xfrm>
          <a:prstGeom prst="rect">
            <a:avLst/>
          </a:prstGeom>
          <a:noFill/>
          <a:ln>
            <a:noFill/>
          </a:ln>
        </p:spPr>
      </p:pic>
    </p:spTree>
    <p:extLst>
      <p:ext uri="{BB962C8B-B14F-4D97-AF65-F5344CB8AC3E}">
        <p14:creationId xmlns:p14="http://schemas.microsoft.com/office/powerpoint/2010/main" val="9560057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24</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460789" y="1611654"/>
            <a:ext cx="9680659" cy="351378"/>
          </a:xfrm>
          <a:prstGeom prst="rect">
            <a:avLst/>
          </a:prstGeom>
        </p:spPr>
        <p:txBody>
          <a:bodyPr wrap="square">
            <a:spAutoFit/>
          </a:bodyPr>
          <a:lstStyle/>
          <a:p>
            <a:pPr marR="163195" lvl="0">
              <a:lnSpc>
                <a:spcPct val="115000"/>
              </a:lnSpc>
              <a:spcBef>
                <a:spcPts val="1000"/>
              </a:spcBef>
            </a:pPr>
            <a:r>
              <a:rPr lang="en-US" sz="1600" dirty="0" smtClean="0">
                <a:solidFill>
                  <a:srgbClr val="222222"/>
                </a:solidFill>
                <a:latin typeface="Arial"/>
                <a:ea typeface="Arial"/>
                <a:cs typeface="Arial"/>
                <a:sym typeface="Arial"/>
              </a:rPr>
              <a:t>Click there you will find your device</a:t>
            </a:r>
            <a:endParaRPr lang="en-US" sz="1600" dirty="0">
              <a:solidFill>
                <a:srgbClr val="222222"/>
              </a:solidFill>
              <a:latin typeface="Arial"/>
              <a:ea typeface="Arial"/>
              <a:cs typeface="Arial"/>
              <a:sym typeface="Arial"/>
            </a:endParaRPr>
          </a:p>
        </p:txBody>
      </p:sp>
      <p:pic>
        <p:nvPicPr>
          <p:cNvPr id="3" name="Picture 2"/>
          <p:cNvPicPr>
            <a:picLocks noChangeAspect="1"/>
          </p:cNvPicPr>
          <p:nvPr/>
        </p:nvPicPr>
        <p:blipFill>
          <a:blip r:embed="rId4"/>
          <a:stretch>
            <a:fillRect/>
          </a:stretch>
        </p:blipFill>
        <p:spPr>
          <a:xfrm>
            <a:off x="546351" y="2519860"/>
            <a:ext cx="4534133" cy="2013053"/>
          </a:xfrm>
          <a:prstGeom prst="rect">
            <a:avLst/>
          </a:prstGeom>
        </p:spPr>
      </p:pic>
      <p:pic>
        <p:nvPicPr>
          <p:cNvPr id="9" name="Google Shape;843;p103"/>
          <p:cNvPicPr preferRelativeResize="0"/>
          <p:nvPr/>
        </p:nvPicPr>
        <p:blipFill rotWithShape="1">
          <a:blip r:embed="rId5">
            <a:alphaModFix/>
          </a:blip>
          <a:srcRect/>
          <a:stretch/>
        </p:blipFill>
        <p:spPr>
          <a:xfrm>
            <a:off x="6480691" y="2519860"/>
            <a:ext cx="3747391" cy="1685874"/>
          </a:xfrm>
          <a:prstGeom prst="rect">
            <a:avLst/>
          </a:prstGeom>
          <a:noFill/>
          <a:ln>
            <a:noFill/>
          </a:ln>
        </p:spPr>
      </p:pic>
    </p:spTree>
    <p:extLst>
      <p:ext uri="{BB962C8B-B14F-4D97-AF65-F5344CB8AC3E}">
        <p14:creationId xmlns:p14="http://schemas.microsoft.com/office/powerpoint/2010/main" val="18906369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25</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583336" y="2516627"/>
            <a:ext cx="5807178" cy="941796"/>
          </a:xfrm>
          <a:prstGeom prst="rect">
            <a:avLst/>
          </a:prstGeom>
        </p:spPr>
        <p:txBody>
          <a:bodyPr wrap="square">
            <a:spAutoFit/>
          </a:bodyPr>
          <a:lstStyle/>
          <a:p>
            <a:pPr marR="163195" lvl="0">
              <a:lnSpc>
                <a:spcPct val="115000"/>
              </a:lnSpc>
              <a:spcBef>
                <a:spcPts val="1000"/>
              </a:spcBef>
            </a:pPr>
            <a:r>
              <a:rPr lang="en-US" sz="1600" dirty="0">
                <a:solidFill>
                  <a:srgbClr val="222222"/>
                </a:solidFill>
                <a:latin typeface="Arial"/>
                <a:ea typeface="Arial"/>
                <a:cs typeface="Arial"/>
                <a:sym typeface="Arial"/>
              </a:rPr>
              <a:t>Click Run on your Android Studio. Then your Flutter app will run on your connected Android phone as illustrated in the following figure:</a:t>
            </a:r>
            <a:endParaRPr lang="en-US" sz="1600" dirty="0">
              <a:solidFill>
                <a:srgbClr val="222222"/>
              </a:solidFill>
              <a:latin typeface="Arial"/>
              <a:ea typeface="Arial"/>
              <a:cs typeface="Arial"/>
              <a:sym typeface="Arial"/>
            </a:endParaRPr>
          </a:p>
        </p:txBody>
      </p:sp>
      <p:pic>
        <p:nvPicPr>
          <p:cNvPr id="10" name="Google Shape;851;p104"/>
          <p:cNvPicPr preferRelativeResize="0"/>
          <p:nvPr/>
        </p:nvPicPr>
        <p:blipFill rotWithShape="1">
          <a:blip r:embed="rId4">
            <a:alphaModFix/>
          </a:blip>
          <a:srcRect/>
          <a:stretch/>
        </p:blipFill>
        <p:spPr>
          <a:xfrm>
            <a:off x="6601062" y="1691217"/>
            <a:ext cx="3084742" cy="4628560"/>
          </a:xfrm>
          <a:prstGeom prst="rect">
            <a:avLst/>
          </a:prstGeom>
          <a:noFill/>
          <a:ln>
            <a:noFill/>
          </a:ln>
        </p:spPr>
      </p:pic>
    </p:spTree>
    <p:extLst>
      <p:ext uri="{BB962C8B-B14F-4D97-AF65-F5344CB8AC3E}">
        <p14:creationId xmlns:p14="http://schemas.microsoft.com/office/powerpoint/2010/main" val="12037977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26</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lvl="0">
              <a:spcBef>
                <a:spcPts val="0"/>
              </a:spcBef>
            </a:pPr>
            <a:r>
              <a:rPr lang="en-US" dirty="0" smtClean="0"/>
              <a:t>5. Run </a:t>
            </a:r>
            <a:r>
              <a:rPr lang="en-US" dirty="0"/>
              <a:t>your Apps on a Hardware Device </a:t>
            </a:r>
            <a:r>
              <a:rPr lang="en-US" dirty="0" smtClean="0"/>
              <a:t>(</a:t>
            </a:r>
            <a:r>
              <a:rPr lang="en-US" dirty="0"/>
              <a:t>Physical Phone)</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525461" y="1593130"/>
            <a:ext cx="9334976" cy="4671022"/>
          </a:xfrm>
          <a:prstGeom prst="rect">
            <a:avLst/>
          </a:prstGeom>
        </p:spPr>
        <p:txBody>
          <a:bodyPr wrap="square">
            <a:spAutoFit/>
          </a:bodyPr>
          <a:lstStyle/>
          <a:p>
            <a:pPr marR="163195" lvl="0">
              <a:lnSpc>
                <a:spcPct val="115000"/>
              </a:lnSpc>
              <a:spcBef>
                <a:spcPts val="1000"/>
              </a:spcBef>
            </a:pPr>
            <a:r>
              <a:rPr lang="en-US" sz="1600" b="1" dirty="0">
                <a:solidFill>
                  <a:srgbClr val="222222"/>
                </a:solidFill>
                <a:ea typeface="Arial"/>
                <a:cs typeface="Arial"/>
                <a:sym typeface="Arial"/>
              </a:rPr>
              <a:t>Run your Flutter App on IPhone Device</a:t>
            </a:r>
          </a:p>
          <a:p>
            <a:pPr marR="163195" lvl="0">
              <a:lnSpc>
                <a:spcPct val="115000"/>
              </a:lnSpc>
              <a:spcBef>
                <a:spcPts val="1000"/>
              </a:spcBef>
            </a:pPr>
            <a:r>
              <a:rPr lang="en-US" sz="1600" dirty="0">
                <a:solidFill>
                  <a:srgbClr val="222222"/>
                </a:solidFill>
                <a:ea typeface="Arial"/>
                <a:cs typeface="Arial"/>
                <a:sym typeface="Arial"/>
              </a:rPr>
              <a:t>To run your Flutter app on your connected IPhone device, your computer operating system must be Mac. To run your Flutter app on your connected IPhone using Android Studio you should have the </a:t>
            </a:r>
            <a:r>
              <a:rPr lang="en-US" sz="1600" dirty="0" smtClean="0">
                <a:solidFill>
                  <a:srgbClr val="222222"/>
                </a:solidFill>
                <a:ea typeface="Arial"/>
                <a:cs typeface="Arial"/>
                <a:sym typeface="Arial"/>
              </a:rPr>
              <a:t>following:</a:t>
            </a:r>
          </a:p>
          <a:p>
            <a:pPr marR="163195" lvl="0">
              <a:lnSpc>
                <a:spcPct val="115000"/>
              </a:lnSpc>
              <a:spcBef>
                <a:spcPts val="1000"/>
              </a:spcBef>
            </a:pPr>
            <a:r>
              <a:rPr lang="en-US" sz="1600" b="1" dirty="0" smtClean="0">
                <a:solidFill>
                  <a:srgbClr val="222222"/>
                </a:solidFill>
                <a:ea typeface="Arial"/>
                <a:cs typeface="Arial"/>
                <a:sym typeface="Arial"/>
              </a:rPr>
              <a:t>An </a:t>
            </a:r>
            <a:r>
              <a:rPr lang="en-US" sz="1600" b="1" dirty="0">
                <a:solidFill>
                  <a:srgbClr val="222222"/>
                </a:solidFill>
                <a:ea typeface="Arial"/>
                <a:cs typeface="Arial"/>
                <a:sym typeface="Arial"/>
              </a:rPr>
              <a:t>Apple ID.</a:t>
            </a:r>
          </a:p>
          <a:p>
            <a:pPr marR="163195" lvl="0">
              <a:lnSpc>
                <a:spcPct val="115000"/>
              </a:lnSpc>
              <a:spcBef>
                <a:spcPts val="1000"/>
              </a:spcBef>
            </a:pPr>
            <a:r>
              <a:rPr lang="en-US" sz="1600" dirty="0">
                <a:solidFill>
                  <a:srgbClr val="222222"/>
                </a:solidFill>
                <a:ea typeface="Arial"/>
                <a:cs typeface="Arial"/>
                <a:sym typeface="Arial"/>
              </a:rPr>
              <a:t>You must have an Apple ID. So, you must be registered with Apple, at some point give them your email and have a password. This Apple ID, at this step, doesn’t have to be a developer account. It could be any sort of Apple account that may be used to download apps from the App Store.</a:t>
            </a:r>
          </a:p>
          <a:p>
            <a:pPr marL="171450" marR="163195" lvl="0">
              <a:lnSpc>
                <a:spcPct val="115000"/>
              </a:lnSpc>
              <a:spcBef>
                <a:spcPts val="1000"/>
              </a:spcBef>
              <a:buClr>
                <a:srgbClr val="222222"/>
              </a:buClr>
              <a:buSzPts val="900"/>
            </a:pPr>
            <a:r>
              <a:rPr lang="en-US" sz="1600" b="1" dirty="0">
                <a:solidFill>
                  <a:srgbClr val="222222"/>
                </a:solidFill>
                <a:ea typeface="Arial"/>
                <a:cs typeface="Arial"/>
                <a:sym typeface="Arial"/>
              </a:rPr>
              <a:t>An IPhone Device</a:t>
            </a:r>
          </a:p>
          <a:p>
            <a:pPr marR="163195" lvl="0">
              <a:lnSpc>
                <a:spcPct val="115000"/>
              </a:lnSpc>
              <a:spcBef>
                <a:spcPts val="1000"/>
              </a:spcBef>
            </a:pPr>
            <a:r>
              <a:rPr lang="en-US" sz="1600" dirty="0">
                <a:solidFill>
                  <a:srgbClr val="222222"/>
                </a:solidFill>
                <a:ea typeface="Arial"/>
                <a:cs typeface="Arial"/>
                <a:sym typeface="Arial"/>
              </a:rPr>
              <a:t>Your Flutter apps are not going to run onto a watch or any other type of Apple device except IPhone or iPad.</a:t>
            </a:r>
          </a:p>
          <a:p>
            <a:pPr marL="171450" marR="163195" lvl="0">
              <a:lnSpc>
                <a:spcPct val="115000"/>
              </a:lnSpc>
              <a:spcBef>
                <a:spcPts val="1000"/>
              </a:spcBef>
              <a:buClr>
                <a:srgbClr val="222222"/>
              </a:buClr>
              <a:buSzPts val="900"/>
            </a:pPr>
            <a:r>
              <a:rPr lang="en-US" sz="1600" b="1" dirty="0" err="1">
                <a:solidFill>
                  <a:srgbClr val="222222"/>
                </a:solidFill>
                <a:ea typeface="Arial"/>
                <a:cs typeface="Arial"/>
                <a:sym typeface="Arial"/>
              </a:rPr>
              <a:t>Xcode</a:t>
            </a:r>
            <a:endParaRPr lang="en-US" sz="1600" b="1" dirty="0">
              <a:solidFill>
                <a:srgbClr val="222222"/>
              </a:solidFill>
              <a:ea typeface="Arial"/>
              <a:cs typeface="Arial"/>
              <a:sym typeface="Arial"/>
            </a:endParaRPr>
          </a:p>
          <a:p>
            <a:pPr marR="163195" lvl="0">
              <a:lnSpc>
                <a:spcPct val="115000"/>
              </a:lnSpc>
              <a:spcBef>
                <a:spcPts val="1000"/>
              </a:spcBef>
            </a:pPr>
            <a:r>
              <a:rPr lang="en-US" sz="1600" dirty="0" err="1">
                <a:solidFill>
                  <a:srgbClr val="222222"/>
                </a:solidFill>
                <a:ea typeface="Arial"/>
                <a:cs typeface="Arial"/>
                <a:sym typeface="Arial"/>
              </a:rPr>
              <a:t>Xcode</a:t>
            </a:r>
            <a:r>
              <a:rPr lang="en-US" sz="1600" dirty="0">
                <a:solidFill>
                  <a:srgbClr val="222222"/>
                </a:solidFill>
                <a:ea typeface="Arial"/>
                <a:cs typeface="Arial"/>
                <a:sym typeface="Arial"/>
              </a:rPr>
              <a:t> is already installed on your Mac computer as a prerequisite to install Flutter. Also, to avoid any issues of incompatibility between your IPhone software version and </a:t>
            </a:r>
            <a:r>
              <a:rPr lang="en-US" sz="1600" dirty="0" err="1">
                <a:solidFill>
                  <a:srgbClr val="222222"/>
                </a:solidFill>
                <a:ea typeface="Arial"/>
                <a:cs typeface="Arial"/>
                <a:sym typeface="Arial"/>
              </a:rPr>
              <a:t>XCode</a:t>
            </a:r>
            <a:r>
              <a:rPr lang="en-US" sz="1600" dirty="0">
                <a:solidFill>
                  <a:srgbClr val="222222"/>
                </a:solidFill>
                <a:ea typeface="Arial"/>
                <a:cs typeface="Arial"/>
                <a:sym typeface="Arial"/>
              </a:rPr>
              <a:t>, always be sure that you have the latest version of </a:t>
            </a:r>
            <a:r>
              <a:rPr lang="en-US" sz="1600" dirty="0" err="1">
                <a:solidFill>
                  <a:srgbClr val="222222"/>
                </a:solidFill>
                <a:ea typeface="Arial"/>
                <a:cs typeface="Arial"/>
                <a:sym typeface="Arial"/>
              </a:rPr>
              <a:t>Xcode</a:t>
            </a:r>
            <a:r>
              <a:rPr lang="en-US" sz="1600" dirty="0" smtClean="0">
                <a:solidFill>
                  <a:srgbClr val="222222"/>
                </a:solidFill>
                <a:ea typeface="Arial"/>
                <a:cs typeface="Arial"/>
                <a:sym typeface="Arial"/>
              </a:rPr>
              <a:t>.</a:t>
            </a:r>
            <a:endParaRPr lang="en-US" sz="1600" dirty="0">
              <a:solidFill>
                <a:srgbClr val="222222"/>
              </a:solidFill>
              <a:ea typeface="Arial"/>
              <a:cs typeface="Arial"/>
              <a:sym typeface="Arial"/>
            </a:endParaRPr>
          </a:p>
        </p:txBody>
      </p:sp>
    </p:spTree>
    <p:extLst>
      <p:ext uri="{BB962C8B-B14F-4D97-AF65-F5344CB8AC3E}">
        <p14:creationId xmlns:p14="http://schemas.microsoft.com/office/powerpoint/2010/main" val="29485188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27</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1190282"/>
          </a:xfrm>
          <a:prstGeom prst="rect">
            <a:avLst/>
          </a:prstGeom>
        </p:spPr>
        <p:txBody>
          <a:bodyPr spcFirstLastPara="1" wrap="square" lIns="91425" tIns="91425" rIns="91425" bIns="91425" anchor="t" anchorCtr="0">
            <a:noAutofit/>
          </a:bodyPr>
          <a:lstStyle/>
          <a:p>
            <a:pPr>
              <a:spcBef>
                <a:spcPts val="0"/>
              </a:spcBef>
            </a:pPr>
            <a:r>
              <a:rPr lang="en-US" dirty="0" smtClean="0"/>
              <a:t>6. </a:t>
            </a:r>
            <a:r>
              <a:rPr lang="en-US" dirty="0"/>
              <a:t>Introduction to Flutter Widgets </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525462" y="1593130"/>
            <a:ext cx="6657764" cy="3970318"/>
          </a:xfrm>
          <a:prstGeom prst="rect">
            <a:avLst/>
          </a:prstGeom>
        </p:spPr>
        <p:txBody>
          <a:bodyPr wrap="square">
            <a:spAutoFit/>
          </a:bodyPr>
          <a:lstStyle/>
          <a:p>
            <a:pPr marL="285750" indent="-285750">
              <a:buFont typeface="Arial" panose="020B0604020202020204" pitchFamily="34" charset="0"/>
              <a:buChar char="•"/>
            </a:pPr>
            <a:r>
              <a:rPr lang="en-US" b="1" dirty="0"/>
              <a:t>Flutter</a:t>
            </a:r>
            <a:r>
              <a:rPr lang="en-US" dirty="0"/>
              <a:t> builds its </a:t>
            </a:r>
            <a:r>
              <a:rPr lang="en-US" b="1" dirty="0"/>
              <a:t>UI directly in code</a:t>
            </a:r>
            <a:r>
              <a:rPr lang="en-US" dirty="0"/>
              <a:t>, not in XML like other frameworks</a:t>
            </a:r>
            <a:r>
              <a:rPr lang="en-US" dirty="0" smtClean="0"/>
              <a:t>.</a:t>
            </a:r>
          </a:p>
          <a:p>
            <a:endParaRPr lang="en-US" dirty="0"/>
          </a:p>
          <a:p>
            <a:pPr marL="285750" indent="-285750">
              <a:buFont typeface="Arial" panose="020B0604020202020204" pitchFamily="34" charset="0"/>
              <a:buChar char="•"/>
            </a:pPr>
            <a:r>
              <a:rPr lang="en-US" b="1" dirty="0"/>
              <a:t>Widgets</a:t>
            </a:r>
            <a:r>
              <a:rPr lang="en-US" dirty="0"/>
              <a:t> are the </a:t>
            </a:r>
            <a:r>
              <a:rPr lang="en-US" b="1" dirty="0"/>
              <a:t>basic building blocks</a:t>
            </a:r>
            <a:r>
              <a:rPr lang="en-US" dirty="0"/>
              <a:t> of every Flutter app</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Almost </a:t>
            </a:r>
            <a:r>
              <a:rPr lang="en-US" b="1" dirty="0"/>
              <a:t>everything</a:t>
            </a:r>
            <a:r>
              <a:rPr lang="en-US" dirty="0"/>
              <a:t> in Flutter is a widget —</a:t>
            </a:r>
            <a:br>
              <a:rPr lang="en-US" dirty="0"/>
            </a:br>
            <a:r>
              <a:rPr lang="en-US" b="1" dirty="0"/>
              <a:t>Text, Image, Icon, Button, Row, Column</a:t>
            </a:r>
            <a:r>
              <a:rPr lang="en-US" dirty="0"/>
              <a:t>, etc</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a:t>
            </a:r>
            <a:r>
              <a:rPr lang="en-US" b="1" dirty="0"/>
              <a:t>widget</a:t>
            </a:r>
            <a:r>
              <a:rPr lang="en-US" dirty="0"/>
              <a:t> is an </a:t>
            </a:r>
            <a:r>
              <a:rPr lang="en-US" b="1" dirty="0"/>
              <a:t>immutable object</a:t>
            </a:r>
            <a:r>
              <a:rPr lang="en-US" dirty="0"/>
              <a:t> that defines part of your app’s </a:t>
            </a:r>
            <a:r>
              <a:rPr lang="en-US" b="1" dirty="0"/>
              <a:t>user interface</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You can </a:t>
            </a:r>
            <a:r>
              <a:rPr lang="en-US" b="1" dirty="0"/>
              <a:t>combine widgets</a:t>
            </a:r>
            <a:r>
              <a:rPr lang="en-US" dirty="0"/>
              <a:t> to create more complex layouts.</a:t>
            </a:r>
          </a:p>
          <a:p>
            <a:pPr marL="742950" lvl="1" indent="-285750">
              <a:buFont typeface="Arial" panose="020B0604020202020204" pitchFamily="34" charset="0"/>
              <a:buChar char="•"/>
            </a:pPr>
            <a:r>
              <a:rPr lang="en-US" dirty="0"/>
              <a:t>Example: Place </a:t>
            </a:r>
            <a:r>
              <a:rPr lang="en-US" b="1" dirty="0"/>
              <a:t>three Rows</a:t>
            </a:r>
            <a:r>
              <a:rPr lang="en-US" dirty="0"/>
              <a:t> inside a </a:t>
            </a:r>
            <a:r>
              <a:rPr lang="en-US" b="1" dirty="0"/>
              <a:t>Column</a:t>
            </a:r>
            <a:r>
              <a:rPr lang="en-US" dirty="0"/>
              <a:t>, and put an </a:t>
            </a:r>
            <a:r>
              <a:rPr lang="en-US" b="1" dirty="0"/>
              <a:t>Image</a:t>
            </a:r>
            <a:r>
              <a:rPr lang="en-US" dirty="0"/>
              <a:t> inside each Row.</a:t>
            </a:r>
          </a:p>
        </p:txBody>
      </p:sp>
      <p:pic>
        <p:nvPicPr>
          <p:cNvPr id="7" name="Google Shape;888;p109"/>
          <p:cNvPicPr preferRelativeResize="0"/>
          <p:nvPr/>
        </p:nvPicPr>
        <p:blipFill rotWithShape="1">
          <a:blip r:embed="rId4">
            <a:alphaModFix/>
          </a:blip>
          <a:srcRect/>
          <a:stretch/>
        </p:blipFill>
        <p:spPr>
          <a:xfrm>
            <a:off x="7502018" y="1825405"/>
            <a:ext cx="3819574" cy="3481885"/>
          </a:xfrm>
          <a:prstGeom prst="rect">
            <a:avLst/>
          </a:prstGeom>
          <a:noFill/>
          <a:ln>
            <a:noFill/>
          </a:ln>
        </p:spPr>
      </p:pic>
    </p:spTree>
    <p:extLst>
      <p:ext uri="{BB962C8B-B14F-4D97-AF65-F5344CB8AC3E}">
        <p14:creationId xmlns:p14="http://schemas.microsoft.com/office/powerpoint/2010/main" val="40078925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28</a:t>
            </a:fld>
            <a:endParaRPr lang="en-US" sz="2000" b="1" i="0" dirty="0"/>
          </a:p>
        </p:txBody>
      </p:sp>
      <p:sp>
        <p:nvSpPr>
          <p:cNvPr id="15" name="Rounded Rectangle 14"/>
          <p:cNvSpPr/>
          <p:nvPr/>
        </p:nvSpPr>
        <p:spPr>
          <a:xfrm>
            <a:off x="10018899" y="6319777"/>
            <a:ext cx="1370728" cy="451413"/>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Page</a:t>
            </a:r>
            <a:endParaRPr lang="en-US" dirty="0"/>
          </a:p>
        </p:txBody>
      </p:sp>
      <p:sp>
        <p:nvSpPr>
          <p:cNvPr id="21" name="Google Shape;178;p28"/>
          <p:cNvSpPr txBox="1">
            <a:spLocks noGrp="1"/>
          </p:cNvSpPr>
          <p:nvPr>
            <p:ph type="title"/>
          </p:nvPr>
        </p:nvSpPr>
        <p:spPr>
          <a:xfrm>
            <a:off x="583336" y="402848"/>
            <a:ext cx="8994297" cy="652954"/>
          </a:xfrm>
          <a:prstGeom prst="rect">
            <a:avLst/>
          </a:prstGeom>
        </p:spPr>
        <p:txBody>
          <a:bodyPr spcFirstLastPara="1" wrap="square" lIns="91425" tIns="91425" rIns="91425" bIns="91425" anchor="t" anchorCtr="0">
            <a:noAutofit/>
          </a:bodyPr>
          <a:lstStyle/>
          <a:p>
            <a:pPr>
              <a:spcBef>
                <a:spcPts val="0"/>
              </a:spcBef>
            </a:pPr>
            <a:r>
              <a:rPr lang="en-US" dirty="0" smtClean="0"/>
              <a:t>7. </a:t>
            </a:r>
            <a:r>
              <a:rPr lang="en" dirty="0"/>
              <a:t>What is a MaterialApp </a:t>
            </a:r>
            <a:r>
              <a:rPr lang="en" dirty="0" smtClean="0"/>
              <a:t>widget</a:t>
            </a:r>
            <a:endParaRPr lang="en-US" dirty="0"/>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 name="Rectangle 5"/>
          <p:cNvSpPr/>
          <p:nvPr/>
        </p:nvSpPr>
        <p:spPr>
          <a:xfrm>
            <a:off x="525461" y="1593130"/>
            <a:ext cx="7477895" cy="4247317"/>
          </a:xfrm>
          <a:prstGeom prst="rect">
            <a:avLst/>
          </a:prstGeom>
        </p:spPr>
        <p:txBody>
          <a:bodyPr wrap="square">
            <a:spAutoFit/>
          </a:bodyPr>
          <a:lstStyle/>
          <a:p>
            <a:r>
              <a:rPr lang="en-US" b="1" dirty="0"/>
              <a:t>What is </a:t>
            </a:r>
            <a:r>
              <a:rPr lang="en-US" b="1" dirty="0" err="1"/>
              <a:t>MaterialApp</a:t>
            </a:r>
            <a:r>
              <a:rPr lang="en-US" b="1" dirty="0"/>
              <a:t>?</a:t>
            </a:r>
          </a:p>
          <a:p>
            <a:pPr marL="285750" indent="-285750">
              <a:buFont typeface="Arial" panose="020B0604020202020204" pitchFamily="34" charset="0"/>
              <a:buChar char="•"/>
            </a:pPr>
            <a:r>
              <a:rPr lang="en-US" dirty="0"/>
              <a:t>The </a:t>
            </a:r>
            <a:r>
              <a:rPr lang="en-US" b="1" dirty="0"/>
              <a:t>starting point</a:t>
            </a:r>
            <a:r>
              <a:rPr lang="en-US" dirty="0"/>
              <a:t> of every Flutter app.</a:t>
            </a:r>
          </a:p>
          <a:p>
            <a:pPr marL="285750" indent="-285750">
              <a:buFont typeface="Arial" panose="020B0604020202020204" pitchFamily="34" charset="0"/>
              <a:buChar char="•"/>
            </a:pPr>
            <a:r>
              <a:rPr lang="en-US" dirty="0"/>
              <a:t>Tells Flutter to use </a:t>
            </a:r>
            <a:r>
              <a:rPr lang="en-US" b="1" dirty="0"/>
              <a:t>Material Design</a:t>
            </a:r>
            <a:r>
              <a:rPr lang="en-US" dirty="0"/>
              <a:t> — Google’s standard for clean, modern UI.</a:t>
            </a:r>
          </a:p>
          <a:p>
            <a:pPr marL="285750" indent="-285750">
              <a:buFont typeface="Arial" panose="020B0604020202020204" pitchFamily="34" charset="0"/>
              <a:buChar char="•"/>
            </a:pPr>
            <a:r>
              <a:rPr lang="en-US" dirty="0"/>
              <a:t>Acts as the </a:t>
            </a:r>
            <a:r>
              <a:rPr lang="en-US" b="1" dirty="0"/>
              <a:t>root</a:t>
            </a:r>
            <a:r>
              <a:rPr lang="en-US" dirty="0"/>
              <a:t> that contains all other widgets in your app</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r>
              <a:rPr lang="en-US" b="1" dirty="0"/>
              <a:t>Why It’s Important</a:t>
            </a:r>
          </a:p>
          <a:p>
            <a:r>
              <a:rPr lang="en-US" dirty="0"/>
              <a:t>Provides structure for your app:</a:t>
            </a:r>
          </a:p>
          <a:p>
            <a:pPr lvl="1"/>
            <a:r>
              <a:rPr lang="en-US" b="1" dirty="0" err="1"/>
              <a:t>AppBar</a:t>
            </a:r>
            <a:r>
              <a:rPr lang="en-US" dirty="0"/>
              <a:t> → top navigation bar</a:t>
            </a:r>
          </a:p>
          <a:p>
            <a:pPr lvl="1"/>
            <a:r>
              <a:rPr lang="en-US" b="1" dirty="0"/>
              <a:t>Scaffold</a:t>
            </a:r>
            <a:r>
              <a:rPr lang="en-US" dirty="0"/>
              <a:t> → main page layout</a:t>
            </a:r>
          </a:p>
          <a:p>
            <a:pPr lvl="1"/>
            <a:r>
              <a:rPr lang="en-US" b="1" dirty="0"/>
              <a:t>Body</a:t>
            </a:r>
            <a:r>
              <a:rPr lang="en-US" dirty="0"/>
              <a:t> → where your content goes</a:t>
            </a:r>
          </a:p>
          <a:p>
            <a:pPr lvl="1"/>
            <a:r>
              <a:rPr lang="en-US" b="1" dirty="0" err="1"/>
              <a:t>BottomNavigationBar</a:t>
            </a:r>
            <a:r>
              <a:rPr lang="en-US" dirty="0"/>
              <a:t>, </a:t>
            </a:r>
            <a:r>
              <a:rPr lang="en-US" b="1" dirty="0" err="1"/>
              <a:t>FloatingActionButton</a:t>
            </a:r>
            <a:r>
              <a:rPr lang="en-US" dirty="0"/>
              <a:t>, etc.</a:t>
            </a:r>
          </a:p>
          <a:p>
            <a:r>
              <a:rPr lang="en-US" dirty="0"/>
              <a:t>Makes your app look </a:t>
            </a:r>
            <a:r>
              <a:rPr lang="en-US" b="1" dirty="0"/>
              <a:t>modern and consistent</a:t>
            </a:r>
            <a:r>
              <a:rPr lang="en-US" dirty="0"/>
              <a:t> on both Android and iOS.</a:t>
            </a:r>
          </a:p>
          <a:p>
            <a:pPr marL="285750" indent="-285750">
              <a:buFont typeface="Arial" panose="020B0604020202020204" pitchFamily="34" charset="0"/>
              <a:buChar char="•"/>
            </a:pPr>
            <a:endParaRPr lang="en-US" dirty="0"/>
          </a:p>
        </p:txBody>
      </p:sp>
      <p:pic>
        <p:nvPicPr>
          <p:cNvPr id="5" name="Picture 4"/>
          <p:cNvPicPr>
            <a:picLocks noChangeAspect="1"/>
          </p:cNvPicPr>
          <p:nvPr/>
        </p:nvPicPr>
        <p:blipFill>
          <a:blip r:embed="rId4"/>
          <a:stretch>
            <a:fillRect/>
          </a:stretch>
        </p:blipFill>
        <p:spPr>
          <a:xfrm>
            <a:off x="8898903" y="1288078"/>
            <a:ext cx="2376523" cy="42942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109108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a:xfrm>
            <a:off x="2810968" y="2529482"/>
            <a:ext cx="6798250" cy="1674470"/>
          </a:xfrm>
        </p:spPr>
        <p:txBody>
          <a:bodyPr/>
          <a:lstStyle/>
          <a:p>
            <a:r>
              <a:rPr lang="en-US" dirty="0" smtClean="0"/>
              <a:t>Any Questions?</a:t>
            </a:r>
            <a:endParaRPr lang="en-US" dirty="0"/>
          </a:p>
        </p:txBody>
      </p:sp>
      <p:pic>
        <p:nvPicPr>
          <p:cNvPr id="3"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41536783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a:xfrm>
            <a:off x="2810968" y="2529482"/>
            <a:ext cx="6798250" cy="1674470"/>
          </a:xfrm>
        </p:spPr>
        <p:txBody>
          <a:bodyPr/>
          <a:lstStyle/>
          <a:p>
            <a:r>
              <a:rPr lang="en-US" dirty="0" smtClean="0"/>
              <a:t>Thank you</a:t>
            </a:r>
            <a:endParaRPr lang="en-US" dirty="0"/>
          </a:p>
        </p:txBody>
      </p:sp>
      <p:pic>
        <p:nvPicPr>
          <p:cNvPr id="3"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29793967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34">
      <a:dk1>
        <a:srgbClr val="000000"/>
      </a:dk1>
      <a:lt1>
        <a:srgbClr val="FFFFFF"/>
      </a:lt1>
      <a:dk2>
        <a:srgbClr val="000000"/>
      </a:dk2>
      <a:lt2>
        <a:srgbClr val="FFFFFF"/>
      </a:lt2>
      <a:accent1>
        <a:srgbClr val="5CB8B3"/>
      </a:accent1>
      <a:accent2>
        <a:srgbClr val="F5D66E"/>
      </a:accent2>
      <a:accent3>
        <a:srgbClr val="D78189"/>
      </a:accent3>
      <a:accent4>
        <a:srgbClr val="7030A0"/>
      </a:accent4>
      <a:accent5>
        <a:srgbClr val="0070C0"/>
      </a:accent5>
      <a:accent6>
        <a:srgbClr val="C4D36D"/>
      </a:accent6>
      <a:hlink>
        <a:srgbClr val="54C3BD"/>
      </a:hlink>
      <a:folHlink>
        <a:srgbClr val="54C3BD"/>
      </a:folHlink>
    </a:clrScheme>
    <a:fontScheme name="Custom 154">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7328976_Minimalist presentation_RVA_v4" id="{DA616D2A-CFEC-48D2-90FC-DF66CF8D2F8A}" vid="{8F2838F8-33B8-457C-9B19-1E5863B0E0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7323504-CBC8-4A2F-BF86-8DF0D94D4A3D}">
  <ds:schemaRefs>
    <ds:schemaRef ds:uri="http://schemas.microsoft.com/sharepoint/v3/contenttype/forms"/>
  </ds:schemaRefs>
</ds:datastoreItem>
</file>

<file path=customXml/itemProps2.xml><?xml version="1.0" encoding="utf-8"?>
<ds:datastoreItem xmlns:ds="http://schemas.openxmlformats.org/officeDocument/2006/customXml" ds:itemID="{853D8350-BC36-420E-83B3-2CFFF4E97F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6100F67-BC3D-46B4-8D39-802DC9D7F2EB}">
  <ds:schemaRefs>
    <ds:schemaRef ds:uri="http://purl.org/dc/elements/1.1/"/>
    <ds:schemaRef ds:uri="http://purl.org/dc/terms/"/>
    <ds:schemaRef ds:uri="71af3243-3dd4-4a8d-8c0d-dd76da1f02a5"/>
    <ds:schemaRef ds:uri="http://purl.org/dc/dcmitype/"/>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Minimalist presentation</Template>
  <TotalTime>0</TotalTime>
  <Words>1391</Words>
  <Application>Microsoft Office PowerPoint</Application>
  <PresentationFormat>Widescreen</PresentationFormat>
  <Paragraphs>260</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Corbel</vt:lpstr>
      <vt:lpstr>Times New Roman</vt:lpstr>
      <vt:lpstr>Office Theme</vt:lpstr>
      <vt:lpstr>PowerPoint Presentation</vt:lpstr>
      <vt:lpstr>PowerPoint Presentation</vt:lpstr>
      <vt:lpstr>1. Understanding Flutter </vt:lpstr>
      <vt:lpstr>2. Flutter Framework </vt:lpstr>
      <vt:lpstr>2. Flutter Framework </vt:lpstr>
      <vt:lpstr>3. Android Studio  </vt:lpstr>
      <vt:lpstr>3. Android Studio  </vt:lpstr>
      <vt:lpstr>3. Android Studio  </vt:lpstr>
      <vt:lpstr>3. Android Studio  </vt:lpstr>
      <vt:lpstr>3. Android Studio  </vt:lpstr>
      <vt:lpstr>3. Android Studio  </vt:lpstr>
      <vt:lpstr>4. Setup an Android Device </vt:lpstr>
      <vt:lpstr>4. Setup an Android Device </vt:lpstr>
      <vt:lpstr>4. Setup an Android Device </vt:lpstr>
      <vt:lpstr>4. Setup an Android Device </vt:lpstr>
      <vt:lpstr>4. Setup an Android Device </vt:lpstr>
      <vt:lpstr>4. Setup an Android Device </vt:lpstr>
      <vt:lpstr>4. Setup an Android Device </vt:lpstr>
      <vt:lpstr>5. Run your Apps on a Hardware Device (Physical Phone)</vt:lpstr>
      <vt:lpstr>5. Run your Apps on a Hardware Device (Physical Phone)</vt:lpstr>
      <vt:lpstr>5. Run your Apps on a Hardware Device (Physical Phone)</vt:lpstr>
      <vt:lpstr>5. Run your Apps on a Hardware Device (Physical Phone)</vt:lpstr>
      <vt:lpstr>5. Run your Apps on a Hardware Device (Physical Phone)</vt:lpstr>
      <vt:lpstr>5. Run your Apps on a Hardware Device (Physical Phone)</vt:lpstr>
      <vt:lpstr>5. Run your Apps on a Hardware Device (Physical Phone)</vt:lpstr>
      <vt:lpstr>5. Run your Apps on a Hardware Device (Physical Phone)</vt:lpstr>
      <vt:lpstr>6. Introduction to Flutter Widgets </vt:lpstr>
      <vt:lpstr>7. What is a MaterialApp widget</vt:lpstr>
      <vt:lpstr>Any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2025-10-18T07:49:07Z</dcterms:created>
  <dcterms:modified xsi:type="dcterms:W3CDTF">2025-10-26T22:03:00Z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